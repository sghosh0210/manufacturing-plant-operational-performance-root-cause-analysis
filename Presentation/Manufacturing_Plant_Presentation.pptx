
<file path=[Content_Types].xml><?xml version="1.0" encoding="utf-8"?>
<Types xmlns="http://schemas.openxmlformats.org/package/2006/content-types">
  <Default Extension="xlsx" ContentType="application/vnd.openxmlformats-officedocument.spreadsheetml.sheet"/>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4"/>
  </p:notesMasterIdLst>
  <p:handoutMasterIdLst>
    <p:handoutMasterId r:id="rId19"/>
  </p:handoutMasterIdLst>
  <p:sldIdLst>
    <p:sldId id="256" r:id="rId3"/>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2" Type="http://schemas.openxmlformats.org/officeDocument/2006/relationships/tableStyles" Target="tableStyles.xml"/><Relationship Id="rId21" Type="http://schemas.openxmlformats.org/officeDocument/2006/relationships/viewProps" Target="viewProps.xml"/><Relationship Id="rId20" Type="http://schemas.openxmlformats.org/officeDocument/2006/relationships/presProps" Target="presProps.xml"/><Relationship Id="rId2" Type="http://schemas.openxmlformats.org/officeDocument/2006/relationships/theme" Target="theme/theme1.xml"/><Relationship Id="rId19" Type="http://schemas.openxmlformats.org/officeDocument/2006/relationships/handoutMaster" Target="handoutMasters/handoutMaster1.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Workbook1.xlsx"/></Relationships>
</file>

<file path=ppt/charts/_rels/chart2.xml.rels><?xml version="1.0" encoding="UTF-8" standalone="yes"?>
<Relationships xmlns="http://schemas.openxmlformats.org/package/2006/relationships"><Relationship Id="rId1" Type="http://schemas.openxmlformats.org/officeDocument/2006/relationships/package" Target="../embeddings/Workbook2.xlsx"/></Relationships>
</file>

<file path=ppt/charts/_rels/chart3.xml.rels><?xml version="1.0" encoding="UTF-8" standalone="yes"?>
<Relationships xmlns="http://schemas.openxmlformats.org/package/2006/relationships"><Relationship Id="rId1" Type="http://schemas.openxmlformats.org/officeDocument/2006/relationships/package" Target="../embeddings/Workbook3.xlsx"/></Relationships>
</file>

<file path=ppt/charts/_rels/chart4.xml.rels><?xml version="1.0" encoding="UTF-8" standalone="yes"?>
<Relationships xmlns="http://schemas.openxmlformats.org/package/2006/relationships"><Relationship Id="rId1" Type="http://schemas.openxmlformats.org/officeDocument/2006/relationships/package" Target="../embeddings/Workbook4.xlsx"/></Relationships>
</file>

<file path=ppt/charts/_rels/chart5.xml.rels><?xml version="1.0" encoding="UTF-8" standalone="yes"?>
<Relationships xmlns="http://schemas.openxmlformats.org/package/2006/relationships"><Relationship Id="rId1" Type="http://schemas.openxmlformats.org/officeDocument/2006/relationships/package" Target="../embeddings/Workbook5.xlsx"/></Relationships>
</file>

<file path=ppt/charts/_rels/chart6.xml.rels><?xml version="1.0" encoding="UTF-8" standalone="yes"?>
<Relationships xmlns="http://schemas.openxmlformats.org/package/2006/relationships"><Relationship Id="rId1" Type="http://schemas.openxmlformats.org/officeDocument/2006/relationships/package" Target="../embeddings/Workbook6.xlsx"/></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zh-CN"/>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Downtime / Production Ratio (%)</c:v>
                </c:pt>
              </c:strCache>
            </c:strRef>
          </c:tx>
          <c:spPr>
            <a:solidFill>
              <a:srgbClr val="B0453C"/>
            </a:solidFill>
            <a:effectLst/>
          </c:spPr>
          <c:invertIfNegative val="0"/>
          <c:dPt>
            <c:idx val="0"/>
            <c:invertIfNegative val="0"/>
            <c:bubble3D val="0"/>
            <c:spPr>
              <a:solidFill>
                <a:srgbClr val="B0453C"/>
              </a:solidFill>
              <a:effectLst/>
            </c:spPr>
          </c:dPt>
          <c:dPt>
            <c:idx val="1"/>
            <c:invertIfNegative val="0"/>
            <c:bubble3D val="0"/>
            <c:spPr>
              <a:solidFill>
                <a:srgbClr val="B0453C"/>
              </a:solidFill>
              <a:effectLst/>
            </c:spPr>
          </c:dPt>
          <c:dPt>
            <c:idx val="2"/>
            <c:invertIfNegative val="0"/>
            <c:bubble3D val="0"/>
            <c:spPr>
              <a:solidFill>
                <a:srgbClr val="B0453C"/>
              </a:solidFill>
              <a:effectLst/>
            </c:spPr>
          </c:dPt>
          <c:dPt>
            <c:idx val="3"/>
            <c:invertIfNegative val="0"/>
            <c:bubble3D val="0"/>
            <c:spPr>
              <a:solidFill>
                <a:srgbClr val="B0453C"/>
              </a:solidFill>
              <a:effectLst/>
            </c:spPr>
          </c:dPt>
          <c:dPt>
            <c:idx val="4"/>
            <c:invertIfNegative val="0"/>
            <c:bubble3D val="0"/>
            <c:spPr>
              <a:solidFill>
                <a:srgbClr val="B0453C"/>
              </a:solidFill>
              <a:effectLst/>
            </c:spPr>
          </c:dPt>
          <c:dPt>
            <c:idx val="5"/>
            <c:invertIfNegative val="0"/>
            <c:bubble3D val="0"/>
            <c:spPr>
              <a:solidFill>
                <a:srgbClr val="0B2545"/>
              </a:solidFill>
              <a:effectLst/>
            </c:spPr>
          </c:dPt>
          <c:dPt>
            <c:idx val="6"/>
            <c:invertIfNegative val="0"/>
            <c:bubble3D val="0"/>
            <c:spPr>
              <a:solidFill>
                <a:srgbClr val="0B2545"/>
              </a:solidFill>
              <a:effectLst/>
            </c:spPr>
          </c:dPt>
          <c:dPt>
            <c:idx val="7"/>
            <c:invertIfNegative val="0"/>
            <c:bubble3D val="0"/>
            <c:spPr>
              <a:solidFill>
                <a:srgbClr val="0B2545"/>
              </a:solidFill>
              <a:effectLst/>
            </c:spPr>
          </c:dPt>
          <c:dPt>
            <c:idx val="8"/>
            <c:invertIfNegative val="0"/>
            <c:bubble3D val="0"/>
            <c:spPr>
              <a:solidFill>
                <a:srgbClr val="0B2545"/>
              </a:solidFill>
              <a:effectLst/>
            </c:spPr>
          </c:dPt>
          <c:dPt>
            <c:idx val="9"/>
            <c:invertIfNegative val="0"/>
            <c:bubble3D val="0"/>
            <c:spPr>
              <a:solidFill>
                <a:srgbClr val="0B2545"/>
              </a:solidFill>
              <a:effectLst/>
            </c:spPr>
          </c:dPt>
          <c:dPt>
            <c:idx val="10"/>
            <c:invertIfNegative val="0"/>
            <c:bubble3D val="0"/>
            <c:spPr>
              <a:solidFill>
                <a:srgbClr val="0B2545"/>
              </a:solidFill>
              <a:effectLst/>
            </c:spPr>
          </c:dPt>
          <c:dPt>
            <c:idx val="11"/>
            <c:invertIfNegative val="0"/>
            <c:bubble3D val="0"/>
            <c:spPr>
              <a:solidFill>
                <a:srgbClr val="0B2545"/>
              </a:solidFill>
              <a:effectLst/>
            </c:spPr>
          </c:dPt>
          <c:dPt>
            <c:idx val="12"/>
            <c:invertIfNegative val="0"/>
            <c:bubble3D val="0"/>
            <c:spPr>
              <a:solidFill>
                <a:srgbClr val="0B2545"/>
              </a:solidFill>
              <a:effectLst/>
            </c:spPr>
          </c:dPt>
          <c:dPt>
            <c:idx val="13"/>
            <c:invertIfNegative val="0"/>
            <c:bubble3D val="0"/>
            <c:spPr>
              <a:solidFill>
                <a:srgbClr val="0B2545"/>
              </a:solidFill>
              <a:effectLst/>
            </c:spPr>
          </c:dPt>
          <c:dPt>
            <c:idx val="14"/>
            <c:invertIfNegative val="0"/>
            <c:bubble3D val="0"/>
            <c:spPr>
              <a:solidFill>
                <a:srgbClr val="0B2545"/>
              </a:solidFill>
              <a:effectLst/>
            </c:spPr>
          </c:dPt>
          <c:dPt>
            <c:idx val="15"/>
            <c:invertIfNegative val="0"/>
            <c:bubble3D val="0"/>
            <c:spPr>
              <a:solidFill>
                <a:srgbClr val="0B2545"/>
              </a:solidFill>
              <a:effectLst/>
            </c:spPr>
          </c:dPt>
          <c:dPt>
            <c:idx val="16"/>
            <c:invertIfNegative val="0"/>
            <c:bubble3D val="0"/>
            <c:spPr>
              <a:solidFill>
                <a:srgbClr val="0B2545"/>
              </a:solidFill>
              <a:effectLst/>
            </c:spPr>
          </c:dPt>
          <c:dPt>
            <c:idx val="17"/>
            <c:invertIfNegative val="0"/>
            <c:bubble3D val="0"/>
            <c:spPr>
              <a:solidFill>
                <a:srgbClr val="0B2545"/>
              </a:solidFill>
              <a:effectLst/>
            </c:spPr>
          </c:dPt>
          <c:dPt>
            <c:idx val="18"/>
            <c:invertIfNegative val="0"/>
            <c:bubble3D val="0"/>
            <c:spPr>
              <a:solidFill>
                <a:srgbClr val="0B2545"/>
              </a:solidFill>
              <a:effectLst/>
            </c:spPr>
          </c:dPt>
          <c:dPt>
            <c:idx val="19"/>
            <c:invertIfNegative val="0"/>
            <c:bubble3D val="0"/>
            <c:spPr>
              <a:solidFill>
                <a:srgbClr val="0B2545"/>
              </a:solidFill>
              <a:effectLst/>
            </c:spPr>
          </c:dPt>
          <c:dLbls>
            <c:dLbl>
              <c:idx val="0"/>
              <c:delete val="1"/>
            </c:dLbl>
            <c:dLbl>
              <c:idx val="1"/>
              <c:delete val="1"/>
            </c:dLbl>
            <c:dLbl>
              <c:idx val="2"/>
              <c:delete val="1"/>
            </c:dLbl>
            <c:dLbl>
              <c:idx val="3"/>
              <c:delete val="1"/>
            </c:dLbl>
            <c:dLbl>
              <c:idx val="4"/>
              <c:delete val="1"/>
            </c:dLbl>
            <c:dLbl>
              <c:idx val="5"/>
              <c:delete val="1"/>
            </c:dLbl>
            <c:dLbl>
              <c:idx val="6"/>
              <c:delete val="1"/>
            </c:dLbl>
            <c:dLbl>
              <c:idx val="7"/>
              <c:delete val="1"/>
            </c:dLbl>
            <c:dLbl>
              <c:idx val="8"/>
              <c:delete val="1"/>
            </c:dLbl>
            <c:dLbl>
              <c:idx val="9"/>
              <c:delete val="1"/>
            </c:dLbl>
            <c:dLbl>
              <c:idx val="10"/>
              <c:delete val="1"/>
            </c:dLbl>
            <c:dLbl>
              <c:idx val="11"/>
              <c:delete val="1"/>
            </c:dLbl>
            <c:dLbl>
              <c:idx val="12"/>
              <c:delete val="1"/>
            </c:dLbl>
            <c:dLbl>
              <c:idx val="13"/>
              <c:delete val="1"/>
            </c:dLbl>
            <c:dLbl>
              <c:idx val="14"/>
              <c:delete val="1"/>
            </c:dLbl>
            <c:dLbl>
              <c:idx val="15"/>
              <c:delete val="1"/>
            </c:dLbl>
            <c:dLbl>
              <c:idx val="16"/>
              <c:delete val="1"/>
            </c:dLbl>
            <c:dLbl>
              <c:idx val="17"/>
              <c:delete val="1"/>
            </c:dLbl>
            <c:dLbl>
              <c:idx val="18"/>
              <c:delete val="1"/>
            </c:dLbl>
            <c:dLbl>
              <c:idx val="19"/>
              <c:delete val="1"/>
            </c:dLbl>
            <c:numFmt formatCode="#,##0" sourceLinked="0"/>
            <c:spPr>
              <a:noFill/>
              <a:ln>
                <a:noFill/>
              </a:ln>
              <a:effectLst/>
            </c:spPr>
            <c:txPr>
              <a:bodyPr rot="0" spcFirstLastPara="0" vertOverflow="ellipsis" vert="horz" wrap="square" lIns="38100" tIns="19050" rIns="38100" bIns="19050" anchor="ctr" anchorCtr="1"/>
              <a:lstStyle/>
              <a:p>
                <a:pPr>
                  <a:defRPr lang="en-US" sz="1200" b="0" i="0" u="none" strike="noStrike" kern="1200" baseline="0">
                    <a:solidFill>
                      <a:srgbClr val="000000"/>
                    </a:solidFill>
                    <a:latin typeface="Arial" panose="020B0604020202020204"/>
                    <a:ea typeface="+mn-ea"/>
                    <a:cs typeface="+mn-cs"/>
                  </a:defRPr>
                </a:pPr>
              </a:p>
            </c:txPr>
            <c:dLblPos val="outEnd"/>
            <c:showLegendKey val="0"/>
            <c:showVal val="0"/>
            <c:showCatName val="0"/>
            <c:showSerName val="0"/>
            <c:showPercent val="0"/>
            <c:showBubbleSize val="0"/>
            <c:showLeaderLines val="0"/>
            <c:extLst>
              <c:ext xmlns:c15="http://schemas.microsoft.com/office/drawing/2012/chart" uri="{CE6537A1-D6FC-4f65-9D91-7224C49458BB}">
                <c15:layout/>
                <c15:showLeaderLines val="0"/>
                <c15:leaderLines/>
              </c:ext>
            </c:extLst>
          </c:dLbls>
          <c:cat>
            <c:strRef>
              <c:f>Sheet1!$A$2:$A$21</c:f>
              <c:strCache>
                <c:ptCount val="20"/>
                <c:pt idx="0">
                  <c:v>M6</c:v>
                </c:pt>
                <c:pt idx="1">
                  <c:v>M11</c:v>
                </c:pt>
                <c:pt idx="2">
                  <c:v>M9</c:v>
                </c:pt>
                <c:pt idx="3">
                  <c:v>M7</c:v>
                </c:pt>
                <c:pt idx="4">
                  <c:v>M12</c:v>
                </c:pt>
                <c:pt idx="5">
                  <c:v>M18</c:v>
                </c:pt>
                <c:pt idx="6">
                  <c:v>M1</c:v>
                </c:pt>
                <c:pt idx="7">
                  <c:v>M5</c:v>
                </c:pt>
                <c:pt idx="8">
                  <c:v>M3</c:v>
                </c:pt>
                <c:pt idx="9">
                  <c:v>M13</c:v>
                </c:pt>
                <c:pt idx="10">
                  <c:v>M8</c:v>
                </c:pt>
                <c:pt idx="11">
                  <c:v>M4</c:v>
                </c:pt>
                <c:pt idx="12">
                  <c:v>M10</c:v>
                </c:pt>
                <c:pt idx="13">
                  <c:v>M17</c:v>
                </c:pt>
                <c:pt idx="14">
                  <c:v>M14</c:v>
                </c:pt>
                <c:pt idx="15">
                  <c:v>M20</c:v>
                </c:pt>
                <c:pt idx="16">
                  <c:v>M19</c:v>
                </c:pt>
                <c:pt idx="17">
                  <c:v>M16</c:v>
                </c:pt>
                <c:pt idx="18">
                  <c:v>M15</c:v>
                </c:pt>
                <c:pt idx="19">
                  <c:v>M2</c:v>
                </c:pt>
              </c:strCache>
            </c:strRef>
          </c:cat>
          <c:val>
            <c:numRef>
              <c:f>Sheet1!$B$2:$B$21</c:f>
              <c:numCache>
                <c:formatCode>General</c:formatCode>
                <c:ptCount val="20"/>
                <c:pt idx="0">
                  <c:v>13.99</c:v>
                </c:pt>
                <c:pt idx="1">
                  <c:v>13.52</c:v>
                </c:pt>
                <c:pt idx="2">
                  <c:v>13.37</c:v>
                </c:pt>
                <c:pt idx="3">
                  <c:v>13.05</c:v>
                </c:pt>
                <c:pt idx="4">
                  <c:v>13</c:v>
                </c:pt>
                <c:pt idx="5">
                  <c:v>12.49</c:v>
                </c:pt>
                <c:pt idx="6">
                  <c:v>12.41</c:v>
                </c:pt>
                <c:pt idx="7">
                  <c:v>12.41</c:v>
                </c:pt>
                <c:pt idx="8">
                  <c:v>12.4</c:v>
                </c:pt>
                <c:pt idx="9">
                  <c:v>12.33</c:v>
                </c:pt>
                <c:pt idx="10">
                  <c:v>12.24</c:v>
                </c:pt>
                <c:pt idx="11">
                  <c:v>12.21</c:v>
                </c:pt>
                <c:pt idx="12">
                  <c:v>12.18</c:v>
                </c:pt>
                <c:pt idx="13">
                  <c:v>11.66</c:v>
                </c:pt>
                <c:pt idx="14">
                  <c:v>11.64</c:v>
                </c:pt>
                <c:pt idx="15">
                  <c:v>11.56</c:v>
                </c:pt>
                <c:pt idx="16">
                  <c:v>11.41</c:v>
                </c:pt>
                <c:pt idx="17">
                  <c:v>11.39</c:v>
                </c:pt>
                <c:pt idx="18">
                  <c:v>11.3</c:v>
                </c:pt>
                <c:pt idx="19">
                  <c:v>10.69</c:v>
                </c:pt>
              </c:numCache>
            </c:numRef>
          </c:val>
        </c:ser>
        <c:dLbls>
          <c:showLegendKey val="0"/>
          <c:showVal val="0"/>
          <c:showCatName val="0"/>
          <c:showSerName val="0"/>
          <c:showPercent val="0"/>
          <c:showBubbleSize val="0"/>
        </c:dLbls>
        <c:gapWidth val="25"/>
        <c:overlap val="0"/>
        <c:axId val="2094734554"/>
        <c:axId val="2094734552"/>
      </c:barChart>
      <c:catAx>
        <c:axId val="2094734554"/>
        <c:scaling>
          <c:orientation val="minMax"/>
        </c:scaling>
        <c:delete val="0"/>
        <c:axPos val="b"/>
        <c:numFmt formatCode="General" sourceLinked="1"/>
        <c:majorTickMark val="out"/>
        <c:minorTickMark val="none"/>
        <c:tickLblPos val="low"/>
        <c:spPr>
          <a:ln w="12700" cap="flat" cmpd="sng" algn="ctr">
            <a:solidFill>
              <a:srgbClr val="888888"/>
            </a:solidFill>
            <a:prstDash val="solid"/>
            <a:round/>
          </a:ln>
        </c:spPr>
        <c:txPr>
          <a:bodyPr rot="-60000000" spcFirstLastPara="0" vertOverflow="ellipsis" vert="horz" wrap="square" anchor="ctr" anchorCtr="1"/>
          <a:lstStyle/>
          <a:p>
            <a:pPr>
              <a:defRPr lang="en-US" sz="850" b="0" i="0" u="none" strike="noStrike" kern="1200" baseline="0">
                <a:solidFill>
                  <a:srgbClr val="44536B"/>
                </a:solidFill>
                <a:latin typeface="Arial" panose="020B0604020202020204"/>
                <a:ea typeface="+mn-ea"/>
                <a:cs typeface="+mn-cs"/>
              </a:defRPr>
            </a:pPr>
          </a:p>
        </c:txPr>
        <c:crossAx val="2094734552"/>
        <c:crosses val="autoZero"/>
        <c:auto val="1"/>
        <c:lblAlgn val="ctr"/>
        <c:lblOffset val="100"/>
        <c:noMultiLvlLbl val="1"/>
      </c:catAx>
      <c:valAx>
        <c:axId val="2094734552"/>
        <c:scaling>
          <c:orientation val="minMax"/>
          <c:max val="16"/>
          <c:min val="0"/>
        </c:scaling>
        <c:delete val="0"/>
        <c:axPos val="l"/>
        <c:majorGridlines>
          <c:spPr>
            <a:ln w="9525" cap="flat" cmpd="sng" algn="ctr">
              <a:solidFill>
                <a:srgbClr val="E4E9F2"/>
              </a:solidFill>
              <a:prstDash val="solid"/>
              <a:round/>
            </a:ln>
          </c:spPr>
        </c:majorGridlines>
        <c:title>
          <c:tx>
            <c:rich>
              <a:bodyPr rot="-5400000" spcFirstLastPara="0" vertOverflow="ellipsis" vert="horz" wrap="square" anchor="ctr" anchorCtr="1"/>
              <a:lstStyle/>
              <a:p>
                <a:pPr>
                  <a:defRPr lang="en-US" sz="1000" b="0" i="0" u="none" strike="noStrike" kern="1200" baseline="0">
                    <a:solidFill>
                      <a:srgbClr val="44536B"/>
                    </a:solidFill>
                    <a:latin typeface="Arial" panose="020B0604020202020204"/>
                    <a:ea typeface="+mn-ea"/>
                    <a:cs typeface="+mn-cs"/>
                  </a:defRPr>
                </a:pPr>
                <a:r>
                  <a:rPr sz="1000" b="0" i="0" u="none" strike="noStrike">
                    <a:solidFill>
                      <a:srgbClr val="44536B"/>
                    </a:solidFill>
                    <a:latin typeface="Arial" panose="020B0604020202020204"/>
                  </a:rPr>
                  <a:t>Downtime / Production Hours (%)</a:t>
                </a:r>
                <a:endParaRPr sz="1000" b="0" i="0" u="none" strike="noStrike">
                  <a:solidFill>
                    <a:srgbClr val="44536B"/>
                  </a:solidFill>
                  <a:latin typeface="Arial" panose="020B0604020202020204"/>
                </a:endParaRPr>
              </a:p>
            </c:rich>
          </c:tx>
          <c:layout/>
          <c:overlay val="0"/>
        </c:title>
        <c:numFmt formatCode="General" sourceLinked="0"/>
        <c:majorTickMark val="out"/>
        <c:minorTickMark val="none"/>
        <c:tickLblPos val="nextTo"/>
        <c:spPr>
          <a:ln w="12700" cap="flat" cmpd="sng" algn="ctr">
            <a:solidFill>
              <a:srgbClr val="888888"/>
            </a:solidFill>
            <a:prstDash val="solid"/>
            <a:round/>
          </a:ln>
        </c:spPr>
        <c:txPr>
          <a:bodyPr rot="-60000000" spcFirstLastPara="0" vertOverflow="ellipsis" vert="horz" wrap="square" anchor="ctr" anchorCtr="1"/>
          <a:lstStyle/>
          <a:p>
            <a:pPr>
              <a:defRPr lang="en-US" sz="900" b="0" i="0" u="none" strike="noStrike" kern="1200" baseline="0">
                <a:solidFill>
                  <a:srgbClr val="44536B"/>
                </a:solidFill>
                <a:latin typeface="Arial" panose="020B0604020202020204"/>
                <a:ea typeface="+mn-ea"/>
                <a:cs typeface="+mn-cs"/>
              </a:defRPr>
            </a:pPr>
          </a:p>
        </c:txPr>
        <c:crossAx val="2094734554"/>
        <c:crosses val="autoZero"/>
        <c:crossBetween val="between"/>
      </c:valAx>
      <c:spPr>
        <a:noFill/>
        <a:ln>
          <a:noFill/>
        </a:ln>
        <a:effectLst/>
      </c:spPr>
    </c:plotArea>
    <c:plotVisOnly val="1"/>
    <c:dispBlanksAs val="span"/>
    <c:showDLblsOverMax val="0"/>
    <c:extLst>
      <c:ext uri="{0b15fc19-7d7d-44ad-8c2d-2c3a37ce22c3}">
        <chartProps xmlns="https://web.wps.cn/et/2018/main" chartId="{cdaee34c-ae30-4b2f-aed3-00bd37d2d388}"/>
      </c:ext>
    </c:extLst>
  </c:chart>
  <c:spPr>
    <a:noFill/>
    <a:ln>
      <a:noFill/>
    </a:ln>
    <a:effectLst/>
  </c:spPr>
  <c:txPr>
    <a:bodyPr/>
    <a:lstStyle/>
    <a:p>
      <a:pPr>
        <a:defRPr lang="en-US"/>
      </a:pPr>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lang val="zh-CN"/>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none"/>
        <c:varyColors val="0"/>
        <c:ser>
          <c:idx val="0"/>
          <c:order val="0"/>
          <c:tx>
            <c:strRef>
              <c:f>Sheet1!$B$1</c:f>
              <c:strCache>
                <c:ptCount val="1"/>
                <c:pt idx="0">
                  <c:v>Avg. Downtime Hours per Batch</c:v>
                </c:pt>
              </c:strCache>
            </c:strRef>
          </c:tx>
          <c:spPr>
            <a:ln w="38100" cap="flat" cmpd="sng" algn="ctr">
              <a:solidFill>
                <a:srgbClr val="9C7A2B"/>
              </a:solidFill>
              <a:prstDash val="solid"/>
              <a:round/>
            </a:ln>
            <a:effectLst/>
          </c:spPr>
          <c:marker>
            <c:symbol val="circle"/>
            <c:size val="8"/>
            <c:spPr>
              <a:solidFill>
                <a:srgbClr val="9C7A2B"/>
              </a:solidFill>
              <a:ln w="9525" cap="flat" cmpd="sng" algn="ctr">
                <a:solidFill>
                  <a:srgbClr val="9C7A2B"/>
                </a:solidFill>
                <a:prstDash val="solid"/>
                <a:round/>
              </a:ln>
              <a:effectLst/>
            </c:spPr>
          </c:marker>
          <c:dLbls>
            <c:numFmt formatCode="0.00" sourceLinked="0"/>
            <c:spPr>
              <a:noFill/>
              <a:ln>
                <a:noFill/>
              </a:ln>
              <a:effectLst/>
            </c:spPr>
            <c:txPr>
              <a:bodyPr rot="0" spcFirstLastPara="0" vertOverflow="ellipsis" vert="horz" wrap="square" lIns="38100" tIns="19050" rIns="38100" bIns="19050" anchor="ctr" anchorCtr="1"/>
              <a:lstStyle/>
              <a:p>
                <a:pPr>
                  <a:defRPr lang="en-US" sz="1000" b="0" i="0" u="none" strike="noStrike" kern="1200" baseline="0">
                    <a:solidFill>
                      <a:srgbClr val="0B2545"/>
                    </a:solidFill>
                    <a:latin typeface="Arial" panose="020B0604020202020204"/>
                    <a:ea typeface="+mn-ea"/>
                    <a:cs typeface="+mn-cs"/>
                  </a:defRPr>
                </a:pPr>
              </a:p>
            </c:txPr>
            <c:dLblPos val="t"/>
            <c:showLegendKey val="0"/>
            <c:showVal val="1"/>
            <c:showCatName val="0"/>
            <c:showSerName val="0"/>
            <c:showPercent val="0"/>
            <c:showBubbleSize val="0"/>
            <c:showLeaderLines val="0"/>
            <c:extLst>
              <c:ext xmlns:c15="http://schemas.microsoft.com/office/drawing/2012/chart" uri="{CE6537A1-D6FC-4f65-9D91-7224C49458BB}">
                <c15:layout/>
                <c15:showLeaderLines val="0"/>
                <c15:leaderLines/>
              </c:ext>
            </c:extLst>
          </c:dLbls>
          <c:cat>
            <c:strRef>
              <c:f>Sheet1!$A$2:$A$6</c:f>
              <c:strCache>
                <c:ptCount val="5"/>
                <c:pt idx="0">
                  <c:v>0–1 hrs</c:v>
                </c:pt>
                <c:pt idx="1">
                  <c:v>1–2 hrs</c:v>
                </c:pt>
                <c:pt idx="2">
                  <c:v>2–3 hrs</c:v>
                </c:pt>
                <c:pt idx="3">
                  <c:v>3–4 hrs</c:v>
                </c:pt>
                <c:pt idx="4">
                  <c:v>4–5 hrs</c:v>
                </c:pt>
              </c:strCache>
            </c:strRef>
          </c:cat>
          <c:val>
            <c:numRef>
              <c:f>Sheet1!$B$2:$B$6</c:f>
              <c:numCache>
                <c:formatCode>General</c:formatCode>
                <c:ptCount val="5"/>
                <c:pt idx="0">
                  <c:v>1.58</c:v>
                </c:pt>
                <c:pt idx="1">
                  <c:v>1.47</c:v>
                </c:pt>
                <c:pt idx="2">
                  <c:v>1.54</c:v>
                </c:pt>
                <c:pt idx="3">
                  <c:v>1.54</c:v>
                </c:pt>
                <c:pt idx="4">
                  <c:v>1.55</c:v>
                </c:pt>
              </c:numCache>
            </c:numRef>
          </c:val>
          <c:smooth val="0"/>
        </c:ser>
        <c:dLbls>
          <c:showLegendKey val="0"/>
          <c:showVal val="1"/>
          <c:showCatName val="0"/>
          <c:showSerName val="0"/>
          <c:showPercent val="0"/>
          <c:showBubbleSize val="0"/>
        </c:dLbls>
        <c:marker val="1"/>
        <c:smooth val="0"/>
        <c:axId val="2094734554"/>
        <c:axId val="2094734552"/>
      </c:lineChart>
      <c:catAx>
        <c:axId val="2094734554"/>
        <c:scaling>
          <c:orientation val="minMax"/>
        </c:scaling>
        <c:delete val="0"/>
        <c:axPos val="b"/>
        <c:title>
          <c:tx>
            <c:rich>
              <a:bodyPr rot="0" spcFirstLastPara="0" vertOverflow="ellipsis" vert="horz" wrap="square" anchor="ctr" anchorCtr="1"/>
              <a:lstStyle/>
              <a:p>
                <a:pPr>
                  <a:defRPr lang="en-US" sz="1050" b="0" i="0" u="none" strike="noStrike" kern="1200" baseline="0">
                    <a:solidFill>
                      <a:srgbClr val="44536B"/>
                    </a:solidFill>
                    <a:latin typeface="Arial" panose="020B0604020202020204"/>
                    <a:ea typeface="+mn-ea"/>
                    <a:cs typeface="+mn-cs"/>
                  </a:defRPr>
                </a:pPr>
                <a:r>
                  <a:rPr sz="1050" b="0" i="0" u="none" strike="noStrike">
                    <a:solidFill>
                      <a:srgbClr val="44536B"/>
                    </a:solidFill>
                    <a:latin typeface="Arial" panose="020B0604020202020204"/>
                  </a:rPr>
                  <a:t>Maintenance Hours Received (bucketed)</a:t>
                </a:r>
                <a:endParaRPr sz="1050" b="0" i="0" u="none" strike="noStrike">
                  <a:solidFill>
                    <a:srgbClr val="44536B"/>
                  </a:solidFill>
                  <a:latin typeface="Arial" panose="020B0604020202020204"/>
                </a:endParaRPr>
              </a:p>
            </c:rich>
          </c:tx>
          <c:layout/>
          <c:overlay val="0"/>
        </c:title>
        <c:numFmt formatCode="General" sourceLinked="1"/>
        <c:majorTickMark val="out"/>
        <c:minorTickMark val="none"/>
        <c:tickLblPos val="low"/>
        <c:spPr>
          <a:ln w="12700" cap="flat" cmpd="sng" algn="ctr">
            <a:solidFill>
              <a:srgbClr val="888888"/>
            </a:solidFill>
            <a:prstDash val="solid"/>
            <a:round/>
          </a:ln>
        </c:spPr>
        <c:txPr>
          <a:bodyPr rot="-60000000" spcFirstLastPara="0" vertOverflow="ellipsis" vert="horz" wrap="square" anchor="ctr" anchorCtr="1"/>
          <a:lstStyle/>
          <a:p>
            <a:pPr>
              <a:defRPr lang="en-US" sz="1000" b="0" i="0" u="none" strike="noStrike" kern="1200" baseline="0">
                <a:solidFill>
                  <a:srgbClr val="44536B"/>
                </a:solidFill>
                <a:latin typeface="Arial" panose="020B0604020202020204"/>
                <a:ea typeface="+mn-ea"/>
                <a:cs typeface="+mn-cs"/>
              </a:defRPr>
            </a:pPr>
          </a:p>
        </c:txPr>
        <c:crossAx val="2094734552"/>
        <c:crosses val="autoZero"/>
        <c:auto val="1"/>
        <c:lblAlgn val="ctr"/>
        <c:lblOffset val="100"/>
        <c:noMultiLvlLbl val="1"/>
      </c:catAx>
      <c:valAx>
        <c:axId val="2094734552"/>
        <c:scaling>
          <c:orientation val="minMax"/>
          <c:max val="2.5"/>
          <c:min val="0"/>
        </c:scaling>
        <c:delete val="0"/>
        <c:axPos val="l"/>
        <c:majorGridlines>
          <c:spPr>
            <a:ln w="9525" cap="flat" cmpd="sng" algn="ctr">
              <a:solidFill>
                <a:srgbClr val="E4E9F2"/>
              </a:solidFill>
              <a:prstDash val="solid"/>
              <a:round/>
            </a:ln>
          </c:spPr>
        </c:majorGridlines>
        <c:title>
          <c:tx>
            <c:rich>
              <a:bodyPr rot="-5400000" spcFirstLastPara="0" vertOverflow="ellipsis" vert="horz" wrap="square" anchor="ctr" anchorCtr="1"/>
              <a:lstStyle/>
              <a:p>
                <a:pPr>
                  <a:defRPr lang="en-US" sz="1050" b="0" i="0" u="none" strike="noStrike" kern="1200" baseline="0">
                    <a:solidFill>
                      <a:srgbClr val="44536B"/>
                    </a:solidFill>
                    <a:latin typeface="Arial" panose="020B0604020202020204"/>
                    <a:ea typeface="+mn-ea"/>
                    <a:cs typeface="+mn-cs"/>
                  </a:defRPr>
                </a:pPr>
                <a:r>
                  <a:rPr sz="1050" b="0" i="0" u="none" strike="noStrike">
                    <a:solidFill>
                      <a:srgbClr val="44536B"/>
                    </a:solidFill>
                    <a:latin typeface="Arial" panose="020B0604020202020204"/>
                  </a:rPr>
                  <a:t>Avg. Downtime Hours</a:t>
                </a:r>
                <a:endParaRPr sz="1050" b="0" i="0" u="none" strike="noStrike">
                  <a:solidFill>
                    <a:srgbClr val="44536B"/>
                  </a:solidFill>
                  <a:latin typeface="Arial" panose="020B0604020202020204"/>
                </a:endParaRPr>
              </a:p>
            </c:rich>
          </c:tx>
          <c:layout/>
          <c:overlay val="0"/>
        </c:title>
        <c:numFmt formatCode="General" sourceLinked="0"/>
        <c:majorTickMark val="out"/>
        <c:minorTickMark val="none"/>
        <c:tickLblPos val="nextTo"/>
        <c:spPr>
          <a:ln w="12700" cap="flat" cmpd="sng" algn="ctr">
            <a:solidFill>
              <a:srgbClr val="888888"/>
            </a:solidFill>
            <a:prstDash val="solid"/>
            <a:round/>
          </a:ln>
        </c:spPr>
        <c:txPr>
          <a:bodyPr rot="-60000000" spcFirstLastPara="0" vertOverflow="ellipsis" vert="horz" wrap="square" anchor="ctr" anchorCtr="1"/>
          <a:lstStyle/>
          <a:p>
            <a:pPr>
              <a:defRPr lang="en-US" sz="900" b="0" i="0" u="none" strike="noStrike" kern="1200" baseline="0">
                <a:solidFill>
                  <a:srgbClr val="44536B"/>
                </a:solidFill>
                <a:latin typeface="Arial" panose="020B0604020202020204"/>
                <a:ea typeface="+mn-ea"/>
                <a:cs typeface="+mn-cs"/>
              </a:defRPr>
            </a:pPr>
          </a:p>
        </c:txPr>
        <c:crossAx val="2094734554"/>
        <c:crosses val="autoZero"/>
        <c:crossBetween val="between"/>
      </c:valAx>
      <c:spPr>
        <a:noFill/>
        <a:ln>
          <a:noFill/>
        </a:ln>
        <a:effectLst/>
      </c:spPr>
    </c:plotArea>
    <c:plotVisOnly val="1"/>
    <c:dispBlanksAs val="span"/>
    <c:showDLblsOverMax val="0"/>
    <c:extLst>
      <c:ext uri="{0b15fc19-7d7d-44ad-8c2d-2c3a37ce22c3}">
        <chartProps xmlns="https://web.wps.cn/et/2018/main" chartId="{cd9ab5ef-a383-4ca6-896a-fb46aa5963d4}"/>
      </c:ext>
    </c:extLst>
  </c:chart>
  <c:spPr>
    <a:noFill/>
    <a:ln>
      <a:noFill/>
    </a:ln>
    <a:effectLst/>
  </c:spPr>
  <c:txPr>
    <a:bodyPr/>
    <a:lstStyle/>
    <a:p>
      <a:pPr>
        <a:defRPr lang="en-US"/>
      </a:pPr>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lang val="zh-CN"/>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bar"/>
        <c:grouping val="clustered"/>
        <c:varyColors val="0"/>
        <c:ser>
          <c:idx val="0"/>
          <c:order val="0"/>
          <c:tx>
            <c:strRef>
              <c:f>Sheet1!$B$1</c:f>
              <c:strCache>
                <c:ptCount val="1"/>
                <c:pt idx="0">
                  <c:v>Total Defects</c:v>
                </c:pt>
              </c:strCache>
            </c:strRef>
          </c:tx>
          <c:spPr>
            <a:solidFill>
              <a:srgbClr val="0B2545"/>
            </a:solidFill>
            <a:effectLst/>
          </c:spPr>
          <c:invertIfNegative val="0"/>
          <c:dLbls>
            <c:numFmt formatCode="#,##0" sourceLinked="0"/>
            <c:spPr>
              <a:noFill/>
              <a:ln>
                <a:noFill/>
              </a:ln>
              <a:effectLst/>
            </c:spPr>
            <c:txPr>
              <a:bodyPr rot="0" spcFirstLastPara="0" vertOverflow="ellipsis" vert="horz" wrap="square" lIns="38100" tIns="19050" rIns="38100" bIns="19050" anchor="ctr" anchorCtr="1"/>
              <a:lstStyle/>
              <a:p>
                <a:pPr>
                  <a:defRPr lang="en-US" sz="850" b="0" i="0" u="none" strike="noStrike" kern="1200" baseline="0">
                    <a:solidFill>
                      <a:srgbClr val="FFFFFF"/>
                    </a:solidFill>
                    <a:latin typeface="Arial" panose="020B0604020202020204"/>
                    <a:ea typeface="+mn-ea"/>
                    <a:cs typeface="+mn-cs"/>
                  </a:defRPr>
                </a:pPr>
              </a:p>
            </c:txPr>
            <c:dLblPos val="ctr"/>
            <c:showLegendKey val="0"/>
            <c:showVal val="1"/>
            <c:showCatName val="0"/>
            <c:showSerName val="0"/>
            <c:showPercent val="0"/>
            <c:showBubbleSize val="0"/>
            <c:showLeaderLines val="0"/>
            <c:extLst>
              <c:ext xmlns:c15="http://schemas.microsoft.com/office/drawing/2012/chart" uri="{CE6537A1-D6FC-4f65-9D91-7224C49458BB}">
                <c15:layout/>
                <c15:showLeaderLines val="0"/>
                <c15:leaderLines/>
              </c:ext>
            </c:extLst>
          </c:dLbls>
          <c:cat>
            <c:strRef>
              <c:f>Sheet1!$A$2:$A$6</c:f>
              <c:strCache>
                <c:ptCount val="5"/>
                <c:pt idx="0">
                  <c:v>Automotive</c:v>
                </c:pt>
                <c:pt idx="1">
                  <c:v>Appliances</c:v>
                </c:pt>
                <c:pt idx="2">
                  <c:v>Textiles</c:v>
                </c:pt>
                <c:pt idx="3">
                  <c:v>Furniture</c:v>
                </c:pt>
                <c:pt idx="4">
                  <c:v>Electronics</c:v>
                </c:pt>
              </c:strCache>
            </c:strRef>
          </c:cat>
          <c:val>
            <c:numRef>
              <c:f>Sheet1!$B$2:$B$6</c:f>
              <c:numCache>
                <c:formatCode>General</c:formatCode>
                <c:ptCount val="5"/>
                <c:pt idx="0">
                  <c:v>2921</c:v>
                </c:pt>
                <c:pt idx="1">
                  <c:v>2766</c:v>
                </c:pt>
                <c:pt idx="2">
                  <c:v>2722</c:v>
                </c:pt>
                <c:pt idx="3">
                  <c:v>2646</c:v>
                </c:pt>
                <c:pt idx="4">
                  <c:v>2600</c:v>
                </c:pt>
              </c:numCache>
            </c:numRef>
          </c:val>
        </c:ser>
        <c:ser>
          <c:idx val="1"/>
          <c:order val="1"/>
          <c:tx>
            <c:strRef>
              <c:f>Sheet1!$C$1</c:f>
              <c:strCache>
                <c:ptCount val="1"/>
                <c:pt idx="0">
                  <c:v>Quality Checks Failed</c:v>
                </c:pt>
              </c:strCache>
            </c:strRef>
          </c:tx>
          <c:spPr>
            <a:solidFill>
              <a:srgbClr val="C79A3D"/>
            </a:solidFill>
            <a:effectLst/>
          </c:spPr>
          <c:invertIfNegative val="0"/>
          <c:dLbls>
            <c:numFmt formatCode="#,##0" sourceLinked="0"/>
            <c:spPr>
              <a:noFill/>
              <a:ln>
                <a:noFill/>
              </a:ln>
              <a:effectLst/>
            </c:spPr>
            <c:txPr>
              <a:bodyPr rot="0" spcFirstLastPara="0" vertOverflow="ellipsis" vert="horz" wrap="square" lIns="38100" tIns="19050" rIns="38100" bIns="19050" anchor="ctr" anchorCtr="1"/>
              <a:lstStyle/>
              <a:p>
                <a:pPr>
                  <a:defRPr lang="en-US" sz="850" b="0" i="0" u="none" strike="noStrike" kern="1200" baseline="0">
                    <a:solidFill>
                      <a:srgbClr val="FFFFFF"/>
                    </a:solidFill>
                    <a:latin typeface="Arial" panose="020B0604020202020204"/>
                    <a:ea typeface="+mn-ea"/>
                    <a:cs typeface="+mn-cs"/>
                  </a:defRPr>
                </a:pPr>
              </a:p>
            </c:txPr>
            <c:dLblPos val="ctr"/>
            <c:showLegendKey val="0"/>
            <c:showVal val="1"/>
            <c:showCatName val="0"/>
            <c:showSerName val="0"/>
            <c:showPercent val="0"/>
            <c:showBubbleSize val="0"/>
            <c:showLeaderLines val="0"/>
            <c:extLst>
              <c:ext xmlns:c15="http://schemas.microsoft.com/office/drawing/2012/chart" uri="{CE6537A1-D6FC-4f65-9D91-7224C49458BB}">
                <c15:layout/>
                <c15:showLeaderLines val="0"/>
                <c15:leaderLines/>
              </c:ext>
            </c:extLst>
          </c:dLbls>
          <c:cat>
            <c:strRef>
              <c:f>Sheet1!$A$2:$A$6</c:f>
              <c:strCache>
                <c:ptCount val="5"/>
                <c:pt idx="0">
                  <c:v>Automotive</c:v>
                </c:pt>
                <c:pt idx="1">
                  <c:v>Appliances</c:v>
                </c:pt>
                <c:pt idx="2">
                  <c:v>Textiles</c:v>
                </c:pt>
                <c:pt idx="3">
                  <c:v>Furniture</c:v>
                </c:pt>
                <c:pt idx="4">
                  <c:v>Electronics</c:v>
                </c:pt>
              </c:strCache>
            </c:strRef>
          </c:cat>
          <c:val>
            <c:numRef>
              <c:f>Sheet1!$C$2:$C$6</c:f>
              <c:numCache>
                <c:formatCode>General</c:formatCode>
                <c:ptCount val="5"/>
                <c:pt idx="0">
                  <c:v>645</c:v>
                </c:pt>
                <c:pt idx="1">
                  <c:v>611</c:v>
                </c:pt>
                <c:pt idx="2">
                  <c:v>622</c:v>
                </c:pt>
                <c:pt idx="3">
                  <c:v>565</c:v>
                </c:pt>
                <c:pt idx="4">
                  <c:v>565</c:v>
                </c:pt>
              </c:numCache>
            </c:numRef>
          </c:val>
        </c:ser>
        <c:dLbls>
          <c:showLegendKey val="0"/>
          <c:showVal val="1"/>
          <c:showCatName val="0"/>
          <c:showSerName val="0"/>
          <c:showPercent val="0"/>
          <c:showBubbleSize val="0"/>
        </c:dLbls>
        <c:gapWidth val="35"/>
        <c:overlap val="0"/>
        <c:axId val="2094734554"/>
        <c:axId val="2094734552"/>
      </c:barChart>
      <c:catAx>
        <c:axId val="2094734554"/>
        <c:scaling>
          <c:orientation val="minMax"/>
        </c:scaling>
        <c:delete val="0"/>
        <c:axPos val="l"/>
        <c:numFmt formatCode="General" sourceLinked="1"/>
        <c:majorTickMark val="out"/>
        <c:minorTickMark val="none"/>
        <c:tickLblPos val="nextTo"/>
        <c:spPr>
          <a:ln w="12700" cap="flat" cmpd="sng" algn="ctr">
            <a:solidFill>
              <a:srgbClr val="888888"/>
            </a:solidFill>
            <a:prstDash val="solid"/>
            <a:round/>
          </a:ln>
        </c:spPr>
        <c:txPr>
          <a:bodyPr rot="-60000000" spcFirstLastPara="0" vertOverflow="ellipsis" vert="horz" wrap="square" anchor="ctr" anchorCtr="1"/>
          <a:lstStyle/>
          <a:p>
            <a:pPr>
              <a:defRPr lang="en-US" sz="1100" b="0" i="0" u="none" strike="noStrike" kern="1200" baseline="0">
                <a:solidFill>
                  <a:srgbClr val="0B2545"/>
                </a:solidFill>
                <a:latin typeface="Arial" panose="020B0604020202020204"/>
                <a:ea typeface="+mn-ea"/>
                <a:cs typeface="+mn-cs"/>
              </a:defRPr>
            </a:pPr>
          </a:p>
        </c:txPr>
        <c:crossAx val="2094734552"/>
        <c:crosses val="autoZero"/>
        <c:auto val="1"/>
        <c:lblAlgn val="ctr"/>
        <c:lblOffset val="100"/>
        <c:noMultiLvlLbl val="1"/>
      </c:catAx>
      <c:valAx>
        <c:axId val="2094734552"/>
        <c:scaling>
          <c:orientation val="minMax"/>
        </c:scaling>
        <c:delete val="0"/>
        <c:axPos val="b"/>
        <c:majorGridlines>
          <c:spPr>
            <a:ln w="9525" cap="flat" cmpd="sng" algn="ctr">
              <a:solidFill>
                <a:srgbClr val="E4E9F2"/>
              </a:solidFill>
              <a:prstDash val="solid"/>
              <a:round/>
            </a:ln>
          </c:spPr>
        </c:majorGridlines>
        <c:numFmt formatCode="General" sourceLinked="0"/>
        <c:majorTickMark val="out"/>
        <c:minorTickMark val="none"/>
        <c:tickLblPos val="low"/>
        <c:spPr>
          <a:ln w="12700" cap="flat" cmpd="sng" algn="ctr">
            <a:solidFill>
              <a:srgbClr val="888888"/>
            </a:solidFill>
            <a:prstDash val="solid"/>
            <a:round/>
          </a:ln>
        </c:spPr>
        <c:txPr>
          <a:bodyPr rot="-60000000" spcFirstLastPara="0" vertOverflow="ellipsis" vert="horz" wrap="square" anchor="ctr" anchorCtr="1"/>
          <a:lstStyle/>
          <a:p>
            <a:pPr>
              <a:defRPr lang="en-US" sz="900" b="0" i="0" u="none" strike="noStrike" kern="1200" baseline="0">
                <a:solidFill>
                  <a:srgbClr val="44536B"/>
                </a:solidFill>
                <a:latin typeface="Arial" panose="020B0604020202020204"/>
                <a:ea typeface="+mn-ea"/>
                <a:cs typeface="+mn-cs"/>
              </a:defRPr>
            </a:pPr>
          </a:p>
        </c:txPr>
        <c:crossAx val="2094734554"/>
        <c:crosses val="autoZero"/>
        <c:crossBetween val="between"/>
      </c:valAx>
      <c:spPr>
        <a:noFill/>
        <a:ln>
          <a:noFill/>
        </a:ln>
        <a:effectLst/>
      </c:spPr>
    </c:plotArea>
    <c:legend>
      <c:legendPos val="b"/>
      <c:layout/>
      <c:overlay val="0"/>
      <c:txPr>
        <a:bodyPr rot="0" spcFirstLastPara="0" vertOverflow="ellipsis" vert="horz" wrap="square" anchor="ctr" anchorCtr="1"/>
        <a:lstStyle/>
        <a:p>
          <a:pPr>
            <a:defRPr lang="en-US" sz="1050" b="0" i="0" u="none" strike="noStrike" kern="1200" baseline="0">
              <a:solidFill>
                <a:srgbClr val="44536B"/>
              </a:solidFill>
              <a:latin typeface="+mn-lt"/>
              <a:ea typeface="+mn-ea"/>
              <a:cs typeface="+mn-cs"/>
            </a:defRPr>
          </a:pPr>
        </a:p>
      </c:txPr>
    </c:legend>
    <c:plotVisOnly val="1"/>
    <c:dispBlanksAs val="span"/>
    <c:showDLblsOverMax val="0"/>
    <c:extLst>
      <c:ext uri="{0b15fc19-7d7d-44ad-8c2d-2c3a37ce22c3}">
        <chartProps xmlns="https://web.wps.cn/et/2018/main" chartId="{3f06988b-f05a-4135-8e23-ee2e112a9d13}"/>
      </c:ext>
    </c:extLst>
  </c:chart>
  <c:spPr>
    <a:noFill/>
    <a:ln>
      <a:noFill/>
    </a:ln>
    <a:effectLst/>
  </c:spPr>
  <c:txPr>
    <a:bodyPr/>
    <a:lstStyle/>
    <a:p>
      <a:pPr>
        <a:defRPr lang="en-US"/>
      </a:pPr>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lang val="zh-CN"/>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Avg. Units Produced / Batch</c:v>
                </c:pt>
              </c:strCache>
            </c:strRef>
          </c:tx>
          <c:spPr>
            <a:solidFill>
              <a:srgbClr val="0B2545"/>
            </a:solidFill>
            <a:effectLst/>
          </c:spPr>
          <c:invertIfNegative val="0"/>
          <c:dLbls>
            <c:numFmt formatCode="#,##0" sourceLinked="0"/>
            <c:spPr>
              <a:noFill/>
              <a:ln>
                <a:noFill/>
              </a:ln>
              <a:effectLst/>
            </c:spPr>
            <c:txPr>
              <a:bodyPr rot="0" spcFirstLastPara="0" vertOverflow="ellipsis" vert="horz" wrap="square" lIns="38100" tIns="19050" rIns="38100" bIns="19050" anchor="ctr" anchorCtr="1"/>
              <a:lstStyle/>
              <a:p>
                <a:pPr>
                  <a:defRPr lang="en-US" sz="1000" b="0" i="0" u="none" strike="noStrike" kern="1200" baseline="0">
                    <a:solidFill>
                      <a:srgbClr val="0B2545"/>
                    </a:solidFill>
                    <a:latin typeface="Arial" panose="020B0604020202020204"/>
                    <a:ea typeface="+mn-ea"/>
                    <a:cs typeface="+mn-cs"/>
                  </a:defRPr>
                </a:pPr>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0"/>
                <c15:leaderLines/>
              </c:ext>
            </c:extLst>
          </c:dLbls>
          <c:cat>
            <c:strRef>
              <c:f>Sheet1!$A$2:$A$4</c:f>
              <c:strCache>
                <c:ptCount val="3"/>
                <c:pt idx="0">
                  <c:v>Day</c:v>
                </c:pt>
                <c:pt idx="1">
                  <c:v>Night</c:v>
                </c:pt>
                <c:pt idx="2">
                  <c:v>Swing</c:v>
                </c:pt>
              </c:strCache>
            </c:strRef>
          </c:cat>
          <c:val>
            <c:numRef>
              <c:f>Sheet1!$B$2:$B$4</c:f>
              <c:numCache>
                <c:formatCode>General</c:formatCode>
                <c:ptCount val="3"/>
                <c:pt idx="0">
                  <c:v>124.4</c:v>
                </c:pt>
                <c:pt idx="1">
                  <c:v>124</c:v>
                </c:pt>
                <c:pt idx="2">
                  <c:v>126.6</c:v>
                </c:pt>
              </c:numCache>
            </c:numRef>
          </c:val>
        </c:ser>
        <c:dLbls>
          <c:showLegendKey val="0"/>
          <c:showVal val="1"/>
          <c:showCatName val="0"/>
          <c:showSerName val="0"/>
          <c:showPercent val="0"/>
          <c:showBubbleSize val="0"/>
        </c:dLbls>
        <c:gapWidth val="45"/>
        <c:overlap val="0"/>
        <c:axId val="2094734554"/>
        <c:axId val="2094734552"/>
      </c:barChart>
      <c:catAx>
        <c:axId val="2094734554"/>
        <c:scaling>
          <c:orientation val="minMax"/>
        </c:scaling>
        <c:delete val="0"/>
        <c:axPos val="b"/>
        <c:numFmt formatCode="General" sourceLinked="1"/>
        <c:majorTickMark val="out"/>
        <c:minorTickMark val="none"/>
        <c:tickLblPos val="low"/>
        <c:spPr>
          <a:ln w="12700" cap="flat" cmpd="sng" algn="ctr">
            <a:solidFill>
              <a:srgbClr val="888888"/>
            </a:solidFill>
            <a:prstDash val="solid"/>
            <a:round/>
          </a:ln>
        </c:spPr>
        <c:txPr>
          <a:bodyPr rot="-60000000" spcFirstLastPara="0" vertOverflow="ellipsis" vert="horz" wrap="square" anchor="ctr" anchorCtr="1"/>
          <a:lstStyle/>
          <a:p>
            <a:pPr>
              <a:defRPr lang="en-US" sz="1050" b="0" i="0" u="none" strike="noStrike" kern="1200" baseline="0">
                <a:solidFill>
                  <a:srgbClr val="44536B"/>
                </a:solidFill>
                <a:latin typeface="Arial" panose="020B0604020202020204"/>
                <a:ea typeface="+mn-ea"/>
                <a:cs typeface="+mn-cs"/>
              </a:defRPr>
            </a:pPr>
          </a:p>
        </c:txPr>
        <c:crossAx val="2094734552"/>
        <c:crosses val="autoZero"/>
        <c:auto val="1"/>
        <c:lblAlgn val="ctr"/>
        <c:lblOffset val="100"/>
        <c:noMultiLvlLbl val="1"/>
      </c:catAx>
      <c:valAx>
        <c:axId val="2094734552"/>
        <c:scaling>
          <c:orientation val="minMax"/>
          <c:max val="130"/>
          <c:min val="118"/>
        </c:scaling>
        <c:delete val="0"/>
        <c:axPos val="l"/>
        <c:majorGridlines>
          <c:spPr>
            <a:ln w="9525" cap="flat" cmpd="sng" algn="ctr">
              <a:solidFill>
                <a:srgbClr val="E4E9F2"/>
              </a:solidFill>
              <a:prstDash val="solid"/>
              <a:round/>
            </a:ln>
          </c:spPr>
        </c:majorGridlines>
        <c:numFmt formatCode="General" sourceLinked="0"/>
        <c:majorTickMark val="out"/>
        <c:minorTickMark val="none"/>
        <c:tickLblPos val="nextTo"/>
        <c:spPr>
          <a:ln w="12700" cap="flat" cmpd="sng" algn="ctr">
            <a:solidFill>
              <a:srgbClr val="888888"/>
            </a:solidFill>
            <a:prstDash val="solid"/>
            <a:round/>
          </a:ln>
        </c:spPr>
        <c:txPr>
          <a:bodyPr rot="-60000000" spcFirstLastPara="0" vertOverflow="ellipsis" vert="horz" wrap="square" anchor="ctr" anchorCtr="1"/>
          <a:lstStyle/>
          <a:p>
            <a:pPr>
              <a:defRPr lang="en-US" sz="850" b="0" i="0" u="none" strike="noStrike" kern="1200" baseline="0">
                <a:solidFill>
                  <a:srgbClr val="44536B"/>
                </a:solidFill>
                <a:latin typeface="Arial" panose="020B0604020202020204"/>
                <a:ea typeface="+mn-ea"/>
                <a:cs typeface="+mn-cs"/>
              </a:defRPr>
            </a:pPr>
          </a:p>
        </c:txPr>
        <c:crossAx val="2094734554"/>
        <c:crosses val="autoZero"/>
        <c:crossBetween val="between"/>
      </c:valAx>
      <c:spPr>
        <a:noFill/>
        <a:ln>
          <a:noFill/>
        </a:ln>
        <a:effectLst/>
      </c:spPr>
    </c:plotArea>
    <c:plotVisOnly val="1"/>
    <c:dispBlanksAs val="span"/>
    <c:showDLblsOverMax val="0"/>
    <c:extLst>
      <c:ext uri="{0b15fc19-7d7d-44ad-8c2d-2c3a37ce22c3}">
        <chartProps xmlns="https://web.wps.cn/et/2018/main" chartId="{7b12423f-f5fa-452e-9b81-758da91e71fa}"/>
      </c:ext>
    </c:extLst>
  </c:chart>
  <c:spPr>
    <a:noFill/>
    <a:ln>
      <a:noFill/>
    </a:ln>
    <a:effectLst/>
  </c:spPr>
  <c:txPr>
    <a:bodyPr/>
    <a:lstStyle/>
    <a:p>
      <a:pPr>
        <a:defRPr lang="en-US"/>
      </a:pPr>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lang val="zh-CN"/>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Units / Hour</c:v>
                </c:pt>
              </c:strCache>
            </c:strRef>
          </c:tx>
          <c:spPr>
            <a:solidFill>
              <a:srgbClr val="C79A3D"/>
            </a:solidFill>
            <a:effectLst/>
          </c:spPr>
          <c:invertIfNegative val="0"/>
          <c:dLbls>
            <c:numFmt formatCode="#,##0" sourceLinked="0"/>
            <c:spPr>
              <a:noFill/>
              <a:ln>
                <a:noFill/>
              </a:ln>
              <a:effectLst/>
            </c:spPr>
            <c:txPr>
              <a:bodyPr rot="0" spcFirstLastPara="0" vertOverflow="ellipsis" vert="horz" wrap="square" lIns="38100" tIns="19050" rIns="38100" bIns="19050" anchor="ctr" anchorCtr="1"/>
              <a:lstStyle/>
              <a:p>
                <a:pPr>
                  <a:defRPr lang="en-US" sz="1000" b="0" i="0" u="none" strike="noStrike" kern="1200" baseline="0">
                    <a:solidFill>
                      <a:srgbClr val="0B2545"/>
                    </a:solidFill>
                    <a:latin typeface="Arial" panose="020B0604020202020204"/>
                    <a:ea typeface="+mn-ea"/>
                    <a:cs typeface="+mn-cs"/>
                  </a:defRPr>
                </a:pPr>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0"/>
                <c15:leaderLines/>
              </c:ext>
            </c:extLst>
          </c:dLbls>
          <c:cat>
            <c:strRef>
              <c:f>Sheet1!$A$2:$A$5</c:f>
              <c:strCache>
                <c:ptCount val="4"/>
                <c:pt idx="0">
                  <c:v>1 Operator</c:v>
                </c:pt>
                <c:pt idx="1">
                  <c:v>2 Operators</c:v>
                </c:pt>
                <c:pt idx="2">
                  <c:v>3 Operators</c:v>
                </c:pt>
                <c:pt idx="3">
                  <c:v>4 Operators</c:v>
                </c:pt>
              </c:strCache>
            </c:strRef>
          </c:cat>
          <c:val>
            <c:numRef>
              <c:f>Sheet1!$B$2:$B$5</c:f>
              <c:numCache>
                <c:formatCode>General</c:formatCode>
                <c:ptCount val="4"/>
                <c:pt idx="0">
                  <c:v>17.32</c:v>
                </c:pt>
                <c:pt idx="1">
                  <c:v>16.76</c:v>
                </c:pt>
                <c:pt idx="2">
                  <c:v>18.02</c:v>
                </c:pt>
                <c:pt idx="3">
                  <c:v>17.5</c:v>
                </c:pt>
              </c:numCache>
            </c:numRef>
          </c:val>
        </c:ser>
        <c:dLbls>
          <c:showLegendKey val="0"/>
          <c:showVal val="1"/>
          <c:showCatName val="0"/>
          <c:showSerName val="0"/>
          <c:showPercent val="0"/>
          <c:showBubbleSize val="0"/>
        </c:dLbls>
        <c:gapWidth val="35"/>
        <c:overlap val="0"/>
        <c:axId val="2094734554"/>
        <c:axId val="2094734552"/>
      </c:barChart>
      <c:catAx>
        <c:axId val="2094734554"/>
        <c:scaling>
          <c:orientation val="minMax"/>
        </c:scaling>
        <c:delete val="0"/>
        <c:axPos val="b"/>
        <c:numFmt formatCode="General" sourceLinked="1"/>
        <c:majorTickMark val="out"/>
        <c:minorTickMark val="none"/>
        <c:tickLblPos val="low"/>
        <c:spPr>
          <a:ln w="12700" cap="flat" cmpd="sng" algn="ctr">
            <a:solidFill>
              <a:srgbClr val="888888"/>
            </a:solidFill>
            <a:prstDash val="solid"/>
            <a:round/>
          </a:ln>
        </c:spPr>
        <c:txPr>
          <a:bodyPr rot="-60000000" spcFirstLastPara="0" vertOverflow="ellipsis" vert="horz" wrap="square" anchor="ctr" anchorCtr="1"/>
          <a:lstStyle/>
          <a:p>
            <a:pPr>
              <a:defRPr lang="en-US" sz="950" b="0" i="0" u="none" strike="noStrike" kern="1200" baseline="0">
                <a:solidFill>
                  <a:srgbClr val="44536B"/>
                </a:solidFill>
                <a:latin typeface="Arial" panose="020B0604020202020204"/>
                <a:ea typeface="+mn-ea"/>
                <a:cs typeface="+mn-cs"/>
              </a:defRPr>
            </a:pPr>
          </a:p>
        </c:txPr>
        <c:crossAx val="2094734552"/>
        <c:crosses val="autoZero"/>
        <c:auto val="1"/>
        <c:lblAlgn val="ctr"/>
        <c:lblOffset val="100"/>
        <c:noMultiLvlLbl val="1"/>
      </c:catAx>
      <c:valAx>
        <c:axId val="2094734552"/>
        <c:scaling>
          <c:orientation val="minMax"/>
          <c:max val="22"/>
          <c:min val="0"/>
        </c:scaling>
        <c:delete val="0"/>
        <c:axPos val="l"/>
        <c:majorGridlines>
          <c:spPr>
            <a:ln w="9525" cap="flat" cmpd="sng" algn="ctr">
              <a:solidFill>
                <a:srgbClr val="E4E9F2"/>
              </a:solidFill>
              <a:prstDash val="solid"/>
              <a:round/>
            </a:ln>
          </c:spPr>
        </c:majorGridlines>
        <c:numFmt formatCode="General" sourceLinked="0"/>
        <c:majorTickMark val="out"/>
        <c:minorTickMark val="none"/>
        <c:tickLblPos val="nextTo"/>
        <c:spPr>
          <a:ln w="12700" cap="flat" cmpd="sng" algn="ctr">
            <a:solidFill>
              <a:srgbClr val="888888"/>
            </a:solidFill>
            <a:prstDash val="solid"/>
            <a:round/>
          </a:ln>
        </c:spPr>
        <c:txPr>
          <a:bodyPr rot="-60000000" spcFirstLastPara="0" vertOverflow="ellipsis" vert="horz" wrap="square" anchor="ctr" anchorCtr="1"/>
          <a:lstStyle/>
          <a:p>
            <a:pPr>
              <a:defRPr lang="en-US" sz="850" b="0" i="0" u="none" strike="noStrike" kern="1200" baseline="0">
                <a:solidFill>
                  <a:srgbClr val="44536B"/>
                </a:solidFill>
                <a:latin typeface="Arial" panose="020B0604020202020204"/>
                <a:ea typeface="+mn-ea"/>
                <a:cs typeface="+mn-cs"/>
              </a:defRPr>
            </a:pPr>
          </a:p>
        </c:txPr>
        <c:crossAx val="2094734554"/>
        <c:crosses val="autoZero"/>
        <c:crossBetween val="between"/>
      </c:valAx>
      <c:spPr>
        <a:noFill/>
        <a:ln>
          <a:noFill/>
        </a:ln>
        <a:effectLst/>
      </c:spPr>
    </c:plotArea>
    <c:plotVisOnly val="1"/>
    <c:dispBlanksAs val="span"/>
    <c:showDLblsOverMax val="0"/>
    <c:extLst>
      <c:ext uri="{0b15fc19-7d7d-44ad-8c2d-2c3a37ce22c3}">
        <chartProps xmlns="https://web.wps.cn/et/2018/main" chartId="{0fa00280-6dad-45d7-9eec-21a975e196bf}"/>
      </c:ext>
    </c:extLst>
  </c:chart>
  <c:spPr>
    <a:noFill/>
    <a:ln>
      <a:noFill/>
    </a:ln>
    <a:effectLst/>
  </c:spPr>
  <c:txPr>
    <a:bodyPr/>
    <a:lstStyle/>
    <a:p>
      <a:pPr>
        <a:defRPr lang="en-US"/>
      </a:pPr>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lang val="zh-CN"/>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Plastech (Actual)</c:v>
                </c:pt>
              </c:strCache>
            </c:strRef>
          </c:tx>
          <c:spPr>
            <a:solidFill>
              <a:srgbClr val="0B2545"/>
            </a:solidFill>
            <a:effectLst/>
          </c:spPr>
          <c:invertIfNegative val="0"/>
          <c:dLbls>
            <c:numFmt formatCode="#,##0" sourceLinked="0"/>
            <c:spPr>
              <a:noFill/>
              <a:ln>
                <a:noFill/>
              </a:ln>
              <a:effectLst/>
            </c:spPr>
            <c:txPr>
              <a:bodyPr rot="0" spcFirstLastPara="0" vertOverflow="ellipsis" vert="horz" wrap="square" lIns="38100" tIns="19050" rIns="38100" bIns="19050" anchor="ctr" anchorCtr="1"/>
              <a:lstStyle/>
              <a:p>
                <a:pPr>
                  <a:defRPr lang="en-US" sz="1000" b="0" i="0" u="none" strike="noStrike" kern="1200" baseline="0">
                    <a:solidFill>
                      <a:srgbClr val="44536B"/>
                    </a:solidFill>
                    <a:latin typeface="Arial" panose="020B0604020202020204"/>
                    <a:ea typeface="+mn-ea"/>
                    <a:cs typeface="+mn-cs"/>
                  </a:defRPr>
                </a:pPr>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0"/>
                <c15:leaderLines/>
              </c:ext>
            </c:extLst>
          </c:dLbls>
          <c:cat>
            <c:strRef>
              <c:f>Sheet1!$A$2:$A$3</c:f>
              <c:strCache>
                <c:ptCount val="2"/>
                <c:pt idx="0">
                  <c:v>Availability</c:v>
                </c:pt>
                <c:pt idx="1">
                  <c:v>Quality Rate</c:v>
                </c:pt>
              </c:strCache>
            </c:strRef>
          </c:cat>
          <c:val>
            <c:numRef>
              <c:f>Sheet1!$B$2:$B$3</c:f>
              <c:numCache>
                <c:formatCode>General</c:formatCode>
                <c:ptCount val="2"/>
                <c:pt idx="0">
                  <c:v>89.1</c:v>
                </c:pt>
                <c:pt idx="1">
                  <c:v>96.4</c:v>
                </c:pt>
              </c:numCache>
            </c:numRef>
          </c:val>
        </c:ser>
        <c:ser>
          <c:idx val="1"/>
          <c:order val="1"/>
          <c:tx>
            <c:strRef>
              <c:f>Sheet1!$C$1</c:f>
              <c:strCache>
                <c:ptCount val="1"/>
                <c:pt idx="0">
                  <c:v>World-Class Benchmark</c:v>
                </c:pt>
              </c:strCache>
            </c:strRef>
          </c:tx>
          <c:spPr>
            <a:solidFill>
              <a:srgbClr val="C7CEDA"/>
            </a:solidFill>
            <a:effectLst/>
          </c:spPr>
          <c:invertIfNegative val="0"/>
          <c:dLbls>
            <c:numFmt formatCode="#,##0" sourceLinked="0"/>
            <c:spPr>
              <a:noFill/>
              <a:ln>
                <a:noFill/>
              </a:ln>
              <a:effectLst/>
            </c:spPr>
            <c:txPr>
              <a:bodyPr rot="0" spcFirstLastPara="0" vertOverflow="ellipsis" vert="horz" wrap="square" lIns="38100" tIns="19050" rIns="38100" bIns="19050" anchor="ctr" anchorCtr="1"/>
              <a:lstStyle/>
              <a:p>
                <a:pPr>
                  <a:defRPr lang="en-US" sz="1000" b="0" i="0" u="none" strike="noStrike" kern="1200" baseline="0">
                    <a:solidFill>
                      <a:srgbClr val="44536B"/>
                    </a:solidFill>
                    <a:latin typeface="Arial" panose="020B0604020202020204"/>
                    <a:ea typeface="+mn-ea"/>
                    <a:cs typeface="+mn-cs"/>
                  </a:defRPr>
                </a:pPr>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0"/>
                <c15:leaderLines/>
              </c:ext>
            </c:extLst>
          </c:dLbls>
          <c:cat>
            <c:strRef>
              <c:f>Sheet1!$A$2:$A$3</c:f>
              <c:strCache>
                <c:ptCount val="2"/>
                <c:pt idx="0">
                  <c:v>Availability</c:v>
                </c:pt>
                <c:pt idx="1">
                  <c:v>Quality Rate</c:v>
                </c:pt>
              </c:strCache>
            </c:strRef>
          </c:cat>
          <c:val>
            <c:numRef>
              <c:f>Sheet1!$C$2:$C$3</c:f>
              <c:numCache>
                <c:formatCode>General</c:formatCode>
                <c:ptCount val="2"/>
                <c:pt idx="0">
                  <c:v>90</c:v>
                </c:pt>
                <c:pt idx="1">
                  <c:v>99</c:v>
                </c:pt>
              </c:numCache>
            </c:numRef>
          </c:val>
        </c:ser>
        <c:dLbls>
          <c:showLegendKey val="0"/>
          <c:showVal val="1"/>
          <c:showCatName val="0"/>
          <c:showSerName val="0"/>
          <c:showPercent val="0"/>
          <c:showBubbleSize val="0"/>
        </c:dLbls>
        <c:gapWidth val="40"/>
        <c:overlap val="0"/>
        <c:axId val="2094734554"/>
        <c:axId val="2094734552"/>
      </c:barChart>
      <c:catAx>
        <c:axId val="2094734554"/>
        <c:scaling>
          <c:orientation val="minMax"/>
        </c:scaling>
        <c:delete val="0"/>
        <c:axPos val="b"/>
        <c:numFmt formatCode="General" sourceLinked="1"/>
        <c:majorTickMark val="out"/>
        <c:minorTickMark val="none"/>
        <c:tickLblPos val="low"/>
        <c:spPr>
          <a:ln w="12700" cap="flat" cmpd="sng" algn="ctr">
            <a:solidFill>
              <a:srgbClr val="888888"/>
            </a:solidFill>
            <a:prstDash val="solid"/>
            <a:round/>
          </a:ln>
        </c:spPr>
        <c:txPr>
          <a:bodyPr rot="-60000000" spcFirstLastPara="0" vertOverflow="ellipsis" vert="horz" wrap="square" anchor="ctr" anchorCtr="1"/>
          <a:lstStyle/>
          <a:p>
            <a:pPr>
              <a:defRPr lang="en-US" sz="1100" b="0" i="0" u="none" strike="noStrike" kern="1200" baseline="0">
                <a:solidFill>
                  <a:srgbClr val="0B2545"/>
                </a:solidFill>
                <a:latin typeface="Arial" panose="020B0604020202020204"/>
                <a:ea typeface="+mn-ea"/>
                <a:cs typeface="+mn-cs"/>
              </a:defRPr>
            </a:pPr>
          </a:p>
        </c:txPr>
        <c:crossAx val="2094734552"/>
        <c:crosses val="autoZero"/>
        <c:auto val="1"/>
        <c:lblAlgn val="ctr"/>
        <c:lblOffset val="100"/>
        <c:noMultiLvlLbl val="1"/>
      </c:catAx>
      <c:valAx>
        <c:axId val="2094734552"/>
        <c:scaling>
          <c:orientation val="minMax"/>
          <c:max val="100"/>
          <c:min val="80"/>
        </c:scaling>
        <c:delete val="0"/>
        <c:axPos val="l"/>
        <c:majorGridlines>
          <c:spPr>
            <a:ln w="9525" cap="flat" cmpd="sng" algn="ctr">
              <a:solidFill>
                <a:srgbClr val="E4E9F2"/>
              </a:solidFill>
              <a:prstDash val="solid"/>
              <a:round/>
            </a:ln>
          </c:spPr>
        </c:majorGridlines>
        <c:numFmt formatCode="General" sourceLinked="0"/>
        <c:majorTickMark val="out"/>
        <c:minorTickMark val="none"/>
        <c:tickLblPos val="nextTo"/>
        <c:spPr>
          <a:ln w="12700" cap="flat" cmpd="sng" algn="ctr">
            <a:solidFill>
              <a:srgbClr val="888888"/>
            </a:solidFill>
            <a:prstDash val="solid"/>
            <a:round/>
          </a:ln>
        </c:spPr>
        <c:txPr>
          <a:bodyPr rot="-60000000" spcFirstLastPara="0" vertOverflow="ellipsis" vert="horz" wrap="square" anchor="ctr" anchorCtr="1"/>
          <a:lstStyle/>
          <a:p>
            <a:pPr>
              <a:defRPr lang="en-US" sz="850" b="0" i="0" u="none" strike="noStrike" kern="1200" baseline="0">
                <a:solidFill>
                  <a:srgbClr val="44536B"/>
                </a:solidFill>
                <a:latin typeface="Arial" panose="020B0604020202020204"/>
                <a:ea typeface="+mn-ea"/>
                <a:cs typeface="+mn-cs"/>
              </a:defRPr>
            </a:pPr>
          </a:p>
        </c:txPr>
        <c:crossAx val="2094734554"/>
        <c:crosses val="autoZero"/>
        <c:crossBetween val="between"/>
      </c:valAx>
      <c:spPr>
        <a:noFill/>
        <a:ln>
          <a:noFill/>
        </a:ln>
        <a:effectLst/>
      </c:spPr>
    </c:plotArea>
    <c:legend>
      <c:legendPos val="b"/>
      <c:layout/>
      <c:overlay val="0"/>
      <c:txPr>
        <a:bodyPr rot="0" spcFirstLastPara="0" vertOverflow="ellipsis" vert="horz" wrap="square" anchor="ctr" anchorCtr="1"/>
        <a:lstStyle/>
        <a:p>
          <a:pPr>
            <a:defRPr lang="en-US" sz="950" b="0" i="0" u="none" strike="noStrike" kern="1200" baseline="0">
              <a:solidFill>
                <a:srgbClr val="44536B"/>
              </a:solidFill>
              <a:latin typeface="+mn-lt"/>
              <a:ea typeface="+mn-ea"/>
              <a:cs typeface="+mn-cs"/>
            </a:defRPr>
          </a:pPr>
        </a:p>
      </c:txPr>
    </c:legend>
    <c:plotVisOnly val="1"/>
    <c:dispBlanksAs val="span"/>
    <c:showDLblsOverMax val="0"/>
    <c:extLst>
      <c:ext uri="{0b15fc19-7d7d-44ad-8c2d-2c3a37ce22c3}">
        <chartProps xmlns="https://web.wps.cn/et/2018/main" chartId="{9a4aba08-8d17-42f3-87c5-5775bac808bc}"/>
      </c:ext>
    </c:extLst>
  </c:chart>
  <c:spPr>
    <a:noFill/>
    <a:ln>
      <a:noFill/>
    </a:ln>
    <a:effectLst/>
  </c:spPr>
  <c:txPr>
    <a:bodyPr/>
    <a:lstStyle/>
    <a:p>
      <a:pPr>
        <a:defRPr lang="en-US"/>
      </a:pPr>
    </a:p>
  </c:txPr>
  <c:externalData r:id="rId1">
    <c:autoUpdate val="0"/>
  </c:externalData>
</c:chartSpac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611717"/>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611717"/>
          </a:xfrm>
          <a:prstGeom prst="rect">
            <a:avLst/>
          </a:prstGeom>
        </p:spPr>
        <p:txBody>
          <a:bodyPr vert="horz" lIns="91440" tIns="45720" rIns="91440" bIns="45720" rtlCol="0"/>
          <a:lstStyle>
            <a:lvl1pPr algn="r">
              <a:defRPr sz="1200"/>
            </a:lvl1pPr>
          </a:lstStyle>
          <a:p>
            <a:fld id="{696C064A-D61B-4B21-B757-51A9B82445B8}" type="datetimeFigureOut">
              <a:rPr lang="en-US" smtClean="0"/>
            </a:fld>
            <a:endParaRPr lang="en-US"/>
          </a:p>
        </p:txBody>
      </p:sp>
      <p:sp>
        <p:nvSpPr>
          <p:cNvPr id="4" name="Footer Placeholder 3"/>
          <p:cNvSpPr>
            <a:spLocks noGrp="1"/>
          </p:cNvSpPr>
          <p:nvPr>
            <p:ph type="ftr" sz="quarter" idx="2"/>
          </p:nvPr>
        </p:nvSpPr>
        <p:spPr>
          <a:xfrm>
            <a:off x="0" y="11580284"/>
            <a:ext cx="2971800" cy="611716"/>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11580284"/>
            <a:ext cx="2971800" cy="611716"/>
          </a:xfrm>
          <a:prstGeom prst="rect">
            <a:avLst/>
          </a:prstGeom>
        </p:spPr>
        <p:txBody>
          <a:bodyPr vert="horz" lIns="91440" tIns="45720" rIns="91440" bIns="45720" rtlCol="0" anchor="b"/>
          <a:lstStyle>
            <a:lvl1pPr algn="r">
              <a:defRPr sz="1200"/>
            </a:lvl1pPr>
          </a:lstStyle>
          <a:p>
            <a:fld id="{50305E07-67EA-4042-A3F6-853A8AD8D209}" type="slidenum">
              <a:rPr lang="en-US" smtClean="0"/>
            </a:fld>
            <a:endParaRPr 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xml"/><Relationship Id="rId1" Type="http://schemas.openxmlformats.org/officeDocument/2006/relationships/chart" Target="../charts/chart1.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xml"/><Relationship Id="rId1" Type="http://schemas.openxmlformats.org/officeDocument/2006/relationships/chart" Target="../charts/chart2.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xml"/><Relationship Id="rId1" Type="http://schemas.openxmlformats.org/officeDocument/2006/relationships/chart" Target="../charts/chart3.xml"/></Relationships>
</file>

<file path=ppt/slides/_rels/slide10.xml.rels><?xml version="1.0" encoding="UTF-8" standalone="yes"?>
<Relationships xmlns="http://schemas.openxmlformats.org/package/2006/relationships"><Relationship Id="rId4" Type="http://schemas.openxmlformats.org/officeDocument/2006/relationships/notesSlide" Target="../notesSlides/notesSlide10.xml"/><Relationship Id="rId3" Type="http://schemas.openxmlformats.org/officeDocument/2006/relationships/slideLayout" Target="../slideLayouts/slideLayout1.xml"/><Relationship Id="rId2" Type="http://schemas.openxmlformats.org/officeDocument/2006/relationships/chart" Target="../charts/chart5.xml"/><Relationship Id="rId1" Type="http://schemas.openxmlformats.org/officeDocument/2006/relationships/chart" Target="../charts/char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1.xml"/><Relationship Id="rId1" Type="http://schemas.openxmlformats.org/officeDocument/2006/relationships/chart" Target="../charts/chart6.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4" Type="http://schemas.openxmlformats.org/officeDocument/2006/relationships/notesSlide" Target="../notesSlides/notesSlide15.xml"/><Relationship Id="rId3" Type="http://schemas.openxmlformats.org/officeDocument/2006/relationships/slideLayout" Target="../slideLayouts/slideLayout1.xml"/><Relationship Id="rId2" Type="http://schemas.openxmlformats.org/officeDocument/2006/relationships/image" Target="../media/image2.png"/><Relationship Id="rId1"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71A33"/>
        </a:solidFill>
        <a:effectLst/>
      </p:bgPr>
    </p:bg>
    <p:spTree>
      <p:nvGrpSpPr>
        <p:cNvPr id="1" name=""/>
        <p:cNvGrpSpPr/>
        <p:nvPr/>
      </p:nvGrpSpPr>
      <p:grpSpPr>
        <a:xfrm>
          <a:off x="0" y="0"/>
          <a:ext cx="0" cy="0"/>
          <a:chOff x="0" y="0"/>
          <a:chExt cx="0" cy="0"/>
        </a:xfrm>
      </p:grpSpPr>
      <p:sp>
        <p:nvSpPr>
          <p:cNvPr id="2" name="Shape 0"/>
          <p:cNvSpPr/>
          <p:nvPr/>
        </p:nvSpPr>
        <p:spPr>
          <a:xfrm>
            <a:off x="9052560" y="-1463040"/>
            <a:ext cx="5669280" cy="5669280"/>
          </a:xfrm>
          <a:prstGeom prst="ellipse">
            <a:avLst/>
          </a:prstGeom>
          <a:solidFill>
            <a:srgbClr val="0B2545">
              <a:alpha val="60000"/>
            </a:srgbClr>
          </a:solidFill>
        </p:spPr>
      </p:sp>
      <p:sp>
        <p:nvSpPr>
          <p:cNvPr id="3" name="Shape 1"/>
          <p:cNvSpPr/>
          <p:nvPr/>
        </p:nvSpPr>
        <p:spPr>
          <a:xfrm>
            <a:off x="9784080" y="-731520"/>
            <a:ext cx="4206240" cy="4206240"/>
          </a:xfrm>
          <a:prstGeom prst="ellipse">
            <a:avLst/>
          </a:prstGeom>
          <a:solidFill>
            <a:srgbClr val="C79A3D">
              <a:alpha val="12000"/>
            </a:srgbClr>
          </a:solidFill>
          <a:ln w="12700">
            <a:solidFill>
              <a:srgbClr val="C79A3D">
                <a:alpha val="40000"/>
              </a:srgbClr>
            </a:solidFill>
            <a:prstDash val="solid"/>
          </a:ln>
        </p:spPr>
      </p:sp>
      <p:sp>
        <p:nvSpPr>
          <p:cNvPr id="4" name="Shape 2"/>
          <p:cNvSpPr/>
          <p:nvPr/>
        </p:nvSpPr>
        <p:spPr>
          <a:xfrm>
            <a:off x="10515600" y="0"/>
            <a:ext cx="2743200" cy="2743200"/>
          </a:xfrm>
          <a:prstGeom prst="ellipse">
            <a:avLst/>
          </a:prstGeom>
          <a:ln w="15875">
            <a:solidFill>
              <a:srgbClr val="C79A3D">
                <a:alpha val="55000"/>
              </a:srgbClr>
            </a:solidFill>
            <a:prstDash val="solid"/>
          </a:ln>
        </p:spPr>
      </p:sp>
      <p:sp>
        <p:nvSpPr>
          <p:cNvPr id="5" name="Text 3"/>
          <p:cNvSpPr/>
          <p:nvPr/>
        </p:nvSpPr>
        <p:spPr>
          <a:xfrm>
            <a:off x="640080" y="502920"/>
            <a:ext cx="7315200" cy="365760"/>
          </a:xfrm>
          <a:prstGeom prst="rect">
            <a:avLst/>
          </a:prstGeom>
          <a:noFill/>
        </p:spPr>
        <p:txBody>
          <a:bodyPr wrap="square" rtlCol="0" anchor="ctr"/>
          <a:lstStyle/>
          <a:p>
            <a:pPr marL="0" indent="0">
              <a:buNone/>
            </a:pPr>
            <a:r>
              <a:rPr lang="en-US" sz="1300" b="1" kern="0" spc="300" dirty="0">
                <a:solidFill>
                  <a:srgbClr val="C79A3D"/>
                </a:solidFill>
                <a:latin typeface="Calibri" panose="020F0502020204030204" pitchFamily="34" charset="0"/>
                <a:ea typeface="Calibri" panose="020F0502020204030204" pitchFamily="34" charset="-122"/>
                <a:cs typeface="Calibri" panose="020F0502020204030204" pitchFamily="34" charset="-120"/>
              </a:rPr>
              <a:t>PLASTECH MANUFACTURING CO.</a:t>
            </a:r>
            <a:endParaRPr lang="en-US" sz="1300" dirty="0"/>
          </a:p>
        </p:txBody>
      </p:sp>
      <p:sp>
        <p:nvSpPr>
          <p:cNvPr id="6" name="Text 4"/>
          <p:cNvSpPr/>
          <p:nvPr/>
        </p:nvSpPr>
        <p:spPr>
          <a:xfrm>
            <a:off x="621792" y="2331720"/>
            <a:ext cx="8778240" cy="1920240"/>
          </a:xfrm>
          <a:prstGeom prst="rect">
            <a:avLst/>
          </a:prstGeom>
          <a:noFill/>
        </p:spPr>
        <p:txBody>
          <a:bodyPr wrap="square" rtlCol="0" anchor="ctr"/>
          <a:lstStyle/>
          <a:p>
            <a:pPr marL="0" indent="0">
              <a:lnSpc>
                <a:spcPts val="4600"/>
              </a:lnSpc>
              <a:buNone/>
            </a:pPr>
            <a:r>
              <a:rPr lang="en-US" sz="4200" b="1" dirty="0">
                <a:solidFill>
                  <a:srgbClr val="FFFFFF"/>
                </a:solidFill>
                <a:latin typeface="Cambria" panose="02040503050406030204" pitchFamily="34" charset="0"/>
                <a:ea typeface="Cambria" panose="02040503050406030204" pitchFamily="34" charset="-122"/>
                <a:cs typeface="Cambria" panose="02040503050406030204" pitchFamily="34" charset="-120"/>
              </a:rPr>
              <a:t>Manufacturing Plant</a:t>
            </a:r>
            <a:endParaRPr lang="en-US" sz="4200" dirty="0"/>
          </a:p>
          <a:p>
            <a:pPr marL="0" indent="0">
              <a:lnSpc>
                <a:spcPts val="4600"/>
              </a:lnSpc>
              <a:buNone/>
            </a:pPr>
            <a:r>
              <a:rPr lang="en-US" sz="4200" b="1" dirty="0">
                <a:solidFill>
                  <a:srgbClr val="FFFFFF"/>
                </a:solidFill>
                <a:latin typeface="Cambria" panose="02040503050406030204" pitchFamily="34" charset="0"/>
                <a:ea typeface="Cambria" panose="02040503050406030204" pitchFamily="34" charset="-122"/>
                <a:cs typeface="Cambria" panose="02040503050406030204" pitchFamily="34" charset="-120"/>
              </a:rPr>
              <a:t>Operational Performance</a:t>
            </a:r>
            <a:endParaRPr lang="en-US" sz="4200" dirty="0"/>
          </a:p>
        </p:txBody>
      </p:sp>
      <p:sp>
        <p:nvSpPr>
          <p:cNvPr id="7" name="Text 5"/>
          <p:cNvSpPr/>
          <p:nvPr/>
        </p:nvSpPr>
        <p:spPr>
          <a:xfrm>
            <a:off x="640080" y="4160520"/>
            <a:ext cx="8595360" cy="457200"/>
          </a:xfrm>
          <a:prstGeom prst="rect">
            <a:avLst/>
          </a:prstGeom>
          <a:noFill/>
        </p:spPr>
        <p:txBody>
          <a:bodyPr wrap="square" rtlCol="0" anchor="ctr"/>
          <a:lstStyle/>
          <a:p>
            <a:pPr marL="0" indent="0">
              <a:buNone/>
            </a:pPr>
            <a:r>
              <a:rPr lang="en-US" sz="1650" i="1" dirty="0">
                <a:solidFill>
                  <a:srgbClr val="CADCFC"/>
                </a:solidFill>
                <a:latin typeface="Calibri" panose="020F0502020204030204" pitchFamily="34" charset="0"/>
                <a:ea typeface="Calibri" panose="020F0502020204030204" pitchFamily="34" charset="-122"/>
                <a:cs typeface="Calibri" panose="020F0502020204030204" pitchFamily="34" charset="-120"/>
              </a:rPr>
              <a:t>A Root-Cause Analysis of Downtime, Quality &amp; Cost Across the Plant Floor</a:t>
            </a:r>
            <a:endParaRPr lang="en-US" sz="1650" dirty="0"/>
          </a:p>
        </p:txBody>
      </p:sp>
      <p:sp>
        <p:nvSpPr>
          <p:cNvPr id="8" name="Shape 6"/>
          <p:cNvSpPr/>
          <p:nvPr/>
        </p:nvSpPr>
        <p:spPr>
          <a:xfrm>
            <a:off x="658368" y="4846320"/>
            <a:ext cx="1828800" cy="0"/>
          </a:xfrm>
          <a:prstGeom prst="line">
            <a:avLst/>
          </a:prstGeom>
          <a:noFill/>
          <a:ln w="25400">
            <a:solidFill>
              <a:srgbClr val="C79A3D"/>
            </a:solidFill>
            <a:prstDash val="solid"/>
          </a:ln>
        </p:spPr>
      </p:sp>
      <p:sp>
        <p:nvSpPr>
          <p:cNvPr id="9" name="Text 7"/>
          <p:cNvSpPr/>
          <p:nvPr/>
        </p:nvSpPr>
        <p:spPr>
          <a:xfrm>
            <a:off x="640080" y="5074920"/>
            <a:ext cx="8229600" cy="1005840"/>
          </a:xfrm>
          <a:prstGeom prst="rect">
            <a:avLst/>
          </a:prstGeom>
          <a:noFill/>
        </p:spPr>
        <p:txBody>
          <a:bodyPr wrap="square" rtlCol="0" anchor="ctr"/>
          <a:lstStyle/>
          <a:p>
            <a:pPr marL="0" indent="0">
              <a:lnSpc>
                <a:spcPct val="135000"/>
              </a:lnSpc>
              <a:buNone/>
            </a:pPr>
            <a:r>
              <a:rPr lang="en-US" sz="1250" dirty="0">
                <a:solidFill>
                  <a:srgbClr val="CADCFC"/>
                </a:solidFill>
                <a:latin typeface="Calibri" panose="020F0502020204030204" pitchFamily="34" charset="0"/>
                <a:ea typeface="Calibri" panose="020F0502020204030204" pitchFamily="34" charset="-122"/>
                <a:cs typeface="Calibri" panose="020F0502020204030204" pitchFamily="34" charset="-120"/>
              </a:rPr>
              <a:t>Prepared for: Plant Operations Leadership &amp; Interview Panel
</a:t>
            </a:r>
            <a:r>
              <a:rPr lang="en-US" sz="1250" dirty="0">
                <a:solidFill>
                  <a:srgbClr val="CADCFC"/>
                </a:solidFill>
                <a:latin typeface="Calibri" panose="020F0502020204030204" pitchFamily="34" charset="0"/>
                <a:ea typeface="Calibri" panose="020F0502020204030204" pitchFamily="34" charset="-122"/>
                <a:cs typeface="Calibri" panose="020F0502020204030204" pitchFamily="34" charset="-120"/>
              </a:rPr>
              <a:t>Data Period: January 2018 - March 2026   |   3,000 Production Batch Records
</a:t>
            </a:r>
            <a:r>
              <a:rPr lang="en-US" sz="1250" dirty="0">
                <a:solidFill>
                  <a:srgbClr val="CADCFC"/>
                </a:solidFill>
                <a:latin typeface="Calibri" panose="020F0502020204030204" pitchFamily="34" charset="0"/>
                <a:ea typeface="Calibri" panose="020F0502020204030204" pitchFamily="34" charset="-122"/>
                <a:cs typeface="Calibri" panose="020F0502020204030204" pitchFamily="34" charset="-120"/>
              </a:rPr>
              <a:t>Presented by: Data Analyst, Business Intelligence Track</a:t>
            </a:r>
            <a:endParaRPr lang="en-US" sz="12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4114800" cy="6858000"/>
          </a:xfrm>
          <a:prstGeom prst="rect">
            <a:avLst/>
          </a:prstGeom>
          <a:solidFill>
            <a:srgbClr val="0B2545"/>
          </a:solidFill>
        </p:spPr>
      </p:sp>
      <p:sp>
        <p:nvSpPr>
          <p:cNvPr id="3" name="Text 1"/>
          <p:cNvSpPr/>
          <p:nvPr/>
        </p:nvSpPr>
        <p:spPr>
          <a:xfrm>
            <a:off x="502920" y="2377440"/>
            <a:ext cx="3291840" cy="1737360"/>
          </a:xfrm>
          <a:prstGeom prst="rect">
            <a:avLst/>
          </a:prstGeom>
          <a:noFill/>
        </p:spPr>
        <p:txBody>
          <a:bodyPr wrap="square" rtlCol="0" anchor="ctr"/>
          <a:lstStyle/>
          <a:p>
            <a:pPr marL="0" indent="0">
              <a:lnSpc>
                <a:spcPts val="3400"/>
              </a:lnSpc>
              <a:buNone/>
            </a:pPr>
            <a:r>
              <a:rPr lang="en-US" sz="3000" b="1" dirty="0">
                <a:solidFill>
                  <a:srgbClr val="FFFFFF"/>
                </a:solidFill>
                <a:latin typeface="Cambria" panose="02040503050406030204" pitchFamily="34" charset="0"/>
                <a:ea typeface="Cambria" panose="02040503050406030204" pitchFamily="34" charset="-122"/>
                <a:cs typeface="Cambria" panose="02040503050406030204" pitchFamily="34" charset="-120"/>
              </a:rPr>
              <a:t>What We'll</a:t>
            </a:r>
            <a:endParaRPr lang="en-US" sz="3000" dirty="0"/>
          </a:p>
          <a:p>
            <a:pPr marL="0" indent="0">
              <a:lnSpc>
                <a:spcPts val="3400"/>
              </a:lnSpc>
              <a:buNone/>
            </a:pPr>
            <a:r>
              <a:rPr lang="en-US" sz="3000" b="1" dirty="0">
                <a:solidFill>
                  <a:srgbClr val="FFFFFF"/>
                </a:solidFill>
                <a:latin typeface="Cambria" panose="02040503050406030204" pitchFamily="34" charset="0"/>
                <a:ea typeface="Cambria" panose="02040503050406030204" pitchFamily="34" charset="-122"/>
                <a:cs typeface="Cambria" panose="02040503050406030204" pitchFamily="34" charset="-120"/>
              </a:rPr>
              <a:t>Cover Today</a:t>
            </a:r>
            <a:endParaRPr lang="en-US" sz="3000" dirty="0"/>
          </a:p>
        </p:txBody>
      </p:sp>
      <p:sp>
        <p:nvSpPr>
          <p:cNvPr id="4" name="Shape 2"/>
          <p:cNvSpPr/>
          <p:nvPr/>
        </p:nvSpPr>
        <p:spPr>
          <a:xfrm>
            <a:off x="548640" y="2148840"/>
            <a:ext cx="1280160" cy="0"/>
          </a:xfrm>
          <a:prstGeom prst="line">
            <a:avLst/>
          </a:prstGeom>
          <a:noFill/>
          <a:ln w="31750">
            <a:solidFill>
              <a:srgbClr val="C79A3D"/>
            </a:solidFill>
            <a:prstDash val="solid"/>
          </a:ln>
        </p:spPr>
      </p:sp>
      <p:sp>
        <p:nvSpPr>
          <p:cNvPr id="5" name="Text 3"/>
          <p:cNvSpPr/>
          <p:nvPr/>
        </p:nvSpPr>
        <p:spPr>
          <a:xfrm>
            <a:off x="502920" y="4251960"/>
            <a:ext cx="3291840" cy="640080"/>
          </a:xfrm>
          <a:prstGeom prst="rect">
            <a:avLst/>
          </a:prstGeom>
          <a:noFill/>
        </p:spPr>
        <p:txBody>
          <a:bodyPr wrap="square" rtlCol="0" anchor="ctr"/>
          <a:lstStyle/>
          <a:p>
            <a:pPr marL="0" indent="0">
              <a:buNone/>
            </a:pPr>
            <a:r>
              <a:rPr lang="en-US" sz="1250" i="1" dirty="0">
                <a:solidFill>
                  <a:srgbClr val="CADCFC"/>
                </a:solidFill>
                <a:latin typeface="Calibri" panose="020F0502020204030204" pitchFamily="34" charset="0"/>
                <a:ea typeface="Calibri" panose="020F0502020204030204" pitchFamily="34" charset="-122"/>
                <a:cs typeface="Calibri" panose="020F0502020204030204" pitchFamily="34" charset="-120"/>
              </a:rPr>
              <a:t>From a production log to a plant-wide action plan.</a:t>
            </a:r>
            <a:endParaRPr lang="en-US" sz="1250" dirty="0"/>
          </a:p>
        </p:txBody>
      </p:sp>
      <p:sp>
        <p:nvSpPr>
          <p:cNvPr id="6" name="Text 4"/>
          <p:cNvSpPr/>
          <p:nvPr/>
        </p:nvSpPr>
        <p:spPr>
          <a:xfrm>
            <a:off x="4617720" y="594360"/>
            <a:ext cx="731520" cy="822960"/>
          </a:xfrm>
          <a:prstGeom prst="rect">
            <a:avLst/>
          </a:prstGeom>
          <a:noFill/>
        </p:spPr>
        <p:txBody>
          <a:bodyPr wrap="square" rtlCol="0" anchor="ctr"/>
          <a:lstStyle/>
          <a:p>
            <a:pPr marL="0" indent="0">
              <a:buNone/>
            </a:pPr>
            <a:r>
              <a:rPr lang="en-US" sz="2600" b="1" dirty="0">
                <a:solidFill>
                  <a:srgbClr val="9C7A2B"/>
                </a:solidFill>
                <a:latin typeface="Cambria" panose="02040503050406030204" pitchFamily="34" charset="0"/>
                <a:ea typeface="Cambria" panose="02040503050406030204" pitchFamily="34" charset="-122"/>
                <a:cs typeface="Cambria" panose="02040503050406030204" pitchFamily="34" charset="-120"/>
              </a:rPr>
              <a:t>01</a:t>
            </a:r>
            <a:endParaRPr lang="en-US" sz="2600" dirty="0"/>
          </a:p>
        </p:txBody>
      </p:sp>
      <p:sp>
        <p:nvSpPr>
          <p:cNvPr id="7" name="Text 5"/>
          <p:cNvSpPr/>
          <p:nvPr/>
        </p:nvSpPr>
        <p:spPr>
          <a:xfrm>
            <a:off x="5349240" y="594360"/>
            <a:ext cx="6126480" cy="384048"/>
          </a:xfrm>
          <a:prstGeom prst="rect">
            <a:avLst/>
          </a:prstGeom>
          <a:noFill/>
        </p:spPr>
        <p:txBody>
          <a:bodyPr wrap="square" rtlCol="0" anchor="ctr"/>
          <a:lstStyle/>
          <a:p>
            <a:pPr marL="0" indent="0">
              <a:buNone/>
            </a:pPr>
            <a:r>
              <a:rPr lang="en-US" sz="1600" b="1" dirty="0">
                <a:solidFill>
                  <a:srgbClr val="0B2545"/>
                </a:solidFill>
                <a:latin typeface="Calibri" panose="020F0502020204030204" pitchFamily="34" charset="0"/>
                <a:ea typeface="Calibri" panose="020F0502020204030204" pitchFamily="34" charset="-122"/>
                <a:cs typeface="Calibri" panose="020F0502020204030204" pitchFamily="34" charset="-120"/>
              </a:rPr>
              <a:t>The Business Problem</a:t>
            </a:r>
            <a:endParaRPr lang="en-US" sz="1600" dirty="0"/>
          </a:p>
        </p:txBody>
      </p:sp>
      <p:sp>
        <p:nvSpPr>
          <p:cNvPr id="8" name="Text 6"/>
          <p:cNvSpPr/>
          <p:nvPr/>
        </p:nvSpPr>
        <p:spPr>
          <a:xfrm>
            <a:off x="5349240" y="978408"/>
            <a:ext cx="6126480" cy="384048"/>
          </a:xfrm>
          <a:prstGeom prst="rect">
            <a:avLst/>
          </a:prstGeom>
          <a:noFill/>
        </p:spPr>
        <p:txBody>
          <a:bodyPr wrap="square" rtlCol="0" anchor="ctr"/>
          <a:lstStyle/>
          <a:p>
            <a:pPr marL="0" indent="0">
              <a:buNone/>
            </a:pPr>
            <a:r>
              <a:rPr lang="en-US" sz="1150" dirty="0">
                <a:solidFill>
                  <a:srgbClr val="44536B"/>
                </a:solidFill>
                <a:latin typeface="Calibri" panose="020F0502020204030204" pitchFamily="34" charset="0"/>
                <a:ea typeface="Calibri" panose="020F0502020204030204" pitchFamily="34" charset="-122"/>
                <a:cs typeface="Calibri" panose="020F0502020204030204" pitchFamily="34" charset="-120"/>
              </a:rPr>
              <a:t>Why the plant floor manager commissioned this study</a:t>
            </a:r>
            <a:endParaRPr lang="en-US" sz="1150" dirty="0"/>
          </a:p>
        </p:txBody>
      </p:sp>
      <p:sp>
        <p:nvSpPr>
          <p:cNvPr id="9" name="Shape 7"/>
          <p:cNvSpPr/>
          <p:nvPr/>
        </p:nvSpPr>
        <p:spPr>
          <a:xfrm>
            <a:off x="4617720" y="1673352"/>
            <a:ext cx="6858000" cy="0"/>
          </a:xfrm>
          <a:prstGeom prst="line">
            <a:avLst/>
          </a:prstGeom>
          <a:noFill/>
          <a:ln w="12700">
            <a:solidFill>
              <a:srgbClr val="CADCFC"/>
            </a:solidFill>
            <a:prstDash val="solid"/>
          </a:ln>
        </p:spPr>
      </p:sp>
      <p:sp>
        <p:nvSpPr>
          <p:cNvPr id="10" name="Text 8"/>
          <p:cNvSpPr/>
          <p:nvPr/>
        </p:nvSpPr>
        <p:spPr>
          <a:xfrm>
            <a:off x="4617720" y="1783080"/>
            <a:ext cx="731520" cy="822960"/>
          </a:xfrm>
          <a:prstGeom prst="rect">
            <a:avLst/>
          </a:prstGeom>
          <a:noFill/>
        </p:spPr>
        <p:txBody>
          <a:bodyPr wrap="square" rtlCol="0" anchor="ctr"/>
          <a:lstStyle/>
          <a:p>
            <a:pPr marL="0" indent="0">
              <a:buNone/>
            </a:pPr>
            <a:r>
              <a:rPr lang="en-US" sz="2600" b="1" dirty="0">
                <a:solidFill>
                  <a:srgbClr val="9C7A2B"/>
                </a:solidFill>
                <a:latin typeface="Cambria" panose="02040503050406030204" pitchFamily="34" charset="0"/>
                <a:ea typeface="Cambria" panose="02040503050406030204" pitchFamily="34" charset="-122"/>
                <a:cs typeface="Cambria" panose="02040503050406030204" pitchFamily="34" charset="-120"/>
              </a:rPr>
              <a:t>02</a:t>
            </a:r>
            <a:endParaRPr lang="en-US" sz="2600" dirty="0"/>
          </a:p>
        </p:txBody>
      </p:sp>
      <p:sp>
        <p:nvSpPr>
          <p:cNvPr id="11" name="Text 9"/>
          <p:cNvSpPr/>
          <p:nvPr/>
        </p:nvSpPr>
        <p:spPr>
          <a:xfrm>
            <a:off x="5349240" y="1783080"/>
            <a:ext cx="6126480" cy="384048"/>
          </a:xfrm>
          <a:prstGeom prst="rect">
            <a:avLst/>
          </a:prstGeom>
          <a:noFill/>
        </p:spPr>
        <p:txBody>
          <a:bodyPr wrap="square" rtlCol="0" anchor="ctr"/>
          <a:lstStyle/>
          <a:p>
            <a:pPr marL="0" indent="0">
              <a:buNone/>
            </a:pPr>
            <a:r>
              <a:rPr lang="en-US" sz="1600" b="1" dirty="0">
                <a:solidFill>
                  <a:srgbClr val="0B2545"/>
                </a:solidFill>
                <a:latin typeface="Calibri" panose="020F0502020204030204" pitchFamily="34" charset="0"/>
                <a:ea typeface="Calibri" panose="020F0502020204030204" pitchFamily="34" charset="-122"/>
                <a:cs typeface="Calibri" panose="020F0502020204030204" pitchFamily="34" charset="-120"/>
              </a:rPr>
              <a:t>Data &amp; Method</a:t>
            </a:r>
            <a:endParaRPr lang="en-US" sz="1600" dirty="0"/>
          </a:p>
        </p:txBody>
      </p:sp>
      <p:sp>
        <p:nvSpPr>
          <p:cNvPr id="12" name="Text 10"/>
          <p:cNvSpPr/>
          <p:nvPr/>
        </p:nvSpPr>
        <p:spPr>
          <a:xfrm>
            <a:off x="5349240" y="2167128"/>
            <a:ext cx="6126480" cy="384048"/>
          </a:xfrm>
          <a:prstGeom prst="rect">
            <a:avLst/>
          </a:prstGeom>
          <a:noFill/>
        </p:spPr>
        <p:txBody>
          <a:bodyPr wrap="square" rtlCol="0" anchor="ctr"/>
          <a:lstStyle/>
          <a:p>
            <a:pPr marL="0" indent="0">
              <a:buNone/>
            </a:pPr>
            <a:r>
              <a:rPr lang="en-US" sz="1150" dirty="0">
                <a:solidFill>
                  <a:srgbClr val="44536B"/>
                </a:solidFill>
                <a:latin typeface="Calibri" panose="020F0502020204030204" pitchFamily="34" charset="0"/>
                <a:ea typeface="Calibri" panose="020F0502020204030204" pitchFamily="34" charset="-122"/>
                <a:cs typeface="Calibri" panose="020F0502020204030204" pitchFamily="34" charset="-120"/>
              </a:rPr>
              <a:t>3,000 records, 20 machines, 8+ years - how we approached it</a:t>
            </a:r>
            <a:endParaRPr lang="en-US" sz="1150" dirty="0"/>
          </a:p>
        </p:txBody>
      </p:sp>
      <p:sp>
        <p:nvSpPr>
          <p:cNvPr id="13" name="Shape 11"/>
          <p:cNvSpPr/>
          <p:nvPr/>
        </p:nvSpPr>
        <p:spPr>
          <a:xfrm>
            <a:off x="4617720" y="2862072"/>
            <a:ext cx="6858000" cy="0"/>
          </a:xfrm>
          <a:prstGeom prst="line">
            <a:avLst/>
          </a:prstGeom>
          <a:noFill/>
          <a:ln w="12700">
            <a:solidFill>
              <a:srgbClr val="CADCFC"/>
            </a:solidFill>
            <a:prstDash val="solid"/>
          </a:ln>
        </p:spPr>
      </p:sp>
      <p:sp>
        <p:nvSpPr>
          <p:cNvPr id="14" name="Text 12"/>
          <p:cNvSpPr/>
          <p:nvPr/>
        </p:nvSpPr>
        <p:spPr>
          <a:xfrm>
            <a:off x="4617720" y="2971800"/>
            <a:ext cx="731520" cy="822960"/>
          </a:xfrm>
          <a:prstGeom prst="rect">
            <a:avLst/>
          </a:prstGeom>
          <a:noFill/>
        </p:spPr>
        <p:txBody>
          <a:bodyPr wrap="square" rtlCol="0" anchor="ctr"/>
          <a:lstStyle/>
          <a:p>
            <a:pPr marL="0" indent="0">
              <a:buNone/>
            </a:pPr>
            <a:r>
              <a:rPr lang="en-US" sz="2600" b="1" dirty="0">
                <a:solidFill>
                  <a:srgbClr val="9C7A2B"/>
                </a:solidFill>
                <a:latin typeface="Cambria" panose="02040503050406030204" pitchFamily="34" charset="0"/>
                <a:ea typeface="Cambria" panose="02040503050406030204" pitchFamily="34" charset="-122"/>
                <a:cs typeface="Cambria" panose="02040503050406030204" pitchFamily="34" charset="-120"/>
              </a:rPr>
              <a:t>03</a:t>
            </a:r>
            <a:endParaRPr lang="en-US" sz="2600" dirty="0"/>
          </a:p>
        </p:txBody>
      </p:sp>
      <p:sp>
        <p:nvSpPr>
          <p:cNvPr id="15" name="Text 13"/>
          <p:cNvSpPr/>
          <p:nvPr/>
        </p:nvSpPr>
        <p:spPr>
          <a:xfrm>
            <a:off x="5349240" y="2971800"/>
            <a:ext cx="6126480" cy="384048"/>
          </a:xfrm>
          <a:prstGeom prst="rect">
            <a:avLst/>
          </a:prstGeom>
          <a:noFill/>
        </p:spPr>
        <p:txBody>
          <a:bodyPr wrap="square" rtlCol="0" anchor="ctr"/>
          <a:lstStyle/>
          <a:p>
            <a:pPr marL="0" indent="0">
              <a:buNone/>
            </a:pPr>
            <a:r>
              <a:rPr lang="en-US" sz="1600" b="1" dirty="0">
                <a:solidFill>
                  <a:srgbClr val="0B2545"/>
                </a:solidFill>
                <a:latin typeface="Calibri" panose="020F0502020204030204" pitchFamily="34" charset="0"/>
                <a:ea typeface="Calibri" panose="020F0502020204030204" pitchFamily="34" charset="-122"/>
                <a:cs typeface="Calibri" panose="020F0502020204030204" pitchFamily="34" charset="-120"/>
              </a:rPr>
              <a:t>Five Investigations</a:t>
            </a:r>
            <a:endParaRPr lang="en-US" sz="1600" dirty="0"/>
          </a:p>
        </p:txBody>
      </p:sp>
      <p:sp>
        <p:nvSpPr>
          <p:cNvPr id="16" name="Text 14"/>
          <p:cNvSpPr/>
          <p:nvPr/>
        </p:nvSpPr>
        <p:spPr>
          <a:xfrm>
            <a:off x="5349240" y="3355848"/>
            <a:ext cx="6126480" cy="384048"/>
          </a:xfrm>
          <a:prstGeom prst="rect">
            <a:avLst/>
          </a:prstGeom>
          <a:noFill/>
        </p:spPr>
        <p:txBody>
          <a:bodyPr wrap="square" rtlCol="0" anchor="ctr"/>
          <a:lstStyle/>
          <a:p>
            <a:pPr marL="0" indent="0">
              <a:buNone/>
            </a:pPr>
            <a:r>
              <a:rPr lang="en-US" sz="1150" dirty="0">
                <a:solidFill>
                  <a:srgbClr val="44536B"/>
                </a:solidFill>
                <a:latin typeface="Calibri" panose="020F0502020204030204" pitchFamily="34" charset="0"/>
                <a:ea typeface="Calibri" panose="020F0502020204030204" pitchFamily="34" charset="-122"/>
                <a:cs typeface="Calibri" panose="020F0502020204030204" pitchFamily="34" charset="-120"/>
              </a:rPr>
              <a:t>Assets, quality, shifts, environment, cost - tested against the data</a:t>
            </a:r>
            <a:endParaRPr lang="en-US" sz="1150" dirty="0"/>
          </a:p>
        </p:txBody>
      </p:sp>
      <p:sp>
        <p:nvSpPr>
          <p:cNvPr id="17" name="Shape 15"/>
          <p:cNvSpPr/>
          <p:nvPr/>
        </p:nvSpPr>
        <p:spPr>
          <a:xfrm>
            <a:off x="4617720" y="4050792"/>
            <a:ext cx="6858000" cy="0"/>
          </a:xfrm>
          <a:prstGeom prst="line">
            <a:avLst/>
          </a:prstGeom>
          <a:noFill/>
          <a:ln w="12700">
            <a:solidFill>
              <a:srgbClr val="CADCFC"/>
            </a:solidFill>
            <a:prstDash val="solid"/>
          </a:ln>
        </p:spPr>
      </p:sp>
      <p:sp>
        <p:nvSpPr>
          <p:cNvPr id="18" name="Text 16"/>
          <p:cNvSpPr/>
          <p:nvPr/>
        </p:nvSpPr>
        <p:spPr>
          <a:xfrm>
            <a:off x="4617720" y="4160520"/>
            <a:ext cx="731520" cy="822960"/>
          </a:xfrm>
          <a:prstGeom prst="rect">
            <a:avLst/>
          </a:prstGeom>
          <a:noFill/>
        </p:spPr>
        <p:txBody>
          <a:bodyPr wrap="square" rtlCol="0" anchor="ctr"/>
          <a:lstStyle/>
          <a:p>
            <a:pPr marL="0" indent="0">
              <a:buNone/>
            </a:pPr>
            <a:r>
              <a:rPr lang="en-US" sz="2600" b="1" dirty="0">
                <a:solidFill>
                  <a:srgbClr val="9C7A2B"/>
                </a:solidFill>
                <a:latin typeface="Cambria" panose="02040503050406030204" pitchFamily="34" charset="0"/>
                <a:ea typeface="Cambria" panose="02040503050406030204" pitchFamily="34" charset="-122"/>
                <a:cs typeface="Cambria" panose="02040503050406030204" pitchFamily="34" charset="-120"/>
              </a:rPr>
              <a:t>04</a:t>
            </a:r>
            <a:endParaRPr lang="en-US" sz="2600" dirty="0"/>
          </a:p>
        </p:txBody>
      </p:sp>
      <p:sp>
        <p:nvSpPr>
          <p:cNvPr id="19" name="Text 17"/>
          <p:cNvSpPr/>
          <p:nvPr/>
        </p:nvSpPr>
        <p:spPr>
          <a:xfrm>
            <a:off x="5349240" y="4160520"/>
            <a:ext cx="6126480" cy="384048"/>
          </a:xfrm>
          <a:prstGeom prst="rect">
            <a:avLst/>
          </a:prstGeom>
          <a:noFill/>
        </p:spPr>
        <p:txBody>
          <a:bodyPr wrap="square" rtlCol="0" anchor="ctr"/>
          <a:lstStyle/>
          <a:p>
            <a:pPr marL="0" indent="0">
              <a:buNone/>
            </a:pPr>
            <a:r>
              <a:rPr lang="en-US" sz="1600" b="1" dirty="0">
                <a:solidFill>
                  <a:srgbClr val="0B2545"/>
                </a:solidFill>
                <a:latin typeface="Calibri" panose="020F0502020204030204" pitchFamily="34" charset="0"/>
                <a:ea typeface="Calibri" panose="020F0502020204030204" pitchFamily="34" charset="-122"/>
                <a:cs typeface="Calibri" panose="020F0502020204030204" pitchFamily="34" charset="-120"/>
              </a:rPr>
              <a:t>Beyond the Brief</a:t>
            </a:r>
            <a:endParaRPr lang="en-US" sz="1600" dirty="0"/>
          </a:p>
        </p:txBody>
      </p:sp>
      <p:sp>
        <p:nvSpPr>
          <p:cNvPr id="20" name="Text 18"/>
          <p:cNvSpPr/>
          <p:nvPr/>
        </p:nvSpPr>
        <p:spPr>
          <a:xfrm>
            <a:off x="5349240" y="4544568"/>
            <a:ext cx="6126480" cy="384048"/>
          </a:xfrm>
          <a:prstGeom prst="rect">
            <a:avLst/>
          </a:prstGeom>
          <a:noFill/>
        </p:spPr>
        <p:txBody>
          <a:bodyPr wrap="square" rtlCol="0" anchor="ctr"/>
          <a:lstStyle/>
          <a:p>
            <a:pPr marL="0" indent="0">
              <a:buNone/>
            </a:pPr>
            <a:r>
              <a:rPr lang="en-US" sz="1150" dirty="0">
                <a:solidFill>
                  <a:srgbClr val="44536B"/>
                </a:solidFill>
                <a:latin typeface="Calibri" panose="020F0502020204030204" pitchFamily="34" charset="0"/>
                <a:ea typeface="Calibri" panose="020F0502020204030204" pitchFamily="34" charset="-122"/>
                <a:cs typeface="Calibri" panose="020F0502020204030204" pitchFamily="34" charset="-120"/>
              </a:rPr>
              <a:t>Translating findings into rupees, benchmarks &amp; risk</a:t>
            </a:r>
            <a:endParaRPr lang="en-US" sz="1150" dirty="0"/>
          </a:p>
        </p:txBody>
      </p:sp>
      <p:sp>
        <p:nvSpPr>
          <p:cNvPr id="21" name="Shape 19"/>
          <p:cNvSpPr/>
          <p:nvPr/>
        </p:nvSpPr>
        <p:spPr>
          <a:xfrm>
            <a:off x="4617720" y="5239512"/>
            <a:ext cx="6858000" cy="0"/>
          </a:xfrm>
          <a:prstGeom prst="line">
            <a:avLst/>
          </a:prstGeom>
          <a:noFill/>
          <a:ln w="12700">
            <a:solidFill>
              <a:srgbClr val="CADCFC"/>
            </a:solidFill>
            <a:prstDash val="solid"/>
          </a:ln>
        </p:spPr>
      </p:sp>
      <p:sp>
        <p:nvSpPr>
          <p:cNvPr id="22" name="Text 20"/>
          <p:cNvSpPr/>
          <p:nvPr/>
        </p:nvSpPr>
        <p:spPr>
          <a:xfrm>
            <a:off x="4617720" y="5349240"/>
            <a:ext cx="731520" cy="822960"/>
          </a:xfrm>
          <a:prstGeom prst="rect">
            <a:avLst/>
          </a:prstGeom>
          <a:noFill/>
        </p:spPr>
        <p:txBody>
          <a:bodyPr wrap="square" rtlCol="0" anchor="ctr"/>
          <a:lstStyle/>
          <a:p>
            <a:pPr marL="0" indent="0">
              <a:buNone/>
            </a:pPr>
            <a:r>
              <a:rPr lang="en-US" sz="2600" b="1" dirty="0">
                <a:solidFill>
                  <a:srgbClr val="9C7A2B"/>
                </a:solidFill>
                <a:latin typeface="Cambria" panose="02040503050406030204" pitchFamily="34" charset="0"/>
                <a:ea typeface="Cambria" panose="02040503050406030204" pitchFamily="34" charset="-122"/>
                <a:cs typeface="Cambria" panose="02040503050406030204" pitchFamily="34" charset="-120"/>
              </a:rPr>
              <a:t>05</a:t>
            </a:r>
            <a:endParaRPr lang="en-US" sz="2600" dirty="0"/>
          </a:p>
        </p:txBody>
      </p:sp>
      <p:sp>
        <p:nvSpPr>
          <p:cNvPr id="23" name="Text 21"/>
          <p:cNvSpPr/>
          <p:nvPr/>
        </p:nvSpPr>
        <p:spPr>
          <a:xfrm>
            <a:off x="5349240" y="5349240"/>
            <a:ext cx="6126480" cy="384048"/>
          </a:xfrm>
          <a:prstGeom prst="rect">
            <a:avLst/>
          </a:prstGeom>
          <a:noFill/>
        </p:spPr>
        <p:txBody>
          <a:bodyPr wrap="square" rtlCol="0" anchor="ctr"/>
          <a:lstStyle/>
          <a:p>
            <a:pPr marL="0" indent="0">
              <a:buNone/>
            </a:pPr>
            <a:r>
              <a:rPr lang="en-US" sz="1600" b="1" dirty="0">
                <a:solidFill>
                  <a:srgbClr val="0B2545"/>
                </a:solidFill>
                <a:latin typeface="Calibri" panose="020F0502020204030204" pitchFamily="34" charset="0"/>
                <a:ea typeface="Calibri" panose="020F0502020204030204" pitchFamily="34" charset="-122"/>
                <a:cs typeface="Calibri" panose="020F0502020204030204" pitchFamily="34" charset="-120"/>
              </a:rPr>
              <a:t>Recommendations</a:t>
            </a:r>
            <a:endParaRPr lang="en-US" sz="1600" dirty="0"/>
          </a:p>
        </p:txBody>
      </p:sp>
      <p:sp>
        <p:nvSpPr>
          <p:cNvPr id="24" name="Text 22"/>
          <p:cNvSpPr/>
          <p:nvPr/>
        </p:nvSpPr>
        <p:spPr>
          <a:xfrm>
            <a:off x="5349240" y="5733288"/>
            <a:ext cx="6126480" cy="384048"/>
          </a:xfrm>
          <a:prstGeom prst="rect">
            <a:avLst/>
          </a:prstGeom>
          <a:noFill/>
        </p:spPr>
        <p:txBody>
          <a:bodyPr wrap="square" rtlCol="0" anchor="ctr"/>
          <a:lstStyle/>
          <a:p>
            <a:pPr marL="0" indent="0">
              <a:buNone/>
            </a:pPr>
            <a:r>
              <a:rPr lang="en-US" sz="1150" dirty="0">
                <a:solidFill>
                  <a:srgbClr val="44536B"/>
                </a:solidFill>
                <a:latin typeface="Calibri" panose="020F0502020204030204" pitchFamily="34" charset="0"/>
                <a:ea typeface="Calibri" panose="020F0502020204030204" pitchFamily="34" charset="-122"/>
                <a:cs typeface="Calibri" panose="020F0502020204030204" pitchFamily="34" charset="-120"/>
              </a:rPr>
              <a:t>A phased roadmap the plant can act on immediately</a:t>
            </a:r>
            <a:endParaRPr lang="en-US" sz="1150" dirty="0"/>
          </a:p>
        </p:txBody>
      </p:sp>
      <p:sp>
        <p:nvSpPr>
          <p:cNvPr id="25" name="Shape 23"/>
          <p:cNvSpPr/>
          <p:nvPr/>
        </p:nvSpPr>
        <p:spPr>
          <a:xfrm>
            <a:off x="4617720" y="6428232"/>
            <a:ext cx="6858000" cy="0"/>
          </a:xfrm>
          <a:prstGeom prst="line">
            <a:avLst/>
          </a:prstGeom>
          <a:noFill/>
          <a:ln w="12700">
            <a:solidFill>
              <a:srgbClr val="CADCFC"/>
            </a:solidFill>
            <a:prstDash val="solid"/>
          </a:ln>
        </p:spPr>
      </p:sp>
      <p:sp>
        <p:nvSpPr>
          <p:cNvPr id="26" name="Text 24"/>
          <p:cNvSpPr/>
          <p:nvPr/>
        </p:nvSpPr>
        <p:spPr>
          <a:xfrm>
            <a:off x="11551615" y="6473952"/>
            <a:ext cx="457200" cy="274320"/>
          </a:xfrm>
          <a:prstGeom prst="rect">
            <a:avLst/>
          </a:prstGeom>
          <a:noFill/>
        </p:spPr>
        <p:txBody>
          <a:bodyPr wrap="square" rtlCol="0" anchor="ctr"/>
          <a:lstStyle/>
          <a:p>
            <a:pPr marL="0" indent="0" algn="r">
              <a:buNone/>
            </a:pPr>
            <a:r>
              <a:rPr lang="en-US" sz="900" dirty="0">
                <a:solidFill>
                  <a:srgbClr val="8C9AB3"/>
                </a:solidFill>
                <a:latin typeface="Calibri" panose="020F0502020204030204" pitchFamily="34" charset="0"/>
                <a:ea typeface="Calibri" panose="020F0502020204030204" pitchFamily="34" charset="-122"/>
                <a:cs typeface="Calibri" panose="020F0502020204030204" pitchFamily="34" charset="-120"/>
              </a:rPr>
              <a:t>02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274320"/>
          </a:xfrm>
          <a:prstGeom prst="rect">
            <a:avLst/>
          </a:prstGeom>
          <a:noFill/>
        </p:spPr>
        <p:txBody>
          <a:bodyPr wrap="square" rtlCol="0" anchor="ctr"/>
          <a:lstStyle/>
          <a:p>
            <a:pPr marL="0" indent="0">
              <a:buNone/>
            </a:pPr>
            <a:r>
              <a:rPr lang="en-US" sz="1200" b="1" kern="0" spc="200" dirty="0">
                <a:solidFill>
                  <a:srgbClr val="9C7A2B"/>
                </a:solidFill>
                <a:latin typeface="Calibri" panose="020F0502020204030204" pitchFamily="34" charset="0"/>
                <a:ea typeface="Calibri" panose="020F0502020204030204" pitchFamily="34" charset="-122"/>
                <a:cs typeface="Calibri" panose="020F0502020204030204" pitchFamily="34" charset="-120"/>
              </a:rPr>
              <a:t>THE BUSINESS PROBLEM</a:t>
            </a:r>
            <a:endParaRPr lang="en-US" sz="1200" dirty="0"/>
          </a:p>
        </p:txBody>
      </p:sp>
      <p:sp>
        <p:nvSpPr>
          <p:cNvPr id="3" name="Text 1"/>
          <p:cNvSpPr/>
          <p:nvPr/>
        </p:nvSpPr>
        <p:spPr>
          <a:xfrm>
            <a:off x="548640" y="658368"/>
            <a:ext cx="10789920" cy="640080"/>
          </a:xfrm>
          <a:prstGeom prst="rect">
            <a:avLst/>
          </a:prstGeom>
          <a:noFill/>
        </p:spPr>
        <p:txBody>
          <a:bodyPr wrap="square" rtlCol="0" anchor="ctr"/>
          <a:lstStyle/>
          <a:p>
            <a:pPr marL="0" indent="0" algn="l">
              <a:buNone/>
            </a:pPr>
            <a:r>
              <a:rPr lang="en-US" sz="3000" b="1" dirty="0">
                <a:solidFill>
                  <a:srgbClr val="0B2545"/>
                </a:solidFill>
                <a:latin typeface="Cambria" panose="02040503050406030204" pitchFamily="34" charset="0"/>
                <a:ea typeface="Cambria" panose="02040503050406030204" pitchFamily="34" charset="-122"/>
                <a:cs typeface="Cambria" panose="02040503050406030204" pitchFamily="34" charset="-120"/>
              </a:rPr>
              <a:t>Tight Margins, Despite Hitting Production Targets</a:t>
            </a:r>
            <a:endParaRPr lang="en-US" sz="3000" dirty="0"/>
          </a:p>
        </p:txBody>
      </p:sp>
      <p:sp>
        <p:nvSpPr>
          <p:cNvPr id="4" name="Text 2"/>
          <p:cNvSpPr/>
          <p:nvPr/>
        </p:nvSpPr>
        <p:spPr>
          <a:xfrm>
            <a:off x="548640" y="1417320"/>
            <a:ext cx="6492240" cy="1600200"/>
          </a:xfrm>
          <a:prstGeom prst="rect">
            <a:avLst/>
          </a:prstGeom>
          <a:noFill/>
        </p:spPr>
        <p:txBody>
          <a:bodyPr wrap="square" rtlCol="0" anchor="ctr"/>
          <a:lstStyle/>
          <a:p>
            <a:pPr marL="0" indent="0">
              <a:lnSpc>
                <a:spcPct val="130000"/>
              </a:lnSpc>
              <a:buNone/>
            </a:pPr>
            <a:r>
              <a:rPr lang="en-US" sz="1350" dirty="0">
                <a:solidFill>
                  <a:srgbClr val="44536B"/>
                </a:solidFill>
                <a:latin typeface="Calibri" panose="020F0502020204030204" pitchFamily="34" charset="0"/>
                <a:ea typeface="Calibri" panose="020F0502020204030204" pitchFamily="34" charset="-122"/>
                <a:cs typeface="Calibri" panose="020F0502020204030204" pitchFamily="34" charset="-120"/>
              </a:rPr>
              <a:t>The Plant Operations &amp; Floor Manager commissioned this study with a specific worry: daily output targets are being met, but unpredictable asset failures, excessive rework time, and material waste spikes are quietly eating into margins. The brief was not “work harder” - it was “show me, with evidence, where the money is actually leaking.”</a:t>
            </a:r>
            <a:endParaRPr lang="en-US" sz="1350" dirty="0"/>
          </a:p>
        </p:txBody>
      </p:sp>
      <p:sp>
        <p:nvSpPr>
          <p:cNvPr id="5" name="Shape 3"/>
          <p:cNvSpPr/>
          <p:nvPr/>
        </p:nvSpPr>
        <p:spPr>
          <a:xfrm>
            <a:off x="548640" y="3282696"/>
            <a:ext cx="146304" cy="146304"/>
          </a:xfrm>
          <a:prstGeom prst="ellipse">
            <a:avLst/>
          </a:prstGeom>
          <a:solidFill>
            <a:srgbClr val="C79A3D"/>
          </a:solidFill>
        </p:spPr>
      </p:sp>
      <p:sp>
        <p:nvSpPr>
          <p:cNvPr id="6" name="Text 4"/>
          <p:cNvSpPr/>
          <p:nvPr/>
        </p:nvSpPr>
        <p:spPr>
          <a:xfrm>
            <a:off x="868680" y="3145536"/>
            <a:ext cx="6309360" cy="384048"/>
          </a:xfrm>
          <a:prstGeom prst="rect">
            <a:avLst/>
          </a:prstGeom>
          <a:noFill/>
        </p:spPr>
        <p:txBody>
          <a:bodyPr wrap="square" rtlCol="0" anchor="ctr"/>
          <a:lstStyle/>
          <a:p>
            <a:pPr marL="0" indent="0">
              <a:buNone/>
            </a:pPr>
            <a:r>
              <a:rPr lang="en-US" sz="1250" b="1" dirty="0">
                <a:solidFill>
                  <a:srgbClr val="0B2545"/>
                </a:solidFill>
                <a:latin typeface="Calibri" panose="020F0502020204030204" pitchFamily="34" charset="0"/>
                <a:ea typeface="Calibri" panose="020F0502020204030204" pitchFamily="34" charset="-122"/>
                <a:cs typeface="Calibri" panose="020F0502020204030204" pitchFamily="34" charset="-120"/>
              </a:rPr>
              <a:t>Which shifts or machines really suffer from lower efficiency?</a:t>
            </a:r>
            <a:endParaRPr lang="en-US" sz="1250" dirty="0"/>
          </a:p>
        </p:txBody>
      </p:sp>
      <p:sp>
        <p:nvSpPr>
          <p:cNvPr id="7" name="Shape 5"/>
          <p:cNvSpPr/>
          <p:nvPr/>
        </p:nvSpPr>
        <p:spPr>
          <a:xfrm>
            <a:off x="548640" y="3758184"/>
            <a:ext cx="146304" cy="146304"/>
          </a:xfrm>
          <a:prstGeom prst="ellipse">
            <a:avLst/>
          </a:prstGeom>
          <a:solidFill>
            <a:srgbClr val="C79A3D"/>
          </a:solidFill>
        </p:spPr>
      </p:sp>
      <p:sp>
        <p:nvSpPr>
          <p:cNvPr id="8" name="Text 6"/>
          <p:cNvSpPr/>
          <p:nvPr/>
        </p:nvSpPr>
        <p:spPr>
          <a:xfrm>
            <a:off x="868680" y="3621024"/>
            <a:ext cx="6309360" cy="384048"/>
          </a:xfrm>
          <a:prstGeom prst="rect">
            <a:avLst/>
          </a:prstGeom>
          <a:noFill/>
        </p:spPr>
        <p:txBody>
          <a:bodyPr wrap="square" rtlCol="0" anchor="ctr"/>
          <a:lstStyle/>
          <a:p>
            <a:pPr marL="0" indent="0">
              <a:buNone/>
            </a:pPr>
            <a:r>
              <a:rPr lang="en-US" sz="1250" b="1" dirty="0">
                <a:solidFill>
                  <a:srgbClr val="0B2545"/>
                </a:solidFill>
                <a:latin typeface="Calibri" panose="020F0502020204030204" pitchFamily="34" charset="0"/>
                <a:ea typeface="Calibri" panose="020F0502020204030204" pitchFamily="34" charset="-122"/>
                <a:cs typeface="Calibri" panose="020F0502020204030204" pitchFamily="34" charset="-120"/>
              </a:rPr>
              <a:t>Are scrap and rework tied to a specific cause we can fix?</a:t>
            </a:r>
            <a:endParaRPr lang="en-US" sz="1250" dirty="0"/>
          </a:p>
        </p:txBody>
      </p:sp>
      <p:sp>
        <p:nvSpPr>
          <p:cNvPr id="9" name="Shape 7"/>
          <p:cNvSpPr/>
          <p:nvPr/>
        </p:nvSpPr>
        <p:spPr>
          <a:xfrm>
            <a:off x="548640" y="4233672"/>
            <a:ext cx="146304" cy="146304"/>
          </a:xfrm>
          <a:prstGeom prst="ellipse">
            <a:avLst/>
          </a:prstGeom>
          <a:solidFill>
            <a:srgbClr val="C79A3D"/>
          </a:solidFill>
        </p:spPr>
      </p:sp>
      <p:sp>
        <p:nvSpPr>
          <p:cNvPr id="10" name="Text 8"/>
          <p:cNvSpPr/>
          <p:nvPr/>
        </p:nvSpPr>
        <p:spPr>
          <a:xfrm>
            <a:off x="868680" y="4096512"/>
            <a:ext cx="6309360" cy="384048"/>
          </a:xfrm>
          <a:prstGeom prst="rect">
            <a:avLst/>
          </a:prstGeom>
          <a:noFill/>
        </p:spPr>
        <p:txBody>
          <a:bodyPr wrap="square" rtlCol="0" anchor="ctr"/>
          <a:lstStyle/>
          <a:p>
            <a:pPr marL="0" indent="0">
              <a:buNone/>
            </a:pPr>
            <a:r>
              <a:rPr lang="en-US" sz="1250" b="1" dirty="0">
                <a:solidFill>
                  <a:srgbClr val="0B2545"/>
                </a:solidFill>
                <a:latin typeface="Calibri" panose="020F0502020204030204" pitchFamily="34" charset="0"/>
                <a:ea typeface="Calibri" panose="020F0502020204030204" pitchFamily="34" charset="-122"/>
                <a:cs typeface="Calibri" panose="020F0502020204030204" pitchFamily="34" charset="-120"/>
              </a:rPr>
              <a:t>Is our shop-floor climate control worth the investment?</a:t>
            </a:r>
            <a:endParaRPr lang="en-US" sz="1250" dirty="0"/>
          </a:p>
        </p:txBody>
      </p:sp>
      <p:sp>
        <p:nvSpPr>
          <p:cNvPr id="11" name="Shape 9"/>
          <p:cNvSpPr/>
          <p:nvPr/>
        </p:nvSpPr>
        <p:spPr>
          <a:xfrm>
            <a:off x="548640" y="4709160"/>
            <a:ext cx="146304" cy="146304"/>
          </a:xfrm>
          <a:prstGeom prst="ellipse">
            <a:avLst/>
          </a:prstGeom>
          <a:solidFill>
            <a:srgbClr val="C79A3D"/>
          </a:solidFill>
        </p:spPr>
      </p:sp>
      <p:sp>
        <p:nvSpPr>
          <p:cNvPr id="12" name="Text 10"/>
          <p:cNvSpPr/>
          <p:nvPr/>
        </p:nvSpPr>
        <p:spPr>
          <a:xfrm>
            <a:off x="868680" y="4572000"/>
            <a:ext cx="6309360" cy="384048"/>
          </a:xfrm>
          <a:prstGeom prst="rect">
            <a:avLst/>
          </a:prstGeom>
          <a:noFill/>
        </p:spPr>
        <p:txBody>
          <a:bodyPr wrap="square" rtlCol="0" anchor="ctr"/>
          <a:lstStyle/>
          <a:p>
            <a:pPr marL="0" indent="0">
              <a:buNone/>
            </a:pPr>
            <a:r>
              <a:rPr lang="en-US" sz="1250" b="1" dirty="0">
                <a:solidFill>
                  <a:srgbClr val="0B2545"/>
                </a:solidFill>
                <a:latin typeface="Calibri" panose="020F0502020204030204" pitchFamily="34" charset="0"/>
                <a:ea typeface="Calibri" panose="020F0502020204030204" pitchFamily="34" charset="-122"/>
                <a:cs typeface="Calibri" panose="020F0502020204030204" pitchFamily="34" charset="-120"/>
              </a:rPr>
              <a:t>How do we get to an optimal, defensible cost-per-unit?</a:t>
            </a:r>
            <a:endParaRPr lang="en-US" sz="1250" dirty="0"/>
          </a:p>
        </p:txBody>
      </p:sp>
      <p:sp>
        <p:nvSpPr>
          <p:cNvPr id="13" name="Shape 11"/>
          <p:cNvSpPr/>
          <p:nvPr/>
        </p:nvSpPr>
        <p:spPr>
          <a:xfrm>
            <a:off x="7360920" y="1371600"/>
            <a:ext cx="4251960" cy="4892040"/>
          </a:xfrm>
          <a:prstGeom prst="rect">
            <a:avLst/>
          </a:prstGeom>
          <a:solidFill>
            <a:srgbClr val="0B2545"/>
          </a:solidFill>
        </p:spPr>
      </p:sp>
      <p:sp>
        <p:nvSpPr>
          <p:cNvPr id="14" name="Text 12"/>
          <p:cNvSpPr/>
          <p:nvPr/>
        </p:nvSpPr>
        <p:spPr>
          <a:xfrm>
            <a:off x="7589520" y="1417320"/>
            <a:ext cx="914400" cy="822960"/>
          </a:xfrm>
          <a:prstGeom prst="rect">
            <a:avLst/>
          </a:prstGeom>
          <a:noFill/>
        </p:spPr>
        <p:txBody>
          <a:bodyPr wrap="square" rtlCol="0" anchor="ctr"/>
          <a:lstStyle/>
          <a:p>
            <a:pPr marL="0" indent="0">
              <a:buNone/>
            </a:pPr>
            <a:r>
              <a:rPr lang="en-US" sz="6000" b="1" dirty="0">
                <a:solidFill>
                  <a:srgbClr val="C79A3D"/>
                </a:solidFill>
                <a:latin typeface="Cambria" panose="02040503050406030204" pitchFamily="34" charset="0"/>
                <a:ea typeface="Cambria" panose="02040503050406030204" pitchFamily="34" charset="-122"/>
                <a:cs typeface="Cambria" panose="02040503050406030204" pitchFamily="34" charset="-120"/>
              </a:rPr>
              <a:t>“</a:t>
            </a:r>
            <a:endParaRPr lang="en-US" sz="6000" dirty="0"/>
          </a:p>
        </p:txBody>
      </p:sp>
      <p:sp>
        <p:nvSpPr>
          <p:cNvPr id="15" name="Text 13"/>
          <p:cNvSpPr/>
          <p:nvPr/>
        </p:nvSpPr>
        <p:spPr>
          <a:xfrm>
            <a:off x="7818120" y="2148840"/>
            <a:ext cx="3566160" cy="2103120"/>
          </a:xfrm>
          <a:prstGeom prst="rect">
            <a:avLst/>
          </a:prstGeom>
          <a:noFill/>
        </p:spPr>
        <p:txBody>
          <a:bodyPr wrap="square" rtlCol="0" anchor="ctr"/>
          <a:lstStyle/>
          <a:p>
            <a:pPr marL="0" indent="0">
              <a:lnSpc>
                <a:spcPct val="135000"/>
              </a:lnSpc>
              <a:buNone/>
            </a:pPr>
            <a:r>
              <a:rPr lang="en-US" sz="1350" i="1" dirty="0">
                <a:solidFill>
                  <a:srgbClr val="FFFFFF"/>
                </a:solidFill>
                <a:latin typeface="Calibri" panose="020F0502020204030204" pitchFamily="34" charset="0"/>
                <a:ea typeface="Calibri" panose="020F0502020204030204" pitchFamily="34" charset="-122"/>
                <a:cs typeface="Calibri" panose="020F0502020204030204" pitchFamily="34" charset="-120"/>
              </a:rPr>
              <a:t>We are meeting our baseline daily production targets, but we are noticing unacceptably tight margins due to unpredictable asset failures, excessive rework times, and material waste spikes.</a:t>
            </a:r>
            <a:endParaRPr lang="en-US" sz="1350" dirty="0"/>
          </a:p>
        </p:txBody>
      </p:sp>
      <p:sp>
        <p:nvSpPr>
          <p:cNvPr id="16" name="Shape 14"/>
          <p:cNvSpPr/>
          <p:nvPr/>
        </p:nvSpPr>
        <p:spPr>
          <a:xfrm>
            <a:off x="7818120" y="4434840"/>
            <a:ext cx="1005840" cy="0"/>
          </a:xfrm>
          <a:prstGeom prst="line">
            <a:avLst/>
          </a:prstGeom>
          <a:noFill/>
          <a:ln w="25400">
            <a:solidFill>
              <a:srgbClr val="C79A3D"/>
            </a:solidFill>
            <a:prstDash val="solid"/>
          </a:ln>
        </p:spPr>
      </p:sp>
      <p:sp>
        <p:nvSpPr>
          <p:cNvPr id="17" name="Text 15"/>
          <p:cNvSpPr/>
          <p:nvPr/>
        </p:nvSpPr>
        <p:spPr>
          <a:xfrm>
            <a:off x="7818120" y="4572000"/>
            <a:ext cx="3566160" cy="320040"/>
          </a:xfrm>
          <a:prstGeom prst="rect">
            <a:avLst/>
          </a:prstGeom>
          <a:noFill/>
        </p:spPr>
        <p:txBody>
          <a:bodyPr wrap="square" rtlCol="0" anchor="ctr"/>
          <a:lstStyle/>
          <a:p>
            <a:pPr marL="0" indent="0">
              <a:buNone/>
            </a:pPr>
            <a:r>
              <a:rPr lang="en-US" sz="1150" b="1" dirty="0">
                <a:solidFill>
                  <a:srgbClr val="C79A3D"/>
                </a:solidFill>
                <a:latin typeface="Calibri" panose="020F0502020204030204" pitchFamily="34" charset="0"/>
                <a:ea typeface="Calibri" panose="020F0502020204030204" pitchFamily="34" charset="-122"/>
                <a:cs typeface="Calibri" panose="020F0502020204030204" pitchFamily="34" charset="-120"/>
              </a:rPr>
              <a:t>Chief Floor &amp; Production Manager</a:t>
            </a:r>
            <a:endParaRPr lang="en-US" sz="1150" dirty="0"/>
          </a:p>
        </p:txBody>
      </p:sp>
      <p:sp>
        <p:nvSpPr>
          <p:cNvPr id="18" name="Text 16"/>
          <p:cNvSpPr/>
          <p:nvPr/>
        </p:nvSpPr>
        <p:spPr>
          <a:xfrm>
            <a:off x="7818120" y="4864608"/>
            <a:ext cx="3566160" cy="320040"/>
          </a:xfrm>
          <a:prstGeom prst="rect">
            <a:avLst/>
          </a:prstGeom>
          <a:noFill/>
        </p:spPr>
        <p:txBody>
          <a:bodyPr wrap="square" rtlCol="0" anchor="ctr"/>
          <a:lstStyle/>
          <a:p>
            <a:pPr marL="0" indent="0">
              <a:buNone/>
            </a:pPr>
            <a:r>
              <a:rPr lang="en-US" sz="1050" dirty="0">
                <a:solidFill>
                  <a:srgbClr val="CADCFC"/>
                </a:solidFill>
                <a:latin typeface="Calibri" panose="020F0502020204030204" pitchFamily="34" charset="0"/>
                <a:ea typeface="Calibri" panose="020F0502020204030204" pitchFamily="34" charset="-122"/>
                <a:cs typeface="Calibri" panose="020F0502020204030204" pitchFamily="34" charset="-120"/>
              </a:rPr>
              <a:t>Business Requirement Document, v1.0</a:t>
            </a:r>
            <a:endParaRPr lang="en-US" sz="1050" dirty="0"/>
          </a:p>
        </p:txBody>
      </p:sp>
      <p:sp>
        <p:nvSpPr>
          <p:cNvPr id="19" name="Text 17"/>
          <p:cNvSpPr/>
          <p:nvPr/>
        </p:nvSpPr>
        <p:spPr>
          <a:xfrm>
            <a:off x="7818120" y="5623560"/>
            <a:ext cx="3566160" cy="502920"/>
          </a:xfrm>
          <a:prstGeom prst="rect">
            <a:avLst/>
          </a:prstGeom>
          <a:noFill/>
        </p:spPr>
        <p:txBody>
          <a:bodyPr wrap="square" rtlCol="0" anchor="ctr"/>
          <a:lstStyle/>
          <a:p>
            <a:pPr marL="0" indent="0">
              <a:buNone/>
            </a:pPr>
            <a:r>
              <a:rPr lang="en-US" sz="1100" i="1" dirty="0">
                <a:solidFill>
                  <a:srgbClr val="CADCFC"/>
                </a:solidFill>
                <a:latin typeface="Calibri" panose="020F0502020204030204" pitchFamily="34" charset="0"/>
                <a:ea typeface="Calibri" panose="020F0502020204030204" pitchFamily="34" charset="-122"/>
                <a:cs typeface="Calibri" panose="020F0502020204030204" pitchFamily="34" charset="-120"/>
              </a:rPr>
              <a:t>This deck answers that brief with evidence -not opinion.</a:t>
            </a:r>
            <a:endParaRPr lang="en-US" sz="1100" dirty="0"/>
          </a:p>
        </p:txBody>
      </p:sp>
      <p:sp>
        <p:nvSpPr>
          <p:cNvPr id="20" name="Text 18"/>
          <p:cNvSpPr/>
          <p:nvPr/>
        </p:nvSpPr>
        <p:spPr>
          <a:xfrm>
            <a:off x="11551615" y="6473952"/>
            <a:ext cx="457200" cy="274320"/>
          </a:xfrm>
          <a:prstGeom prst="rect">
            <a:avLst/>
          </a:prstGeom>
          <a:noFill/>
        </p:spPr>
        <p:txBody>
          <a:bodyPr wrap="square" rtlCol="0" anchor="ctr"/>
          <a:lstStyle/>
          <a:p>
            <a:pPr marL="0" indent="0" algn="r">
              <a:buNone/>
            </a:pPr>
            <a:r>
              <a:rPr lang="en-US" sz="900" dirty="0">
                <a:solidFill>
                  <a:srgbClr val="8C9AB3"/>
                </a:solidFill>
                <a:latin typeface="Calibri" panose="020F0502020204030204" pitchFamily="34" charset="0"/>
                <a:ea typeface="Calibri" panose="020F0502020204030204" pitchFamily="34" charset="-122"/>
                <a:cs typeface="Calibri" panose="020F0502020204030204" pitchFamily="34" charset="-120"/>
              </a:rPr>
              <a:t>03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6F8FC"/>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274320"/>
          </a:xfrm>
          <a:prstGeom prst="rect">
            <a:avLst/>
          </a:prstGeom>
          <a:noFill/>
        </p:spPr>
        <p:txBody>
          <a:bodyPr wrap="square" rtlCol="0" anchor="ctr"/>
          <a:lstStyle/>
          <a:p>
            <a:pPr marL="0" indent="0">
              <a:buNone/>
            </a:pPr>
            <a:r>
              <a:rPr lang="en-US" sz="1200" b="1" kern="0" spc="200" dirty="0">
                <a:solidFill>
                  <a:srgbClr val="9C7A2B"/>
                </a:solidFill>
                <a:latin typeface="Calibri" panose="020F0502020204030204" pitchFamily="34" charset="0"/>
                <a:ea typeface="Calibri" panose="020F0502020204030204" pitchFamily="34" charset="-122"/>
                <a:cs typeface="Calibri" panose="020F0502020204030204" pitchFamily="34" charset="-120"/>
              </a:rPr>
              <a:t>PROJECT SCOPE</a:t>
            </a:r>
            <a:endParaRPr lang="en-US" sz="1200" dirty="0"/>
          </a:p>
        </p:txBody>
      </p:sp>
      <p:sp>
        <p:nvSpPr>
          <p:cNvPr id="3" name="Text 1"/>
          <p:cNvSpPr/>
          <p:nvPr/>
        </p:nvSpPr>
        <p:spPr>
          <a:xfrm>
            <a:off x="548640" y="658368"/>
            <a:ext cx="10789920" cy="640080"/>
          </a:xfrm>
          <a:prstGeom prst="rect">
            <a:avLst/>
          </a:prstGeom>
          <a:noFill/>
        </p:spPr>
        <p:txBody>
          <a:bodyPr wrap="square" rtlCol="0" anchor="ctr"/>
          <a:lstStyle/>
          <a:p>
            <a:pPr marL="0" indent="0" algn="l">
              <a:buNone/>
            </a:pPr>
            <a:r>
              <a:rPr lang="en-US" sz="3000" b="1" dirty="0">
                <a:solidFill>
                  <a:srgbClr val="0B2545"/>
                </a:solidFill>
                <a:latin typeface="Cambria" panose="02040503050406030204" pitchFamily="34" charset="0"/>
                <a:ea typeface="Cambria" panose="02040503050406030204" pitchFamily="34" charset="-122"/>
                <a:cs typeface="Cambria" panose="02040503050406030204" pitchFamily="34" charset="-120"/>
              </a:rPr>
              <a:t>Four Questions the Business Needed Answered</a:t>
            </a:r>
            <a:endParaRPr lang="en-US" sz="3000" dirty="0"/>
          </a:p>
        </p:txBody>
      </p:sp>
      <p:sp>
        <p:nvSpPr>
          <p:cNvPr id="4" name="Shape 2"/>
          <p:cNvSpPr/>
          <p:nvPr/>
        </p:nvSpPr>
        <p:spPr>
          <a:xfrm>
            <a:off x="548640" y="1600200"/>
            <a:ext cx="2670048" cy="4297680"/>
          </a:xfrm>
          <a:prstGeom prst="rect">
            <a:avLst/>
          </a:prstGeom>
          <a:solidFill>
            <a:srgbClr val="FFFFFF"/>
          </a:solidFill>
          <a:ln w="12700">
            <a:solidFill>
              <a:srgbClr val="CADCFC"/>
            </a:solidFill>
            <a:prstDash val="solid"/>
          </a:ln>
          <a:effectLst>
            <a:outerShdw blurRad="76200" dist="25400" dir="5400000" algn="bl" rotWithShape="0">
              <a:srgbClr val="9AA9C2">
                <a:alpha val="30000"/>
              </a:srgbClr>
            </a:outerShdw>
          </a:effectLst>
        </p:spPr>
      </p:sp>
      <p:sp>
        <p:nvSpPr>
          <p:cNvPr id="5" name="Shape 3"/>
          <p:cNvSpPr/>
          <p:nvPr/>
        </p:nvSpPr>
        <p:spPr>
          <a:xfrm>
            <a:off x="804672" y="1892808"/>
            <a:ext cx="566928" cy="566928"/>
          </a:xfrm>
          <a:prstGeom prst="ellipse">
            <a:avLst/>
          </a:prstGeom>
          <a:solidFill>
            <a:srgbClr val="0B2545"/>
          </a:solidFill>
        </p:spPr>
      </p:sp>
      <p:sp>
        <p:nvSpPr>
          <p:cNvPr id="6" name="Text 4"/>
          <p:cNvSpPr/>
          <p:nvPr/>
        </p:nvSpPr>
        <p:spPr>
          <a:xfrm>
            <a:off x="804672" y="1892808"/>
            <a:ext cx="566928" cy="566928"/>
          </a:xfrm>
          <a:prstGeom prst="rect">
            <a:avLst/>
          </a:prstGeom>
          <a:noFill/>
        </p:spPr>
        <p:txBody>
          <a:bodyPr wrap="square" rtlCol="0" anchor="ctr"/>
          <a:lstStyle/>
          <a:p>
            <a:pPr marL="0" indent="0" algn="ctr">
              <a:buNone/>
            </a:pPr>
            <a:r>
              <a:rPr lang="en-US" sz="1800" b="1" dirty="0">
                <a:solidFill>
                  <a:srgbClr val="C79A3D"/>
                </a:solidFill>
                <a:latin typeface="Cambria" panose="02040503050406030204" pitchFamily="34" charset="0"/>
                <a:ea typeface="Cambria" panose="02040503050406030204" pitchFamily="34" charset="-122"/>
                <a:cs typeface="Cambria" panose="02040503050406030204" pitchFamily="34" charset="-120"/>
              </a:rPr>
              <a:t>01</a:t>
            </a:r>
            <a:endParaRPr lang="en-US" sz="1800" dirty="0"/>
          </a:p>
        </p:txBody>
      </p:sp>
      <p:sp>
        <p:nvSpPr>
          <p:cNvPr id="7" name="Text 5"/>
          <p:cNvSpPr/>
          <p:nvPr/>
        </p:nvSpPr>
        <p:spPr>
          <a:xfrm>
            <a:off x="777240" y="2651760"/>
            <a:ext cx="2212848" cy="685800"/>
          </a:xfrm>
          <a:prstGeom prst="rect">
            <a:avLst/>
          </a:prstGeom>
          <a:noFill/>
        </p:spPr>
        <p:txBody>
          <a:bodyPr wrap="square" rtlCol="0" anchor="ctr"/>
          <a:lstStyle/>
          <a:p>
            <a:pPr marL="0" indent="0">
              <a:lnSpc>
                <a:spcPct val="105000"/>
              </a:lnSpc>
              <a:buNone/>
            </a:pPr>
            <a:r>
              <a:rPr lang="en-US" sz="1450" b="1" dirty="0">
                <a:solidFill>
                  <a:srgbClr val="0B2545"/>
                </a:solidFill>
                <a:latin typeface="Calibri" panose="020F0502020204030204" pitchFamily="34" charset="0"/>
                <a:ea typeface="Calibri" panose="020F0502020204030204" pitchFamily="34" charset="-122"/>
                <a:cs typeface="Calibri" panose="020F0502020204030204" pitchFamily="34" charset="-120"/>
              </a:rPr>
              <a:t>Asset Reliability</a:t>
            </a:r>
            <a:endParaRPr lang="en-US" sz="1450" dirty="0"/>
          </a:p>
        </p:txBody>
      </p:sp>
      <p:sp>
        <p:nvSpPr>
          <p:cNvPr id="8" name="Text 6"/>
          <p:cNvSpPr/>
          <p:nvPr/>
        </p:nvSpPr>
        <p:spPr>
          <a:xfrm>
            <a:off x="777240" y="3383280"/>
            <a:ext cx="2212848" cy="2286000"/>
          </a:xfrm>
          <a:prstGeom prst="rect">
            <a:avLst/>
          </a:prstGeom>
          <a:noFill/>
        </p:spPr>
        <p:txBody>
          <a:bodyPr wrap="square" rtlCol="0" anchor="ctr"/>
          <a:lstStyle/>
          <a:p>
            <a:pPr marL="0" indent="0">
              <a:lnSpc>
                <a:spcPct val="130000"/>
              </a:lnSpc>
              <a:buNone/>
            </a:pPr>
            <a:r>
              <a:rPr lang="en-US" sz="1100" dirty="0">
                <a:solidFill>
                  <a:srgbClr val="44536B"/>
                </a:solidFill>
                <a:latin typeface="Calibri" panose="020F0502020204030204" pitchFamily="34" charset="0"/>
                <a:ea typeface="Calibri" panose="020F0502020204030204" pitchFamily="34" charset="-122"/>
                <a:cs typeface="Calibri" panose="020F0502020204030204" pitchFamily="34" charset="-120"/>
              </a:rPr>
              <a:t>Which machines fail most, and does pouring in more maintenance hours actually help?</a:t>
            </a:r>
            <a:endParaRPr lang="en-US" sz="1100" dirty="0"/>
          </a:p>
        </p:txBody>
      </p:sp>
      <p:sp>
        <p:nvSpPr>
          <p:cNvPr id="9" name="Shape 7"/>
          <p:cNvSpPr/>
          <p:nvPr/>
        </p:nvSpPr>
        <p:spPr>
          <a:xfrm>
            <a:off x="3419856" y="1600200"/>
            <a:ext cx="2670048" cy="4297680"/>
          </a:xfrm>
          <a:prstGeom prst="rect">
            <a:avLst/>
          </a:prstGeom>
          <a:solidFill>
            <a:srgbClr val="FFFFFF"/>
          </a:solidFill>
          <a:ln w="12700">
            <a:solidFill>
              <a:srgbClr val="CADCFC"/>
            </a:solidFill>
            <a:prstDash val="solid"/>
          </a:ln>
          <a:effectLst>
            <a:outerShdw blurRad="76200" dist="25400" dir="5400000" algn="bl" rotWithShape="0">
              <a:srgbClr val="9AA9C2">
                <a:alpha val="30000"/>
              </a:srgbClr>
            </a:outerShdw>
          </a:effectLst>
        </p:spPr>
      </p:sp>
      <p:sp>
        <p:nvSpPr>
          <p:cNvPr id="10" name="Shape 8"/>
          <p:cNvSpPr/>
          <p:nvPr/>
        </p:nvSpPr>
        <p:spPr>
          <a:xfrm>
            <a:off x="3675888" y="1892808"/>
            <a:ext cx="566928" cy="566928"/>
          </a:xfrm>
          <a:prstGeom prst="ellipse">
            <a:avLst/>
          </a:prstGeom>
          <a:solidFill>
            <a:srgbClr val="0B2545"/>
          </a:solidFill>
        </p:spPr>
      </p:sp>
      <p:sp>
        <p:nvSpPr>
          <p:cNvPr id="11" name="Text 9"/>
          <p:cNvSpPr/>
          <p:nvPr/>
        </p:nvSpPr>
        <p:spPr>
          <a:xfrm>
            <a:off x="3675888" y="1892808"/>
            <a:ext cx="566928" cy="566928"/>
          </a:xfrm>
          <a:prstGeom prst="rect">
            <a:avLst/>
          </a:prstGeom>
          <a:noFill/>
        </p:spPr>
        <p:txBody>
          <a:bodyPr wrap="square" rtlCol="0" anchor="ctr"/>
          <a:lstStyle/>
          <a:p>
            <a:pPr marL="0" indent="0" algn="ctr">
              <a:buNone/>
            </a:pPr>
            <a:r>
              <a:rPr lang="en-US" sz="1800" b="1" dirty="0">
                <a:solidFill>
                  <a:srgbClr val="C79A3D"/>
                </a:solidFill>
                <a:latin typeface="Cambria" panose="02040503050406030204" pitchFamily="34" charset="0"/>
                <a:ea typeface="Cambria" panose="02040503050406030204" pitchFamily="34" charset="-122"/>
                <a:cs typeface="Cambria" panose="02040503050406030204" pitchFamily="34" charset="-120"/>
              </a:rPr>
              <a:t>02</a:t>
            </a:r>
            <a:endParaRPr lang="en-US" sz="1800" dirty="0"/>
          </a:p>
        </p:txBody>
      </p:sp>
      <p:sp>
        <p:nvSpPr>
          <p:cNvPr id="12" name="Text 10"/>
          <p:cNvSpPr/>
          <p:nvPr/>
        </p:nvSpPr>
        <p:spPr>
          <a:xfrm>
            <a:off x="3648456" y="2651760"/>
            <a:ext cx="2212848" cy="685800"/>
          </a:xfrm>
          <a:prstGeom prst="rect">
            <a:avLst/>
          </a:prstGeom>
          <a:noFill/>
        </p:spPr>
        <p:txBody>
          <a:bodyPr wrap="square" rtlCol="0" anchor="ctr"/>
          <a:lstStyle/>
          <a:p>
            <a:pPr marL="0" indent="0">
              <a:lnSpc>
                <a:spcPct val="105000"/>
              </a:lnSpc>
              <a:buNone/>
            </a:pPr>
            <a:r>
              <a:rPr lang="en-US" sz="1450" b="1" dirty="0">
                <a:solidFill>
                  <a:srgbClr val="0B2545"/>
                </a:solidFill>
                <a:latin typeface="Calibri" panose="020F0502020204030204" pitchFamily="34" charset="0"/>
                <a:ea typeface="Calibri" panose="020F0502020204030204" pitchFamily="34" charset="-122"/>
                <a:cs typeface="Calibri" panose="020F0502020204030204" pitchFamily="34" charset="-120"/>
              </a:rPr>
              <a:t>Quality Assurance</a:t>
            </a:r>
            <a:endParaRPr lang="en-US" sz="1450" dirty="0"/>
          </a:p>
        </p:txBody>
      </p:sp>
      <p:sp>
        <p:nvSpPr>
          <p:cNvPr id="13" name="Text 11"/>
          <p:cNvSpPr/>
          <p:nvPr/>
        </p:nvSpPr>
        <p:spPr>
          <a:xfrm>
            <a:off x="3648456" y="3383280"/>
            <a:ext cx="2212848" cy="2286000"/>
          </a:xfrm>
          <a:prstGeom prst="rect">
            <a:avLst/>
          </a:prstGeom>
          <a:noFill/>
        </p:spPr>
        <p:txBody>
          <a:bodyPr wrap="square" rtlCol="0" anchor="ctr"/>
          <a:lstStyle/>
          <a:p>
            <a:pPr marL="0" indent="0">
              <a:lnSpc>
                <a:spcPct val="130000"/>
              </a:lnSpc>
              <a:buNone/>
            </a:pPr>
            <a:r>
              <a:rPr lang="en-US" sz="1100" dirty="0">
                <a:solidFill>
                  <a:srgbClr val="44536B"/>
                </a:solidFill>
                <a:latin typeface="Calibri" panose="020F0502020204030204" pitchFamily="34" charset="0"/>
                <a:ea typeface="Calibri" panose="020F0502020204030204" pitchFamily="34" charset="-122"/>
                <a:cs typeface="Calibri" panose="020F0502020204030204" pitchFamily="34" charset="-120"/>
              </a:rPr>
              <a:t>Which product types and lines are driving defects, scrap and failed QC checks?</a:t>
            </a:r>
            <a:endParaRPr lang="en-US" sz="1100" dirty="0"/>
          </a:p>
        </p:txBody>
      </p:sp>
      <p:sp>
        <p:nvSpPr>
          <p:cNvPr id="14" name="Shape 12"/>
          <p:cNvSpPr/>
          <p:nvPr/>
        </p:nvSpPr>
        <p:spPr>
          <a:xfrm>
            <a:off x="6291072" y="1600200"/>
            <a:ext cx="2670048" cy="4297680"/>
          </a:xfrm>
          <a:prstGeom prst="rect">
            <a:avLst/>
          </a:prstGeom>
          <a:solidFill>
            <a:srgbClr val="FFFFFF"/>
          </a:solidFill>
          <a:ln w="12700">
            <a:solidFill>
              <a:srgbClr val="CADCFC"/>
            </a:solidFill>
            <a:prstDash val="solid"/>
          </a:ln>
          <a:effectLst>
            <a:outerShdw blurRad="76200" dist="25400" dir="5400000" algn="bl" rotWithShape="0">
              <a:srgbClr val="9AA9C2">
                <a:alpha val="30000"/>
              </a:srgbClr>
            </a:outerShdw>
          </a:effectLst>
        </p:spPr>
      </p:sp>
      <p:sp>
        <p:nvSpPr>
          <p:cNvPr id="15" name="Shape 13"/>
          <p:cNvSpPr/>
          <p:nvPr/>
        </p:nvSpPr>
        <p:spPr>
          <a:xfrm>
            <a:off x="6547104" y="1892808"/>
            <a:ext cx="566928" cy="566928"/>
          </a:xfrm>
          <a:prstGeom prst="ellipse">
            <a:avLst/>
          </a:prstGeom>
          <a:solidFill>
            <a:srgbClr val="0B2545"/>
          </a:solidFill>
        </p:spPr>
      </p:sp>
      <p:sp>
        <p:nvSpPr>
          <p:cNvPr id="16" name="Text 14"/>
          <p:cNvSpPr/>
          <p:nvPr/>
        </p:nvSpPr>
        <p:spPr>
          <a:xfrm>
            <a:off x="6547104" y="1892808"/>
            <a:ext cx="566928" cy="566928"/>
          </a:xfrm>
          <a:prstGeom prst="rect">
            <a:avLst/>
          </a:prstGeom>
          <a:noFill/>
        </p:spPr>
        <p:txBody>
          <a:bodyPr wrap="square" rtlCol="0" anchor="ctr"/>
          <a:lstStyle/>
          <a:p>
            <a:pPr marL="0" indent="0" algn="ctr">
              <a:buNone/>
            </a:pPr>
            <a:r>
              <a:rPr lang="en-US" sz="1800" b="1" dirty="0">
                <a:solidFill>
                  <a:srgbClr val="C79A3D"/>
                </a:solidFill>
                <a:latin typeface="Cambria" panose="02040503050406030204" pitchFamily="34" charset="0"/>
                <a:ea typeface="Cambria" panose="02040503050406030204" pitchFamily="34" charset="-122"/>
                <a:cs typeface="Cambria" panose="02040503050406030204" pitchFamily="34" charset="-120"/>
              </a:rPr>
              <a:t>03</a:t>
            </a:r>
            <a:endParaRPr lang="en-US" sz="1800" dirty="0"/>
          </a:p>
        </p:txBody>
      </p:sp>
      <p:sp>
        <p:nvSpPr>
          <p:cNvPr id="17" name="Text 15"/>
          <p:cNvSpPr/>
          <p:nvPr/>
        </p:nvSpPr>
        <p:spPr>
          <a:xfrm>
            <a:off x="6519672" y="2651760"/>
            <a:ext cx="2212848" cy="685800"/>
          </a:xfrm>
          <a:prstGeom prst="rect">
            <a:avLst/>
          </a:prstGeom>
          <a:noFill/>
        </p:spPr>
        <p:txBody>
          <a:bodyPr wrap="square" rtlCol="0" anchor="ctr"/>
          <a:lstStyle/>
          <a:p>
            <a:pPr marL="0" indent="0">
              <a:lnSpc>
                <a:spcPct val="105000"/>
              </a:lnSpc>
              <a:buNone/>
            </a:pPr>
            <a:r>
              <a:rPr lang="en-US" sz="1450" b="1" dirty="0">
                <a:solidFill>
                  <a:srgbClr val="0B2545"/>
                </a:solidFill>
                <a:latin typeface="Calibri" panose="020F0502020204030204" pitchFamily="34" charset="0"/>
                <a:ea typeface="Calibri" panose="020F0502020204030204" pitchFamily="34" charset="-122"/>
                <a:cs typeface="Calibri" panose="020F0502020204030204" pitchFamily="34" charset="-120"/>
              </a:rPr>
              <a:t>Environmental Control</a:t>
            </a:r>
            <a:endParaRPr lang="en-US" sz="1450" dirty="0"/>
          </a:p>
        </p:txBody>
      </p:sp>
      <p:sp>
        <p:nvSpPr>
          <p:cNvPr id="18" name="Text 16"/>
          <p:cNvSpPr/>
          <p:nvPr/>
        </p:nvSpPr>
        <p:spPr>
          <a:xfrm>
            <a:off x="6519672" y="3383280"/>
            <a:ext cx="2212848" cy="2286000"/>
          </a:xfrm>
          <a:prstGeom prst="rect">
            <a:avLst/>
          </a:prstGeom>
          <a:noFill/>
        </p:spPr>
        <p:txBody>
          <a:bodyPr wrap="square" rtlCol="0" anchor="ctr"/>
          <a:lstStyle/>
          <a:p>
            <a:pPr marL="0" indent="0">
              <a:lnSpc>
                <a:spcPct val="130000"/>
              </a:lnSpc>
              <a:buNone/>
            </a:pPr>
            <a:r>
              <a:rPr lang="en-US" sz="1100" dirty="0">
                <a:solidFill>
                  <a:srgbClr val="44536B"/>
                </a:solidFill>
                <a:latin typeface="Calibri" panose="020F0502020204030204" pitchFamily="34" charset="0"/>
                <a:ea typeface="Calibri" panose="020F0502020204030204" pitchFamily="34" charset="-122"/>
                <a:cs typeface="Calibri" panose="020F0502020204030204" pitchFamily="34" charset="-120"/>
              </a:rPr>
              <a:t>Do shop-floor temperature and humidity swings really move the needle on quality?</a:t>
            </a:r>
            <a:endParaRPr lang="en-US" sz="1100" dirty="0"/>
          </a:p>
        </p:txBody>
      </p:sp>
      <p:sp>
        <p:nvSpPr>
          <p:cNvPr id="19" name="Shape 17"/>
          <p:cNvSpPr/>
          <p:nvPr/>
        </p:nvSpPr>
        <p:spPr>
          <a:xfrm>
            <a:off x="9162288" y="1600200"/>
            <a:ext cx="2670048" cy="4297680"/>
          </a:xfrm>
          <a:prstGeom prst="rect">
            <a:avLst/>
          </a:prstGeom>
          <a:solidFill>
            <a:srgbClr val="FFFFFF"/>
          </a:solidFill>
          <a:ln w="12700">
            <a:solidFill>
              <a:srgbClr val="CADCFC"/>
            </a:solidFill>
            <a:prstDash val="solid"/>
          </a:ln>
          <a:effectLst>
            <a:outerShdw blurRad="76200" dist="25400" dir="5400000" algn="bl" rotWithShape="0">
              <a:srgbClr val="9AA9C2">
                <a:alpha val="30000"/>
              </a:srgbClr>
            </a:outerShdw>
          </a:effectLst>
        </p:spPr>
      </p:sp>
      <p:sp>
        <p:nvSpPr>
          <p:cNvPr id="20" name="Shape 18"/>
          <p:cNvSpPr/>
          <p:nvPr/>
        </p:nvSpPr>
        <p:spPr>
          <a:xfrm>
            <a:off x="9418320" y="1892808"/>
            <a:ext cx="566928" cy="566928"/>
          </a:xfrm>
          <a:prstGeom prst="ellipse">
            <a:avLst/>
          </a:prstGeom>
          <a:solidFill>
            <a:srgbClr val="0B2545"/>
          </a:solidFill>
        </p:spPr>
      </p:sp>
      <p:sp>
        <p:nvSpPr>
          <p:cNvPr id="21" name="Text 19"/>
          <p:cNvSpPr/>
          <p:nvPr/>
        </p:nvSpPr>
        <p:spPr>
          <a:xfrm>
            <a:off x="9418320" y="1892808"/>
            <a:ext cx="566928" cy="566928"/>
          </a:xfrm>
          <a:prstGeom prst="rect">
            <a:avLst/>
          </a:prstGeom>
          <a:noFill/>
        </p:spPr>
        <p:txBody>
          <a:bodyPr wrap="square" rtlCol="0" anchor="ctr"/>
          <a:lstStyle/>
          <a:p>
            <a:pPr marL="0" indent="0" algn="ctr">
              <a:buNone/>
            </a:pPr>
            <a:r>
              <a:rPr lang="en-US" sz="1800" b="1" dirty="0">
                <a:solidFill>
                  <a:srgbClr val="C79A3D"/>
                </a:solidFill>
                <a:latin typeface="Cambria" panose="02040503050406030204" pitchFamily="34" charset="0"/>
                <a:ea typeface="Cambria" panose="02040503050406030204" pitchFamily="34" charset="-122"/>
                <a:cs typeface="Cambria" panose="02040503050406030204" pitchFamily="34" charset="-120"/>
              </a:rPr>
              <a:t>04</a:t>
            </a:r>
            <a:endParaRPr lang="en-US" sz="1800" dirty="0"/>
          </a:p>
        </p:txBody>
      </p:sp>
      <p:sp>
        <p:nvSpPr>
          <p:cNvPr id="22" name="Text 20"/>
          <p:cNvSpPr/>
          <p:nvPr/>
        </p:nvSpPr>
        <p:spPr>
          <a:xfrm>
            <a:off x="9390888" y="2651760"/>
            <a:ext cx="2212848" cy="685800"/>
          </a:xfrm>
          <a:prstGeom prst="rect">
            <a:avLst/>
          </a:prstGeom>
          <a:noFill/>
        </p:spPr>
        <p:txBody>
          <a:bodyPr wrap="square" rtlCol="0" anchor="ctr"/>
          <a:lstStyle/>
          <a:p>
            <a:pPr marL="0" indent="0">
              <a:lnSpc>
                <a:spcPct val="105000"/>
              </a:lnSpc>
              <a:buNone/>
            </a:pPr>
            <a:r>
              <a:rPr lang="en-US" sz="1450" b="1" dirty="0">
                <a:solidFill>
                  <a:srgbClr val="0B2545"/>
                </a:solidFill>
                <a:latin typeface="Calibri" panose="020F0502020204030204" pitchFamily="34" charset="0"/>
                <a:ea typeface="Calibri" panose="020F0502020204030204" pitchFamily="34" charset="-122"/>
                <a:cs typeface="Calibri" panose="020F0502020204030204" pitchFamily="34" charset="-120"/>
              </a:rPr>
              <a:t>Resource &amp; Cost</a:t>
            </a:r>
            <a:endParaRPr lang="en-US" sz="1450" dirty="0"/>
          </a:p>
        </p:txBody>
      </p:sp>
      <p:sp>
        <p:nvSpPr>
          <p:cNvPr id="23" name="Text 21"/>
          <p:cNvSpPr/>
          <p:nvPr/>
        </p:nvSpPr>
        <p:spPr>
          <a:xfrm>
            <a:off x="9390888" y="3383280"/>
            <a:ext cx="2212848" cy="2286000"/>
          </a:xfrm>
          <a:prstGeom prst="rect">
            <a:avLst/>
          </a:prstGeom>
          <a:noFill/>
        </p:spPr>
        <p:txBody>
          <a:bodyPr wrap="square" rtlCol="0" anchor="ctr"/>
          <a:lstStyle/>
          <a:p>
            <a:pPr marL="0" indent="0">
              <a:lnSpc>
                <a:spcPct val="130000"/>
              </a:lnSpc>
              <a:buNone/>
            </a:pPr>
            <a:r>
              <a:rPr lang="en-US" sz="1100" dirty="0">
                <a:solidFill>
                  <a:srgbClr val="44536B"/>
                </a:solidFill>
                <a:latin typeface="Calibri" panose="020F0502020204030204" pitchFamily="34" charset="0"/>
                <a:ea typeface="Calibri" panose="020F0502020204030204" pitchFamily="34" charset="-122"/>
                <a:cs typeface="Calibri" panose="020F0502020204030204" pitchFamily="34" charset="-120"/>
              </a:rPr>
              <a:t>Is labour over-allocated, and what is really inflating overhead per unit?</a:t>
            </a:r>
            <a:endParaRPr lang="en-US" sz="1100" dirty="0"/>
          </a:p>
        </p:txBody>
      </p:sp>
      <p:sp>
        <p:nvSpPr>
          <p:cNvPr id="24" name="Text 22"/>
          <p:cNvSpPr/>
          <p:nvPr/>
        </p:nvSpPr>
        <p:spPr>
          <a:xfrm>
            <a:off x="11551615" y="6473952"/>
            <a:ext cx="457200" cy="274320"/>
          </a:xfrm>
          <a:prstGeom prst="rect">
            <a:avLst/>
          </a:prstGeom>
          <a:noFill/>
        </p:spPr>
        <p:txBody>
          <a:bodyPr wrap="square" rtlCol="0" anchor="ctr"/>
          <a:lstStyle/>
          <a:p>
            <a:pPr marL="0" indent="0" algn="r">
              <a:buNone/>
            </a:pPr>
            <a:r>
              <a:rPr lang="en-US" sz="900" dirty="0">
                <a:solidFill>
                  <a:srgbClr val="8C9AB3"/>
                </a:solidFill>
                <a:latin typeface="Calibri" panose="020F0502020204030204" pitchFamily="34" charset="0"/>
                <a:ea typeface="Calibri" panose="020F0502020204030204" pitchFamily="34" charset="-122"/>
                <a:cs typeface="Calibri" panose="020F0502020204030204" pitchFamily="34" charset="-120"/>
              </a:rPr>
              <a:t>04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274320"/>
          </a:xfrm>
          <a:prstGeom prst="rect">
            <a:avLst/>
          </a:prstGeom>
          <a:noFill/>
        </p:spPr>
        <p:txBody>
          <a:bodyPr wrap="square" rtlCol="0" anchor="ctr"/>
          <a:lstStyle/>
          <a:p>
            <a:pPr marL="0" indent="0">
              <a:buNone/>
            </a:pPr>
            <a:r>
              <a:rPr lang="en-US" sz="1200" b="1" kern="0" spc="200" dirty="0">
                <a:solidFill>
                  <a:srgbClr val="9C7A2B"/>
                </a:solidFill>
                <a:latin typeface="Calibri" panose="020F0502020204030204" pitchFamily="34" charset="0"/>
                <a:ea typeface="Calibri" panose="020F0502020204030204" pitchFamily="34" charset="-122"/>
                <a:cs typeface="Calibri" panose="020F0502020204030204" pitchFamily="34" charset="-120"/>
              </a:rPr>
              <a:t>DATA &amp; METHOD</a:t>
            </a:r>
            <a:endParaRPr lang="en-US" sz="1200" dirty="0"/>
          </a:p>
        </p:txBody>
      </p:sp>
      <p:sp>
        <p:nvSpPr>
          <p:cNvPr id="3" name="Text 1"/>
          <p:cNvSpPr/>
          <p:nvPr/>
        </p:nvSpPr>
        <p:spPr>
          <a:xfrm>
            <a:off x="548640" y="658368"/>
            <a:ext cx="10789920" cy="640080"/>
          </a:xfrm>
          <a:prstGeom prst="rect">
            <a:avLst/>
          </a:prstGeom>
          <a:noFill/>
        </p:spPr>
        <p:txBody>
          <a:bodyPr wrap="square" rtlCol="0" anchor="ctr"/>
          <a:lstStyle/>
          <a:p>
            <a:pPr marL="0" indent="0" algn="l">
              <a:buNone/>
            </a:pPr>
            <a:r>
              <a:rPr lang="en-US" sz="3000" b="1" dirty="0">
                <a:solidFill>
                  <a:srgbClr val="0B2545"/>
                </a:solidFill>
                <a:latin typeface="Cambria" panose="02040503050406030204" pitchFamily="34" charset="0"/>
                <a:ea typeface="Cambria" panose="02040503050406030204" pitchFamily="34" charset="-122"/>
                <a:cs typeface="Cambria" panose="02040503050406030204" pitchFamily="34" charset="-120"/>
              </a:rPr>
              <a:t>One Clean Source of Truth - No Estimates, No Gaps</a:t>
            </a:r>
            <a:endParaRPr lang="en-US" sz="3000" dirty="0"/>
          </a:p>
        </p:txBody>
      </p:sp>
      <p:sp>
        <p:nvSpPr>
          <p:cNvPr id="4" name="Text 2"/>
          <p:cNvSpPr/>
          <p:nvPr/>
        </p:nvSpPr>
        <p:spPr>
          <a:xfrm>
            <a:off x="548640" y="1463040"/>
            <a:ext cx="6675120" cy="1371600"/>
          </a:xfrm>
          <a:prstGeom prst="rect">
            <a:avLst/>
          </a:prstGeom>
          <a:noFill/>
        </p:spPr>
        <p:txBody>
          <a:bodyPr wrap="square" rtlCol="0" anchor="ctr"/>
          <a:lstStyle/>
          <a:p>
            <a:pPr marL="0" indent="0">
              <a:lnSpc>
                <a:spcPct val="132000"/>
              </a:lnSpc>
              <a:buNone/>
            </a:pPr>
            <a:r>
              <a:rPr lang="en-US" sz="1300" dirty="0">
                <a:solidFill>
                  <a:srgbClr val="44536B"/>
                </a:solidFill>
                <a:latin typeface="Calibri" panose="020F0502020204030204" pitchFamily="34" charset="0"/>
                <a:ea typeface="Calibri" panose="020F0502020204030204" pitchFamily="34" charset="-122"/>
                <a:cs typeface="Calibri" panose="020F0502020204030204" pitchFamily="34" charset="-120"/>
              </a:rPr>
              <a:t>The dataset is the plant's own operational log: one row per production batch, capturing machine, shift and product type, alongside output, quality, cost, environmental and downtime figures. After cleaning, there were zero missing values in any field used in this analysis - every number in this deck is drawn from the full record set, not a sample.</a:t>
            </a:r>
            <a:endParaRPr lang="en-US" sz="1300" dirty="0"/>
          </a:p>
        </p:txBody>
      </p:sp>
      <p:sp>
        <p:nvSpPr>
          <p:cNvPr id="5" name="Shape 3"/>
          <p:cNvSpPr/>
          <p:nvPr/>
        </p:nvSpPr>
        <p:spPr>
          <a:xfrm>
            <a:off x="548640" y="3063240"/>
            <a:ext cx="1316736" cy="1417320"/>
          </a:xfrm>
          <a:prstGeom prst="rect">
            <a:avLst/>
          </a:prstGeom>
          <a:solidFill>
            <a:srgbClr val="E9EFFB"/>
          </a:solidFill>
        </p:spPr>
      </p:sp>
      <p:sp>
        <p:nvSpPr>
          <p:cNvPr id="6" name="Text 4"/>
          <p:cNvSpPr/>
          <p:nvPr/>
        </p:nvSpPr>
        <p:spPr>
          <a:xfrm>
            <a:off x="548640" y="3200400"/>
            <a:ext cx="1316736" cy="594360"/>
          </a:xfrm>
          <a:prstGeom prst="rect">
            <a:avLst/>
          </a:prstGeom>
          <a:noFill/>
        </p:spPr>
        <p:txBody>
          <a:bodyPr wrap="square" rtlCol="0" anchor="ctr"/>
          <a:lstStyle/>
          <a:p>
            <a:pPr marL="0" indent="0" algn="ctr">
              <a:buNone/>
            </a:pPr>
            <a:r>
              <a:rPr lang="en-US" sz="1900" b="1" dirty="0">
                <a:solidFill>
                  <a:srgbClr val="0B2545"/>
                </a:solidFill>
                <a:latin typeface="Cambria" panose="02040503050406030204" pitchFamily="34" charset="0"/>
                <a:ea typeface="Cambria" panose="02040503050406030204" pitchFamily="34" charset="-122"/>
                <a:cs typeface="Cambria" panose="02040503050406030204" pitchFamily="34" charset="-120"/>
              </a:rPr>
              <a:t>3,000</a:t>
            </a:r>
            <a:endParaRPr lang="en-US" sz="1900" dirty="0"/>
          </a:p>
        </p:txBody>
      </p:sp>
      <p:sp>
        <p:nvSpPr>
          <p:cNvPr id="7" name="Text 5"/>
          <p:cNvSpPr/>
          <p:nvPr/>
        </p:nvSpPr>
        <p:spPr>
          <a:xfrm>
            <a:off x="603504" y="3794760"/>
            <a:ext cx="1207008" cy="594360"/>
          </a:xfrm>
          <a:prstGeom prst="rect">
            <a:avLst/>
          </a:prstGeom>
          <a:noFill/>
        </p:spPr>
        <p:txBody>
          <a:bodyPr wrap="square" rtlCol="0" anchor="ctr"/>
          <a:lstStyle/>
          <a:p>
            <a:pPr marL="0" indent="0" algn="ctr">
              <a:buNone/>
            </a:pPr>
            <a:r>
              <a:rPr lang="en-US" sz="900" dirty="0">
                <a:solidFill>
                  <a:srgbClr val="44536B"/>
                </a:solidFill>
                <a:latin typeface="Calibri" panose="020F0502020204030204" pitchFamily="34" charset="0"/>
                <a:ea typeface="Calibri" panose="020F0502020204030204" pitchFamily="34" charset="-122"/>
                <a:cs typeface="Calibri" panose="020F0502020204030204" pitchFamily="34" charset="-120"/>
              </a:rPr>
              <a:t>Production batch</a:t>
            </a:r>
            <a:endParaRPr lang="en-US" sz="900" dirty="0"/>
          </a:p>
          <a:p>
            <a:pPr marL="0" indent="0" algn="ctr">
              <a:buNone/>
            </a:pPr>
            <a:r>
              <a:rPr lang="en-US" sz="900" dirty="0">
                <a:solidFill>
                  <a:srgbClr val="44536B"/>
                </a:solidFill>
                <a:latin typeface="Calibri" panose="020F0502020204030204" pitchFamily="34" charset="0"/>
                <a:ea typeface="Calibri" panose="020F0502020204030204" pitchFamily="34" charset="-122"/>
                <a:cs typeface="Calibri" panose="020F0502020204030204" pitchFamily="34" charset="-120"/>
              </a:rPr>
              <a:t>records</a:t>
            </a:r>
            <a:endParaRPr lang="en-US" sz="900" dirty="0"/>
          </a:p>
        </p:txBody>
      </p:sp>
      <p:sp>
        <p:nvSpPr>
          <p:cNvPr id="8" name="Shape 6"/>
          <p:cNvSpPr/>
          <p:nvPr/>
        </p:nvSpPr>
        <p:spPr>
          <a:xfrm>
            <a:off x="2002536" y="3063240"/>
            <a:ext cx="1316736" cy="1417320"/>
          </a:xfrm>
          <a:prstGeom prst="rect">
            <a:avLst/>
          </a:prstGeom>
          <a:solidFill>
            <a:srgbClr val="E9EFFB"/>
          </a:solidFill>
        </p:spPr>
      </p:sp>
      <p:sp>
        <p:nvSpPr>
          <p:cNvPr id="9" name="Text 7"/>
          <p:cNvSpPr/>
          <p:nvPr/>
        </p:nvSpPr>
        <p:spPr>
          <a:xfrm>
            <a:off x="2002536" y="3200400"/>
            <a:ext cx="1316736" cy="594360"/>
          </a:xfrm>
          <a:prstGeom prst="rect">
            <a:avLst/>
          </a:prstGeom>
          <a:noFill/>
        </p:spPr>
        <p:txBody>
          <a:bodyPr wrap="square" rtlCol="0" anchor="ctr"/>
          <a:lstStyle/>
          <a:p>
            <a:pPr marL="0" indent="0" algn="ctr">
              <a:buNone/>
            </a:pPr>
            <a:r>
              <a:rPr lang="en-US" sz="1900" b="1" dirty="0">
                <a:solidFill>
                  <a:srgbClr val="0B2545"/>
                </a:solidFill>
                <a:latin typeface="Cambria" panose="02040503050406030204" pitchFamily="34" charset="0"/>
                <a:ea typeface="Cambria" panose="02040503050406030204" pitchFamily="34" charset="-122"/>
                <a:cs typeface="Cambria" panose="02040503050406030204" pitchFamily="34" charset="-120"/>
              </a:rPr>
              <a:t>8+ yrs</a:t>
            </a:r>
            <a:endParaRPr lang="en-US" sz="1900" dirty="0"/>
          </a:p>
        </p:txBody>
      </p:sp>
      <p:sp>
        <p:nvSpPr>
          <p:cNvPr id="10" name="Text 8"/>
          <p:cNvSpPr/>
          <p:nvPr/>
        </p:nvSpPr>
        <p:spPr>
          <a:xfrm>
            <a:off x="2057400" y="3794760"/>
            <a:ext cx="1207008" cy="594360"/>
          </a:xfrm>
          <a:prstGeom prst="rect">
            <a:avLst/>
          </a:prstGeom>
          <a:noFill/>
        </p:spPr>
        <p:txBody>
          <a:bodyPr wrap="square" rtlCol="0" anchor="ctr"/>
          <a:lstStyle/>
          <a:p>
            <a:pPr marL="0" indent="0" algn="ctr">
              <a:buNone/>
            </a:pPr>
            <a:r>
              <a:rPr lang="en-US" sz="900" dirty="0">
                <a:solidFill>
                  <a:srgbClr val="44536B"/>
                </a:solidFill>
                <a:latin typeface="Calibri" panose="020F0502020204030204" pitchFamily="34" charset="0"/>
                <a:ea typeface="Calibri" panose="020F0502020204030204" pitchFamily="34" charset="-122"/>
                <a:cs typeface="Calibri" panose="020F0502020204030204" pitchFamily="34" charset="-120"/>
              </a:rPr>
              <a:t>Jan 2018 --Mar 2026</a:t>
            </a:r>
            <a:endParaRPr lang="en-US" sz="900" dirty="0"/>
          </a:p>
          <a:p>
            <a:pPr marL="0" indent="0" algn="ctr">
              <a:buNone/>
            </a:pPr>
            <a:r>
              <a:rPr lang="en-US" sz="900" dirty="0">
                <a:solidFill>
                  <a:srgbClr val="44536B"/>
                </a:solidFill>
                <a:latin typeface="Calibri" panose="020F0502020204030204" pitchFamily="34" charset="0"/>
                <a:ea typeface="Calibri" panose="020F0502020204030204" pitchFamily="34" charset="-122"/>
                <a:cs typeface="Calibri" panose="020F0502020204030204" pitchFamily="34" charset="-120"/>
              </a:rPr>
              <a:t>coverage</a:t>
            </a:r>
            <a:endParaRPr lang="en-US" sz="900" dirty="0"/>
          </a:p>
        </p:txBody>
      </p:sp>
      <p:sp>
        <p:nvSpPr>
          <p:cNvPr id="11" name="Shape 9"/>
          <p:cNvSpPr/>
          <p:nvPr/>
        </p:nvSpPr>
        <p:spPr>
          <a:xfrm>
            <a:off x="3456432" y="3063240"/>
            <a:ext cx="1316736" cy="1417320"/>
          </a:xfrm>
          <a:prstGeom prst="rect">
            <a:avLst/>
          </a:prstGeom>
          <a:solidFill>
            <a:srgbClr val="E9EFFB"/>
          </a:solidFill>
        </p:spPr>
      </p:sp>
      <p:sp>
        <p:nvSpPr>
          <p:cNvPr id="12" name="Text 10"/>
          <p:cNvSpPr/>
          <p:nvPr/>
        </p:nvSpPr>
        <p:spPr>
          <a:xfrm>
            <a:off x="3456432" y="3200400"/>
            <a:ext cx="1316736" cy="594360"/>
          </a:xfrm>
          <a:prstGeom prst="rect">
            <a:avLst/>
          </a:prstGeom>
          <a:noFill/>
        </p:spPr>
        <p:txBody>
          <a:bodyPr wrap="square" rtlCol="0" anchor="ctr"/>
          <a:lstStyle/>
          <a:p>
            <a:pPr marL="0" indent="0" algn="ctr">
              <a:buNone/>
            </a:pPr>
            <a:r>
              <a:rPr lang="en-US" sz="1900" b="1" dirty="0">
                <a:solidFill>
                  <a:srgbClr val="0B2545"/>
                </a:solidFill>
                <a:latin typeface="Cambria" panose="02040503050406030204" pitchFamily="34" charset="0"/>
                <a:ea typeface="Cambria" panose="02040503050406030204" pitchFamily="34" charset="-122"/>
                <a:cs typeface="Cambria" panose="02040503050406030204" pitchFamily="34" charset="-120"/>
              </a:rPr>
              <a:t>20</a:t>
            </a:r>
            <a:endParaRPr lang="en-US" sz="1900" dirty="0"/>
          </a:p>
        </p:txBody>
      </p:sp>
      <p:sp>
        <p:nvSpPr>
          <p:cNvPr id="13" name="Text 11"/>
          <p:cNvSpPr/>
          <p:nvPr/>
        </p:nvSpPr>
        <p:spPr>
          <a:xfrm>
            <a:off x="3511296" y="3794760"/>
            <a:ext cx="1207008" cy="594360"/>
          </a:xfrm>
          <a:prstGeom prst="rect">
            <a:avLst/>
          </a:prstGeom>
          <a:noFill/>
        </p:spPr>
        <p:txBody>
          <a:bodyPr wrap="square" rtlCol="0" anchor="ctr"/>
          <a:lstStyle/>
          <a:p>
            <a:pPr marL="0" indent="0" algn="ctr">
              <a:buNone/>
            </a:pPr>
            <a:r>
              <a:rPr lang="en-US" sz="900" dirty="0">
                <a:solidFill>
                  <a:srgbClr val="44536B"/>
                </a:solidFill>
                <a:latin typeface="Calibri" panose="020F0502020204030204" pitchFamily="34" charset="0"/>
                <a:ea typeface="Calibri" panose="020F0502020204030204" pitchFamily="34" charset="-122"/>
                <a:cs typeface="Calibri" panose="020F0502020204030204" pitchFamily="34" charset="-120"/>
              </a:rPr>
              <a:t>Machines</a:t>
            </a:r>
            <a:endParaRPr lang="en-US" sz="900" dirty="0"/>
          </a:p>
          <a:p>
            <a:pPr marL="0" indent="0" algn="ctr">
              <a:buNone/>
            </a:pPr>
            <a:r>
              <a:rPr lang="en-US" sz="900" dirty="0">
                <a:solidFill>
                  <a:srgbClr val="44536B"/>
                </a:solidFill>
                <a:latin typeface="Calibri" panose="020F0502020204030204" pitchFamily="34" charset="0"/>
                <a:ea typeface="Calibri" panose="020F0502020204030204" pitchFamily="34" charset="-122"/>
                <a:cs typeface="Calibri" panose="020F0502020204030204" pitchFamily="34" charset="-120"/>
              </a:rPr>
              <a:t>tracked</a:t>
            </a:r>
            <a:endParaRPr lang="en-US" sz="900" dirty="0"/>
          </a:p>
        </p:txBody>
      </p:sp>
      <p:sp>
        <p:nvSpPr>
          <p:cNvPr id="14" name="Shape 12"/>
          <p:cNvSpPr/>
          <p:nvPr/>
        </p:nvSpPr>
        <p:spPr>
          <a:xfrm>
            <a:off x="4910328" y="3063240"/>
            <a:ext cx="1316736" cy="1417320"/>
          </a:xfrm>
          <a:prstGeom prst="rect">
            <a:avLst/>
          </a:prstGeom>
          <a:solidFill>
            <a:srgbClr val="E9EFFB"/>
          </a:solidFill>
        </p:spPr>
      </p:sp>
      <p:sp>
        <p:nvSpPr>
          <p:cNvPr id="15" name="Text 13"/>
          <p:cNvSpPr/>
          <p:nvPr/>
        </p:nvSpPr>
        <p:spPr>
          <a:xfrm>
            <a:off x="4910328" y="3200400"/>
            <a:ext cx="1316736" cy="594360"/>
          </a:xfrm>
          <a:prstGeom prst="rect">
            <a:avLst/>
          </a:prstGeom>
          <a:noFill/>
        </p:spPr>
        <p:txBody>
          <a:bodyPr wrap="square" rtlCol="0" anchor="ctr"/>
          <a:lstStyle/>
          <a:p>
            <a:pPr marL="0" indent="0" algn="ctr">
              <a:buNone/>
            </a:pPr>
            <a:r>
              <a:rPr lang="en-US" sz="1900" b="1" dirty="0">
                <a:solidFill>
                  <a:srgbClr val="0B2545"/>
                </a:solidFill>
                <a:latin typeface="Cambria" panose="02040503050406030204" pitchFamily="34" charset="0"/>
                <a:ea typeface="Cambria" panose="02040503050406030204" pitchFamily="34" charset="-122"/>
                <a:cs typeface="Cambria" panose="02040503050406030204" pitchFamily="34" charset="-120"/>
              </a:rPr>
              <a:t>3</a:t>
            </a:r>
            <a:endParaRPr lang="en-US" sz="1900" dirty="0"/>
          </a:p>
        </p:txBody>
      </p:sp>
      <p:sp>
        <p:nvSpPr>
          <p:cNvPr id="16" name="Text 14"/>
          <p:cNvSpPr/>
          <p:nvPr/>
        </p:nvSpPr>
        <p:spPr>
          <a:xfrm>
            <a:off x="4965192" y="3794760"/>
            <a:ext cx="1207008" cy="594360"/>
          </a:xfrm>
          <a:prstGeom prst="rect">
            <a:avLst/>
          </a:prstGeom>
          <a:noFill/>
        </p:spPr>
        <p:txBody>
          <a:bodyPr wrap="square" rtlCol="0" anchor="ctr"/>
          <a:lstStyle/>
          <a:p>
            <a:pPr marL="0" indent="0" algn="ctr">
              <a:buNone/>
            </a:pPr>
            <a:r>
              <a:rPr lang="en-US" sz="900" dirty="0">
                <a:solidFill>
                  <a:srgbClr val="44536B"/>
                </a:solidFill>
                <a:latin typeface="Calibri" panose="020F0502020204030204" pitchFamily="34" charset="0"/>
                <a:ea typeface="Calibri" panose="020F0502020204030204" pitchFamily="34" charset="-122"/>
                <a:cs typeface="Calibri" panose="020F0502020204030204" pitchFamily="34" charset="-120"/>
              </a:rPr>
              <a:t>Shifts -Day,</a:t>
            </a:r>
            <a:endParaRPr lang="en-US" sz="900" dirty="0"/>
          </a:p>
          <a:p>
            <a:pPr marL="0" indent="0" algn="ctr">
              <a:buNone/>
            </a:pPr>
            <a:r>
              <a:rPr lang="en-US" sz="900" dirty="0">
                <a:solidFill>
                  <a:srgbClr val="44536B"/>
                </a:solidFill>
                <a:latin typeface="Calibri" panose="020F0502020204030204" pitchFamily="34" charset="0"/>
                <a:ea typeface="Calibri" panose="020F0502020204030204" pitchFamily="34" charset="-122"/>
                <a:cs typeface="Calibri" panose="020F0502020204030204" pitchFamily="34" charset="-120"/>
              </a:rPr>
              <a:t>Swing, Night</a:t>
            </a:r>
            <a:endParaRPr lang="en-US" sz="900" dirty="0"/>
          </a:p>
        </p:txBody>
      </p:sp>
      <p:sp>
        <p:nvSpPr>
          <p:cNvPr id="17" name="Shape 15"/>
          <p:cNvSpPr/>
          <p:nvPr/>
        </p:nvSpPr>
        <p:spPr>
          <a:xfrm>
            <a:off x="6364224" y="3063240"/>
            <a:ext cx="1316736" cy="1417320"/>
          </a:xfrm>
          <a:prstGeom prst="rect">
            <a:avLst/>
          </a:prstGeom>
          <a:solidFill>
            <a:srgbClr val="E9EFFB"/>
          </a:solidFill>
        </p:spPr>
      </p:sp>
      <p:sp>
        <p:nvSpPr>
          <p:cNvPr id="18" name="Text 16"/>
          <p:cNvSpPr/>
          <p:nvPr/>
        </p:nvSpPr>
        <p:spPr>
          <a:xfrm>
            <a:off x="6364224" y="3200400"/>
            <a:ext cx="1316736" cy="594360"/>
          </a:xfrm>
          <a:prstGeom prst="rect">
            <a:avLst/>
          </a:prstGeom>
          <a:noFill/>
        </p:spPr>
        <p:txBody>
          <a:bodyPr wrap="square" rtlCol="0" anchor="ctr"/>
          <a:lstStyle/>
          <a:p>
            <a:pPr marL="0" indent="0" algn="ctr">
              <a:buNone/>
            </a:pPr>
            <a:r>
              <a:rPr lang="en-US" sz="1900" b="1" dirty="0">
                <a:solidFill>
                  <a:srgbClr val="0B2545"/>
                </a:solidFill>
                <a:latin typeface="Cambria" panose="02040503050406030204" pitchFamily="34" charset="0"/>
                <a:ea typeface="Cambria" panose="02040503050406030204" pitchFamily="34" charset="-122"/>
                <a:cs typeface="Cambria" panose="02040503050406030204" pitchFamily="34" charset="-120"/>
              </a:rPr>
              <a:t>5</a:t>
            </a:r>
            <a:endParaRPr lang="en-US" sz="1900" dirty="0"/>
          </a:p>
        </p:txBody>
      </p:sp>
      <p:sp>
        <p:nvSpPr>
          <p:cNvPr id="19" name="Text 17"/>
          <p:cNvSpPr/>
          <p:nvPr/>
        </p:nvSpPr>
        <p:spPr>
          <a:xfrm>
            <a:off x="6419088" y="3794760"/>
            <a:ext cx="1207008" cy="594360"/>
          </a:xfrm>
          <a:prstGeom prst="rect">
            <a:avLst/>
          </a:prstGeom>
          <a:noFill/>
        </p:spPr>
        <p:txBody>
          <a:bodyPr wrap="square" rtlCol="0" anchor="ctr"/>
          <a:lstStyle/>
          <a:p>
            <a:pPr marL="0" indent="0" algn="ctr">
              <a:buNone/>
            </a:pPr>
            <a:r>
              <a:rPr lang="en-US" sz="900" dirty="0">
                <a:solidFill>
                  <a:srgbClr val="44536B"/>
                </a:solidFill>
                <a:latin typeface="Calibri" panose="020F0502020204030204" pitchFamily="34" charset="0"/>
                <a:ea typeface="Calibri" panose="020F0502020204030204" pitchFamily="34" charset="-122"/>
                <a:cs typeface="Calibri" panose="020F0502020204030204" pitchFamily="34" charset="-120"/>
              </a:rPr>
              <a:t>Product lines</a:t>
            </a:r>
            <a:endParaRPr lang="en-US" sz="900" dirty="0"/>
          </a:p>
          <a:p>
            <a:pPr marL="0" indent="0" algn="ctr">
              <a:buNone/>
            </a:pPr>
            <a:r>
              <a:rPr lang="en-US" sz="900" dirty="0">
                <a:solidFill>
                  <a:srgbClr val="44536B"/>
                </a:solidFill>
                <a:latin typeface="Calibri" panose="020F0502020204030204" pitchFamily="34" charset="0"/>
                <a:ea typeface="Calibri" panose="020F0502020204030204" pitchFamily="34" charset="-122"/>
                <a:cs typeface="Calibri" panose="020F0502020204030204" pitchFamily="34" charset="-120"/>
              </a:rPr>
              <a:t>in scope</a:t>
            </a:r>
            <a:endParaRPr lang="en-US" sz="900" dirty="0"/>
          </a:p>
        </p:txBody>
      </p:sp>
      <p:sp>
        <p:nvSpPr>
          <p:cNvPr id="20" name="Text 18"/>
          <p:cNvSpPr/>
          <p:nvPr/>
        </p:nvSpPr>
        <p:spPr>
          <a:xfrm>
            <a:off x="548640" y="4892040"/>
            <a:ext cx="3657600" cy="274320"/>
          </a:xfrm>
          <a:prstGeom prst="rect">
            <a:avLst/>
          </a:prstGeom>
          <a:noFill/>
        </p:spPr>
        <p:txBody>
          <a:bodyPr wrap="square" rtlCol="0" anchor="ctr"/>
          <a:lstStyle/>
          <a:p>
            <a:pPr marL="0" indent="0">
              <a:buNone/>
            </a:pPr>
            <a:r>
              <a:rPr lang="en-US" sz="1100" b="1" kern="0" spc="200" dirty="0">
                <a:solidFill>
                  <a:srgbClr val="9C7A2B"/>
                </a:solidFill>
                <a:latin typeface="Calibri" panose="020F0502020204030204" pitchFamily="34" charset="0"/>
                <a:ea typeface="Calibri" panose="020F0502020204030204" pitchFamily="34" charset="-122"/>
                <a:cs typeface="Calibri" panose="020F0502020204030204" pitchFamily="34" charset="-120"/>
              </a:rPr>
              <a:t>TOOLCHAIN</a:t>
            </a:r>
            <a:endParaRPr lang="en-US" sz="1100" dirty="0"/>
          </a:p>
        </p:txBody>
      </p:sp>
      <p:sp>
        <p:nvSpPr>
          <p:cNvPr id="21" name="Shape 19"/>
          <p:cNvSpPr/>
          <p:nvPr/>
        </p:nvSpPr>
        <p:spPr>
          <a:xfrm>
            <a:off x="548640" y="5276088"/>
            <a:ext cx="100584" cy="100584"/>
          </a:xfrm>
          <a:prstGeom prst="ellipse">
            <a:avLst/>
          </a:prstGeom>
          <a:solidFill>
            <a:srgbClr val="0B2545"/>
          </a:solidFill>
        </p:spPr>
      </p:sp>
      <p:sp>
        <p:nvSpPr>
          <p:cNvPr id="22" name="Text 20"/>
          <p:cNvSpPr/>
          <p:nvPr/>
        </p:nvSpPr>
        <p:spPr>
          <a:xfrm>
            <a:off x="777240" y="5157216"/>
            <a:ext cx="6309360" cy="320040"/>
          </a:xfrm>
          <a:prstGeom prst="rect">
            <a:avLst/>
          </a:prstGeom>
          <a:noFill/>
        </p:spPr>
        <p:txBody>
          <a:bodyPr wrap="square" rtlCol="0" anchor="ctr"/>
          <a:lstStyle/>
          <a:p>
            <a:pPr marL="0" indent="0">
              <a:buNone/>
            </a:pPr>
            <a:r>
              <a:rPr lang="en-US" sz="1150" dirty="0">
                <a:solidFill>
                  <a:srgbClr val="44536B"/>
                </a:solidFill>
                <a:latin typeface="Calibri" panose="020F0502020204030204" pitchFamily="34" charset="0"/>
                <a:ea typeface="Calibri" panose="020F0502020204030204" pitchFamily="34" charset="-122"/>
                <a:cs typeface="Calibri" panose="020F0502020204030204" pitchFamily="34" charset="-120"/>
              </a:rPr>
              <a:t>Python (pandas) —-cleaning &amp; exploratory analysis</a:t>
            </a:r>
            <a:endParaRPr lang="en-US" sz="1150" dirty="0"/>
          </a:p>
        </p:txBody>
      </p:sp>
      <p:sp>
        <p:nvSpPr>
          <p:cNvPr id="23" name="Shape 21"/>
          <p:cNvSpPr/>
          <p:nvPr/>
        </p:nvSpPr>
        <p:spPr>
          <a:xfrm>
            <a:off x="548640" y="5641848"/>
            <a:ext cx="100584" cy="100584"/>
          </a:xfrm>
          <a:prstGeom prst="ellipse">
            <a:avLst/>
          </a:prstGeom>
          <a:solidFill>
            <a:srgbClr val="0B2545"/>
          </a:solidFill>
        </p:spPr>
      </p:sp>
      <p:sp>
        <p:nvSpPr>
          <p:cNvPr id="24" name="Text 22"/>
          <p:cNvSpPr/>
          <p:nvPr/>
        </p:nvSpPr>
        <p:spPr>
          <a:xfrm>
            <a:off x="777240" y="5522976"/>
            <a:ext cx="6309360" cy="320040"/>
          </a:xfrm>
          <a:prstGeom prst="rect">
            <a:avLst/>
          </a:prstGeom>
          <a:noFill/>
        </p:spPr>
        <p:txBody>
          <a:bodyPr wrap="square" rtlCol="0" anchor="ctr"/>
          <a:lstStyle/>
          <a:p>
            <a:pPr marL="0" indent="0">
              <a:buNone/>
            </a:pPr>
            <a:r>
              <a:rPr lang="en-US" sz="1150" dirty="0">
                <a:solidFill>
                  <a:srgbClr val="44536B"/>
                </a:solidFill>
                <a:latin typeface="Calibri" panose="020F0502020204030204" pitchFamily="34" charset="0"/>
                <a:ea typeface="Calibri" panose="020F0502020204030204" pitchFamily="34" charset="-122"/>
                <a:cs typeface="Calibri" panose="020F0502020204030204" pitchFamily="34" charset="-120"/>
              </a:rPr>
              <a:t>Statistical correlation testing across 6 hypotheses</a:t>
            </a:r>
            <a:endParaRPr lang="en-US" sz="1150" dirty="0"/>
          </a:p>
        </p:txBody>
      </p:sp>
      <p:sp>
        <p:nvSpPr>
          <p:cNvPr id="25" name="Shape 23"/>
          <p:cNvSpPr/>
          <p:nvPr/>
        </p:nvSpPr>
        <p:spPr>
          <a:xfrm>
            <a:off x="548640" y="6007608"/>
            <a:ext cx="100584" cy="100584"/>
          </a:xfrm>
          <a:prstGeom prst="ellipse">
            <a:avLst/>
          </a:prstGeom>
          <a:solidFill>
            <a:srgbClr val="0B2545"/>
          </a:solidFill>
        </p:spPr>
      </p:sp>
      <p:sp>
        <p:nvSpPr>
          <p:cNvPr id="26" name="Text 24"/>
          <p:cNvSpPr/>
          <p:nvPr/>
        </p:nvSpPr>
        <p:spPr>
          <a:xfrm>
            <a:off x="777240" y="5888736"/>
            <a:ext cx="6309360" cy="320040"/>
          </a:xfrm>
          <a:prstGeom prst="rect">
            <a:avLst/>
          </a:prstGeom>
          <a:noFill/>
        </p:spPr>
        <p:txBody>
          <a:bodyPr wrap="square" rtlCol="0" anchor="ctr"/>
          <a:lstStyle/>
          <a:p>
            <a:pPr marL="0" indent="0">
              <a:buNone/>
            </a:pPr>
            <a:r>
              <a:rPr lang="en-US" sz="1150" dirty="0">
                <a:solidFill>
                  <a:srgbClr val="44536B"/>
                </a:solidFill>
                <a:latin typeface="Calibri" panose="020F0502020204030204" pitchFamily="34" charset="0"/>
                <a:ea typeface="Calibri" panose="020F0502020204030204" pitchFamily="34" charset="-122"/>
                <a:cs typeface="Calibri" panose="020F0502020204030204" pitchFamily="34" charset="-120"/>
              </a:rPr>
              <a:t>Power BI - interactive executive dashboard</a:t>
            </a:r>
            <a:endParaRPr lang="en-US" sz="1150" dirty="0"/>
          </a:p>
        </p:txBody>
      </p:sp>
      <p:sp>
        <p:nvSpPr>
          <p:cNvPr id="27" name="Shape 25"/>
          <p:cNvSpPr/>
          <p:nvPr/>
        </p:nvSpPr>
        <p:spPr>
          <a:xfrm>
            <a:off x="7635240" y="1417320"/>
            <a:ext cx="3977640" cy="4937760"/>
          </a:xfrm>
          <a:prstGeom prst="rect">
            <a:avLst/>
          </a:prstGeom>
          <a:solidFill>
            <a:srgbClr val="0B2545"/>
          </a:solidFill>
        </p:spPr>
      </p:sp>
      <p:sp>
        <p:nvSpPr>
          <p:cNvPr id="28" name="Text 26"/>
          <p:cNvSpPr/>
          <p:nvPr/>
        </p:nvSpPr>
        <p:spPr>
          <a:xfrm>
            <a:off x="7909560" y="1645920"/>
            <a:ext cx="3474720" cy="274320"/>
          </a:xfrm>
          <a:prstGeom prst="rect">
            <a:avLst/>
          </a:prstGeom>
          <a:noFill/>
        </p:spPr>
        <p:txBody>
          <a:bodyPr wrap="square" rtlCol="0" anchor="ctr"/>
          <a:lstStyle/>
          <a:p>
            <a:pPr marL="0" indent="0">
              <a:buNone/>
            </a:pPr>
            <a:r>
              <a:rPr lang="en-US" sz="1050" b="1" kern="0" spc="150" dirty="0">
                <a:solidFill>
                  <a:srgbClr val="C79A3D"/>
                </a:solidFill>
                <a:latin typeface="Calibri" panose="020F0502020204030204" pitchFamily="34" charset="0"/>
                <a:ea typeface="Calibri" panose="020F0502020204030204" pitchFamily="34" charset="-122"/>
                <a:cs typeface="Calibri" panose="020F0502020204030204" pitchFamily="34" charset="-120"/>
              </a:rPr>
              <a:t>DATA DICTIONARY SNAPSHOT</a:t>
            </a:r>
            <a:endParaRPr lang="en-US" sz="1050" dirty="0"/>
          </a:p>
        </p:txBody>
      </p:sp>
      <p:sp>
        <p:nvSpPr>
          <p:cNvPr id="29" name="Text 27"/>
          <p:cNvSpPr/>
          <p:nvPr/>
        </p:nvSpPr>
        <p:spPr>
          <a:xfrm>
            <a:off x="7909560" y="2103120"/>
            <a:ext cx="3474720" cy="274320"/>
          </a:xfrm>
          <a:prstGeom prst="rect">
            <a:avLst/>
          </a:prstGeom>
          <a:noFill/>
        </p:spPr>
        <p:txBody>
          <a:bodyPr wrap="square" rtlCol="0" anchor="ctr"/>
          <a:lstStyle/>
          <a:p>
            <a:pPr marL="0" indent="0">
              <a:buNone/>
            </a:pPr>
            <a:r>
              <a:rPr lang="en-US" sz="1150" b="1" dirty="0">
                <a:solidFill>
                  <a:srgbClr val="FFFFFF"/>
                </a:solidFill>
                <a:latin typeface="Calibri" panose="020F0502020204030204" pitchFamily="34" charset="0"/>
                <a:ea typeface="Calibri" panose="020F0502020204030204" pitchFamily="34" charset="-122"/>
                <a:cs typeface="Calibri" panose="020F0502020204030204" pitchFamily="34" charset="-120"/>
              </a:rPr>
              <a:t>Down time Hours</a:t>
            </a:r>
            <a:endParaRPr lang="en-US" sz="1150" dirty="0"/>
          </a:p>
        </p:txBody>
      </p:sp>
      <p:sp>
        <p:nvSpPr>
          <p:cNvPr id="30" name="Text 28"/>
          <p:cNvSpPr/>
          <p:nvPr/>
        </p:nvSpPr>
        <p:spPr>
          <a:xfrm>
            <a:off x="7909560" y="2359152"/>
            <a:ext cx="3474720" cy="292608"/>
          </a:xfrm>
          <a:prstGeom prst="rect">
            <a:avLst/>
          </a:prstGeom>
          <a:noFill/>
        </p:spPr>
        <p:txBody>
          <a:bodyPr wrap="square" rtlCol="0" anchor="ctr"/>
          <a:lstStyle/>
          <a:p>
            <a:pPr marL="0" indent="0">
              <a:buNone/>
            </a:pPr>
            <a:r>
              <a:rPr lang="en-US" sz="950" i="1" dirty="0">
                <a:solidFill>
                  <a:srgbClr val="CADCFC"/>
                </a:solidFill>
                <a:latin typeface="Calibri" panose="020F0502020204030204" pitchFamily="34" charset="0"/>
                <a:ea typeface="Calibri" panose="020F0502020204030204" pitchFamily="34" charset="-122"/>
                <a:cs typeface="Calibri" panose="020F0502020204030204" pitchFamily="34" charset="-120"/>
              </a:rPr>
              <a:t>Critical KPI - unplanned stops</a:t>
            </a:r>
            <a:endParaRPr lang="en-US" sz="950" dirty="0"/>
          </a:p>
        </p:txBody>
      </p:sp>
      <p:sp>
        <p:nvSpPr>
          <p:cNvPr id="31" name="Text 29"/>
          <p:cNvSpPr/>
          <p:nvPr/>
        </p:nvSpPr>
        <p:spPr>
          <a:xfrm>
            <a:off x="7909560" y="2788920"/>
            <a:ext cx="3474720" cy="274320"/>
          </a:xfrm>
          <a:prstGeom prst="rect">
            <a:avLst/>
          </a:prstGeom>
          <a:noFill/>
        </p:spPr>
        <p:txBody>
          <a:bodyPr wrap="square" rtlCol="0" anchor="ctr"/>
          <a:lstStyle/>
          <a:p>
            <a:pPr marL="0" indent="0">
              <a:buNone/>
            </a:pPr>
            <a:r>
              <a:rPr lang="en-US" sz="1150" b="1" dirty="0">
                <a:solidFill>
                  <a:srgbClr val="FFFFFF"/>
                </a:solidFill>
                <a:latin typeface="Calibri" panose="020F0502020204030204" pitchFamily="34" charset="0"/>
                <a:ea typeface="Calibri" panose="020F0502020204030204" pitchFamily="34" charset="-122"/>
                <a:cs typeface="Calibri" panose="020F0502020204030204" pitchFamily="34" charset="-120"/>
              </a:rPr>
              <a:t>Scrap Rate</a:t>
            </a:r>
            <a:endParaRPr lang="en-US" sz="1150" dirty="0"/>
          </a:p>
        </p:txBody>
      </p:sp>
      <p:sp>
        <p:nvSpPr>
          <p:cNvPr id="32" name="Text 30"/>
          <p:cNvSpPr/>
          <p:nvPr/>
        </p:nvSpPr>
        <p:spPr>
          <a:xfrm>
            <a:off x="7909560" y="3044952"/>
            <a:ext cx="3474720" cy="292608"/>
          </a:xfrm>
          <a:prstGeom prst="rect">
            <a:avLst/>
          </a:prstGeom>
          <a:noFill/>
        </p:spPr>
        <p:txBody>
          <a:bodyPr wrap="square" rtlCol="0" anchor="ctr"/>
          <a:lstStyle/>
          <a:p>
            <a:pPr marL="0" indent="0">
              <a:buNone/>
            </a:pPr>
            <a:r>
              <a:rPr lang="en-US" sz="950" i="1" dirty="0">
                <a:solidFill>
                  <a:srgbClr val="CADCFC"/>
                </a:solidFill>
                <a:latin typeface="Calibri" panose="020F0502020204030204" pitchFamily="34" charset="0"/>
                <a:ea typeface="Calibri" panose="020F0502020204030204" pitchFamily="34" charset="-122"/>
                <a:cs typeface="Calibri" panose="020F0502020204030204" pitchFamily="34" charset="-120"/>
              </a:rPr>
              <a:t>Wasted material at setup</a:t>
            </a:r>
            <a:endParaRPr lang="en-US" sz="950" dirty="0"/>
          </a:p>
        </p:txBody>
      </p:sp>
      <p:sp>
        <p:nvSpPr>
          <p:cNvPr id="33" name="Text 31"/>
          <p:cNvSpPr/>
          <p:nvPr/>
        </p:nvSpPr>
        <p:spPr>
          <a:xfrm>
            <a:off x="7909560" y="3474720"/>
            <a:ext cx="3474720" cy="274320"/>
          </a:xfrm>
          <a:prstGeom prst="rect">
            <a:avLst/>
          </a:prstGeom>
          <a:noFill/>
        </p:spPr>
        <p:txBody>
          <a:bodyPr wrap="square" rtlCol="0" anchor="ctr"/>
          <a:lstStyle/>
          <a:p>
            <a:pPr marL="0" indent="0">
              <a:buNone/>
            </a:pPr>
            <a:r>
              <a:rPr lang="en-US" sz="1150" b="1" dirty="0">
                <a:solidFill>
                  <a:srgbClr val="FFFFFF"/>
                </a:solidFill>
                <a:latin typeface="Calibri" panose="020F0502020204030204" pitchFamily="34" charset="0"/>
                <a:ea typeface="Calibri" panose="020F0502020204030204" pitchFamily="34" charset="-122"/>
                <a:cs typeface="Calibri" panose="020F0502020204030204" pitchFamily="34" charset="-120"/>
              </a:rPr>
              <a:t>Rework Hours</a:t>
            </a:r>
            <a:endParaRPr lang="en-US" sz="1150" dirty="0"/>
          </a:p>
        </p:txBody>
      </p:sp>
      <p:sp>
        <p:nvSpPr>
          <p:cNvPr id="34" name="Text 32"/>
          <p:cNvSpPr/>
          <p:nvPr/>
        </p:nvSpPr>
        <p:spPr>
          <a:xfrm>
            <a:off x="7909560" y="3730752"/>
            <a:ext cx="3474720" cy="292608"/>
          </a:xfrm>
          <a:prstGeom prst="rect">
            <a:avLst/>
          </a:prstGeom>
          <a:noFill/>
        </p:spPr>
        <p:txBody>
          <a:bodyPr wrap="square" rtlCol="0" anchor="ctr"/>
          <a:lstStyle/>
          <a:p>
            <a:pPr marL="0" indent="0">
              <a:buNone/>
            </a:pPr>
            <a:r>
              <a:rPr lang="en-US" sz="950" i="1" dirty="0">
                <a:solidFill>
                  <a:srgbClr val="CADCFC"/>
                </a:solidFill>
                <a:latin typeface="Calibri" panose="020F0502020204030204" pitchFamily="34" charset="0"/>
                <a:ea typeface="Calibri" panose="020F0502020204030204" pitchFamily="34" charset="-122"/>
                <a:cs typeface="Calibri" panose="020F0502020204030204" pitchFamily="34" charset="-120"/>
              </a:rPr>
              <a:t>Hidden labour cost</a:t>
            </a:r>
            <a:endParaRPr lang="en-US" sz="950" dirty="0"/>
          </a:p>
        </p:txBody>
      </p:sp>
      <p:sp>
        <p:nvSpPr>
          <p:cNvPr id="35" name="Text 33"/>
          <p:cNvSpPr/>
          <p:nvPr/>
        </p:nvSpPr>
        <p:spPr>
          <a:xfrm>
            <a:off x="7909560" y="4160520"/>
            <a:ext cx="3474720" cy="274320"/>
          </a:xfrm>
          <a:prstGeom prst="rect">
            <a:avLst/>
          </a:prstGeom>
          <a:noFill/>
        </p:spPr>
        <p:txBody>
          <a:bodyPr wrap="square" rtlCol="0" anchor="ctr"/>
          <a:lstStyle/>
          <a:p>
            <a:pPr marL="0" indent="0">
              <a:buNone/>
            </a:pPr>
            <a:r>
              <a:rPr lang="en-US" sz="1150" b="1" dirty="0">
                <a:solidFill>
                  <a:srgbClr val="FFFFFF"/>
                </a:solidFill>
                <a:latin typeface="Calibri" panose="020F0502020204030204" pitchFamily="34" charset="0"/>
                <a:ea typeface="Calibri" panose="020F0502020204030204" pitchFamily="34" charset="-122"/>
                <a:cs typeface="Calibri" panose="020F0502020204030204" pitchFamily="34" charset="-120"/>
              </a:rPr>
              <a:t>Quality Checks Failed</a:t>
            </a:r>
            <a:endParaRPr lang="en-US" sz="1150" dirty="0"/>
          </a:p>
        </p:txBody>
      </p:sp>
      <p:sp>
        <p:nvSpPr>
          <p:cNvPr id="36" name="Text 34"/>
          <p:cNvSpPr/>
          <p:nvPr/>
        </p:nvSpPr>
        <p:spPr>
          <a:xfrm>
            <a:off x="7909560" y="4416552"/>
            <a:ext cx="3474720" cy="292608"/>
          </a:xfrm>
          <a:prstGeom prst="rect">
            <a:avLst/>
          </a:prstGeom>
          <a:noFill/>
        </p:spPr>
        <p:txBody>
          <a:bodyPr wrap="square" rtlCol="0" anchor="ctr"/>
          <a:lstStyle/>
          <a:p>
            <a:pPr marL="0" indent="0">
              <a:buNone/>
            </a:pPr>
            <a:r>
              <a:rPr lang="en-US" sz="950" i="1" dirty="0">
                <a:solidFill>
                  <a:srgbClr val="CADCFC"/>
                </a:solidFill>
                <a:latin typeface="Calibri" panose="020F0502020204030204" pitchFamily="34" charset="0"/>
                <a:ea typeface="Calibri" panose="020F0502020204030204" pitchFamily="34" charset="-122"/>
                <a:cs typeface="Calibri" panose="020F0502020204030204" pitchFamily="34" charset="-120"/>
              </a:rPr>
              <a:t>QA gate rejections</a:t>
            </a:r>
            <a:endParaRPr lang="en-US" sz="950" dirty="0"/>
          </a:p>
        </p:txBody>
      </p:sp>
      <p:sp>
        <p:nvSpPr>
          <p:cNvPr id="37" name="Text 35"/>
          <p:cNvSpPr/>
          <p:nvPr/>
        </p:nvSpPr>
        <p:spPr>
          <a:xfrm>
            <a:off x="7909560" y="4846320"/>
            <a:ext cx="3474720" cy="274320"/>
          </a:xfrm>
          <a:prstGeom prst="rect">
            <a:avLst/>
          </a:prstGeom>
          <a:noFill/>
        </p:spPr>
        <p:txBody>
          <a:bodyPr wrap="square" rtlCol="0" anchor="ctr"/>
          <a:lstStyle/>
          <a:p>
            <a:pPr marL="0" indent="0">
              <a:buNone/>
            </a:pPr>
            <a:r>
              <a:rPr lang="en-US" sz="1150" b="1" dirty="0">
                <a:solidFill>
                  <a:srgbClr val="FFFFFF"/>
                </a:solidFill>
                <a:latin typeface="Calibri" panose="020F0502020204030204" pitchFamily="34" charset="0"/>
                <a:ea typeface="Calibri" panose="020F0502020204030204" pitchFamily="34" charset="-122"/>
                <a:cs typeface="Calibri" panose="020F0502020204030204" pitchFamily="34" charset="-120"/>
              </a:rPr>
              <a:t>Avg. Temp / Humidity</a:t>
            </a:r>
            <a:endParaRPr lang="en-US" sz="1150" dirty="0"/>
          </a:p>
        </p:txBody>
      </p:sp>
      <p:sp>
        <p:nvSpPr>
          <p:cNvPr id="38" name="Text 36"/>
          <p:cNvSpPr/>
          <p:nvPr/>
        </p:nvSpPr>
        <p:spPr>
          <a:xfrm>
            <a:off x="7909560" y="5102352"/>
            <a:ext cx="3474720" cy="292608"/>
          </a:xfrm>
          <a:prstGeom prst="rect">
            <a:avLst/>
          </a:prstGeom>
          <a:noFill/>
        </p:spPr>
        <p:txBody>
          <a:bodyPr wrap="square" rtlCol="0" anchor="ctr"/>
          <a:lstStyle/>
          <a:p>
            <a:pPr marL="0" indent="0">
              <a:buNone/>
            </a:pPr>
            <a:r>
              <a:rPr lang="en-US" sz="950" i="1" dirty="0">
                <a:solidFill>
                  <a:srgbClr val="CADCFC"/>
                </a:solidFill>
                <a:latin typeface="Calibri" panose="020F0502020204030204" pitchFamily="34" charset="0"/>
                <a:ea typeface="Calibri" panose="020F0502020204030204" pitchFamily="34" charset="-122"/>
                <a:cs typeface="Calibri" panose="020F0502020204030204" pitchFamily="34" charset="-120"/>
              </a:rPr>
              <a:t>Climate tolerance check</a:t>
            </a:r>
            <a:endParaRPr lang="en-US" sz="950" dirty="0"/>
          </a:p>
        </p:txBody>
      </p:sp>
      <p:sp>
        <p:nvSpPr>
          <p:cNvPr id="39" name="Text 37"/>
          <p:cNvSpPr/>
          <p:nvPr/>
        </p:nvSpPr>
        <p:spPr>
          <a:xfrm>
            <a:off x="7909560" y="5532120"/>
            <a:ext cx="3474720" cy="274320"/>
          </a:xfrm>
          <a:prstGeom prst="rect">
            <a:avLst/>
          </a:prstGeom>
          <a:noFill/>
        </p:spPr>
        <p:txBody>
          <a:bodyPr wrap="square" rtlCol="0" anchor="ctr"/>
          <a:lstStyle/>
          <a:p>
            <a:pPr marL="0" indent="0">
              <a:buNone/>
            </a:pPr>
            <a:r>
              <a:rPr lang="en-US" sz="1150" b="1" dirty="0">
                <a:solidFill>
                  <a:srgbClr val="FFFFFF"/>
                </a:solidFill>
                <a:latin typeface="Calibri" panose="020F0502020204030204" pitchFamily="34" charset="0"/>
                <a:ea typeface="Calibri" panose="020F0502020204030204" pitchFamily="34" charset="-122"/>
                <a:cs typeface="Calibri" panose="020F0502020204030204" pitchFamily="34" charset="-120"/>
              </a:rPr>
              <a:t>Maintenance Hours</a:t>
            </a:r>
            <a:endParaRPr lang="en-US" sz="1150" dirty="0"/>
          </a:p>
        </p:txBody>
      </p:sp>
      <p:sp>
        <p:nvSpPr>
          <p:cNvPr id="40" name="Text 38"/>
          <p:cNvSpPr/>
          <p:nvPr/>
        </p:nvSpPr>
        <p:spPr>
          <a:xfrm>
            <a:off x="7909560" y="5788152"/>
            <a:ext cx="3474720" cy="292608"/>
          </a:xfrm>
          <a:prstGeom prst="rect">
            <a:avLst/>
          </a:prstGeom>
          <a:noFill/>
        </p:spPr>
        <p:txBody>
          <a:bodyPr wrap="square" rtlCol="0" anchor="ctr"/>
          <a:lstStyle/>
          <a:p>
            <a:pPr marL="0" indent="0">
              <a:buNone/>
            </a:pPr>
            <a:r>
              <a:rPr lang="en-US" sz="950" i="1" dirty="0">
                <a:solidFill>
                  <a:srgbClr val="CADCFC"/>
                </a:solidFill>
                <a:latin typeface="Calibri" panose="020F0502020204030204" pitchFamily="34" charset="0"/>
                <a:ea typeface="Calibri" panose="020F0502020204030204" pitchFamily="34" charset="-122"/>
                <a:cs typeface="Calibri" panose="020F0502020204030204" pitchFamily="34" charset="-120"/>
              </a:rPr>
              <a:t>Proactive vs. reactive care</a:t>
            </a:r>
            <a:endParaRPr lang="en-US" sz="950" dirty="0"/>
          </a:p>
        </p:txBody>
      </p:sp>
      <p:sp>
        <p:nvSpPr>
          <p:cNvPr id="41" name="Text 39"/>
          <p:cNvSpPr/>
          <p:nvPr/>
        </p:nvSpPr>
        <p:spPr>
          <a:xfrm>
            <a:off x="11551615" y="6473952"/>
            <a:ext cx="457200" cy="274320"/>
          </a:xfrm>
          <a:prstGeom prst="rect">
            <a:avLst/>
          </a:prstGeom>
          <a:noFill/>
        </p:spPr>
        <p:txBody>
          <a:bodyPr wrap="square" rtlCol="0" anchor="ctr"/>
          <a:lstStyle/>
          <a:p>
            <a:pPr marL="0" indent="0" algn="r">
              <a:buNone/>
            </a:pPr>
            <a:r>
              <a:rPr lang="en-US" sz="900" dirty="0">
                <a:solidFill>
                  <a:srgbClr val="8C9AB3"/>
                </a:solidFill>
                <a:latin typeface="Calibri" panose="020F0502020204030204" pitchFamily="34" charset="0"/>
                <a:ea typeface="Calibri" panose="020F0502020204030204" pitchFamily="34" charset="-122"/>
                <a:cs typeface="Calibri" panose="020F0502020204030204" pitchFamily="34" charset="-120"/>
              </a:rPr>
              <a:t>05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B2545"/>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274320"/>
          </a:xfrm>
          <a:prstGeom prst="rect">
            <a:avLst/>
          </a:prstGeom>
          <a:noFill/>
        </p:spPr>
        <p:txBody>
          <a:bodyPr wrap="square" rtlCol="0" anchor="ctr"/>
          <a:lstStyle/>
          <a:p>
            <a:pPr marL="0" indent="0">
              <a:buNone/>
            </a:pPr>
            <a:r>
              <a:rPr lang="en-US" sz="1200" b="1" kern="0" spc="200" dirty="0">
                <a:solidFill>
                  <a:srgbClr val="C79A3D"/>
                </a:solidFill>
                <a:latin typeface="Calibri" panose="020F0502020204030204" pitchFamily="34" charset="0"/>
                <a:ea typeface="Calibri" panose="020F0502020204030204" pitchFamily="34" charset="-122"/>
                <a:cs typeface="Calibri" panose="020F0502020204030204" pitchFamily="34" charset="-120"/>
              </a:rPr>
              <a:t>EXECUTIVE SUMMARY</a:t>
            </a:r>
            <a:endParaRPr lang="en-US" sz="1200" dirty="0"/>
          </a:p>
        </p:txBody>
      </p:sp>
      <p:sp>
        <p:nvSpPr>
          <p:cNvPr id="3" name="Text 1"/>
          <p:cNvSpPr/>
          <p:nvPr/>
        </p:nvSpPr>
        <p:spPr>
          <a:xfrm>
            <a:off x="548640" y="658368"/>
            <a:ext cx="11064240" cy="777240"/>
          </a:xfrm>
          <a:prstGeom prst="rect">
            <a:avLst/>
          </a:prstGeom>
          <a:noFill/>
        </p:spPr>
        <p:txBody>
          <a:bodyPr wrap="square" rtlCol="0" anchor="ctr"/>
          <a:lstStyle/>
          <a:p>
            <a:pPr marL="0" indent="0">
              <a:buNone/>
            </a:pPr>
            <a:r>
              <a:rPr lang="en-US" sz="2600" b="1" dirty="0">
                <a:solidFill>
                  <a:srgbClr val="FFFFFF"/>
                </a:solidFill>
                <a:latin typeface="Cambria" panose="02040503050406030204" pitchFamily="34" charset="0"/>
                <a:ea typeface="Cambria" panose="02040503050406030204" pitchFamily="34" charset="-122"/>
                <a:cs typeface="Cambria" panose="02040503050406030204" pitchFamily="34" charset="-120"/>
              </a:rPr>
              <a:t>The Headline Finding: It's Not One Fire - It's Many Small Ones</a:t>
            </a:r>
            <a:endParaRPr lang="en-US" sz="2600" dirty="0"/>
          </a:p>
        </p:txBody>
      </p:sp>
      <p:sp>
        <p:nvSpPr>
          <p:cNvPr id="4" name="Text 2"/>
          <p:cNvSpPr/>
          <p:nvPr/>
        </p:nvSpPr>
        <p:spPr>
          <a:xfrm>
            <a:off x="548640" y="1481328"/>
            <a:ext cx="11064240" cy="868680"/>
          </a:xfrm>
          <a:prstGeom prst="rect">
            <a:avLst/>
          </a:prstGeom>
          <a:noFill/>
        </p:spPr>
        <p:txBody>
          <a:bodyPr wrap="square" rtlCol="0" anchor="ctr"/>
          <a:lstStyle/>
          <a:p>
            <a:pPr marL="0" indent="0">
              <a:lnSpc>
                <a:spcPct val="130000"/>
              </a:lnSpc>
              <a:buNone/>
            </a:pPr>
            <a:r>
              <a:rPr lang="en-US" sz="1250" dirty="0">
                <a:solidFill>
                  <a:srgbClr val="CADCFC"/>
                </a:solidFill>
                <a:latin typeface="Calibri" panose="020F0502020204030204" pitchFamily="34" charset="0"/>
                <a:ea typeface="Calibri" panose="020F0502020204030204" pitchFamily="34" charset="-122"/>
                <a:cs typeface="Calibri" panose="020F0502020204030204" pitchFamily="34" charset="-120"/>
              </a:rPr>
              <a:t>Every major lever we normally blame for plant losses -temperature, humidity, headcount, maintenance hours, shift timing, product mix - was tested against the data. None of them meaningfully explains our downtime, defects or scrap. Losses are spread evenly across the operation, with one exception: a small group of machines that consistently underperform the fleet.</a:t>
            </a:r>
            <a:endParaRPr lang="en-US" sz="1250" dirty="0"/>
          </a:p>
        </p:txBody>
      </p:sp>
      <p:sp>
        <p:nvSpPr>
          <p:cNvPr id="5" name="Shape 3"/>
          <p:cNvSpPr/>
          <p:nvPr/>
        </p:nvSpPr>
        <p:spPr>
          <a:xfrm>
            <a:off x="548640" y="2606040"/>
            <a:ext cx="2130552" cy="3291840"/>
          </a:xfrm>
          <a:prstGeom prst="rect">
            <a:avLst/>
          </a:prstGeom>
          <a:solidFill>
            <a:srgbClr val="0F2E57"/>
          </a:solidFill>
          <a:ln w="9525">
            <a:solidFill>
              <a:srgbClr val="C79A3D"/>
            </a:solidFill>
            <a:prstDash val="solid"/>
          </a:ln>
        </p:spPr>
      </p:sp>
      <p:sp>
        <p:nvSpPr>
          <p:cNvPr id="6" name="Text 4"/>
          <p:cNvSpPr/>
          <p:nvPr/>
        </p:nvSpPr>
        <p:spPr>
          <a:xfrm>
            <a:off x="658368" y="2926080"/>
            <a:ext cx="1911096" cy="822960"/>
          </a:xfrm>
          <a:prstGeom prst="rect">
            <a:avLst/>
          </a:prstGeom>
          <a:noFill/>
        </p:spPr>
        <p:txBody>
          <a:bodyPr wrap="square" rtlCol="0" anchor="ctr"/>
          <a:lstStyle/>
          <a:p>
            <a:pPr marL="0" indent="0" algn="ctr">
              <a:buNone/>
            </a:pPr>
            <a:r>
              <a:rPr lang="en-US" sz="2500" b="1" dirty="0">
                <a:solidFill>
                  <a:srgbClr val="C79A3D"/>
                </a:solidFill>
                <a:latin typeface="Cambria" panose="02040503050406030204" pitchFamily="34" charset="0"/>
                <a:ea typeface="Cambria" panose="02040503050406030204" pitchFamily="34" charset="-122"/>
                <a:cs typeface="Cambria" panose="02040503050406030204" pitchFamily="34" charset="-120"/>
              </a:rPr>
              <a:t>375,113</a:t>
            </a:r>
            <a:endParaRPr lang="en-US" sz="2500" dirty="0"/>
          </a:p>
        </p:txBody>
      </p:sp>
      <p:sp>
        <p:nvSpPr>
          <p:cNvPr id="7" name="Text 5"/>
          <p:cNvSpPr/>
          <p:nvPr/>
        </p:nvSpPr>
        <p:spPr>
          <a:xfrm>
            <a:off x="658368" y="3840480"/>
            <a:ext cx="1911096" cy="548640"/>
          </a:xfrm>
          <a:prstGeom prst="rect">
            <a:avLst/>
          </a:prstGeom>
          <a:noFill/>
        </p:spPr>
        <p:txBody>
          <a:bodyPr wrap="square" rtlCol="0" anchor="ctr"/>
          <a:lstStyle/>
          <a:p>
            <a:pPr marL="0" indent="0" algn="ctr">
              <a:buNone/>
            </a:pPr>
            <a:r>
              <a:rPr lang="en-US" sz="1250" b="1" dirty="0">
                <a:solidFill>
                  <a:srgbClr val="FFFFFF"/>
                </a:solidFill>
                <a:latin typeface="Calibri" panose="020F0502020204030204" pitchFamily="34" charset="0"/>
                <a:ea typeface="Calibri" panose="020F0502020204030204" pitchFamily="34" charset="-122"/>
                <a:cs typeface="Calibri" panose="020F0502020204030204" pitchFamily="34" charset="-120"/>
              </a:rPr>
              <a:t>Units Produced</a:t>
            </a:r>
            <a:endParaRPr lang="en-US" sz="1250" dirty="0"/>
          </a:p>
        </p:txBody>
      </p:sp>
      <p:sp>
        <p:nvSpPr>
          <p:cNvPr id="8" name="Shape 6"/>
          <p:cNvSpPr/>
          <p:nvPr/>
        </p:nvSpPr>
        <p:spPr>
          <a:xfrm>
            <a:off x="1051560" y="4434840"/>
            <a:ext cx="1124712" cy="0"/>
          </a:xfrm>
          <a:prstGeom prst="line">
            <a:avLst/>
          </a:prstGeom>
          <a:noFill/>
          <a:ln w="9525">
            <a:solidFill>
              <a:srgbClr val="CADCFC">
                <a:alpha val="60000"/>
              </a:srgbClr>
            </a:solidFill>
            <a:prstDash val="solid"/>
          </a:ln>
        </p:spPr>
      </p:sp>
      <p:sp>
        <p:nvSpPr>
          <p:cNvPr id="9" name="Text 7"/>
          <p:cNvSpPr/>
          <p:nvPr/>
        </p:nvSpPr>
        <p:spPr>
          <a:xfrm>
            <a:off x="713232" y="4572000"/>
            <a:ext cx="1801368" cy="1097280"/>
          </a:xfrm>
          <a:prstGeom prst="rect">
            <a:avLst/>
          </a:prstGeom>
          <a:noFill/>
        </p:spPr>
        <p:txBody>
          <a:bodyPr wrap="square" rtlCol="0" anchor="ctr"/>
          <a:lstStyle/>
          <a:p>
            <a:pPr marL="0" indent="0" algn="ctr">
              <a:buNone/>
            </a:pPr>
            <a:r>
              <a:rPr lang="en-US" sz="1000" i="1" dirty="0">
                <a:solidFill>
                  <a:srgbClr val="CADCFC"/>
                </a:solidFill>
                <a:latin typeface="Calibri" panose="020F0502020204030204" pitchFamily="34" charset="0"/>
                <a:ea typeface="Calibri" panose="020F0502020204030204" pitchFamily="34" charset="-122"/>
                <a:cs typeface="Calibri" panose="020F0502020204030204" pitchFamily="34" charset="-120"/>
              </a:rPr>
              <a:t>across 8-year review period</a:t>
            </a:r>
            <a:endParaRPr lang="en-US" sz="1000" dirty="0"/>
          </a:p>
        </p:txBody>
      </p:sp>
      <p:sp>
        <p:nvSpPr>
          <p:cNvPr id="10" name="Shape 8"/>
          <p:cNvSpPr/>
          <p:nvPr/>
        </p:nvSpPr>
        <p:spPr>
          <a:xfrm>
            <a:off x="2848356" y="2606040"/>
            <a:ext cx="2130552" cy="3291840"/>
          </a:xfrm>
          <a:prstGeom prst="rect">
            <a:avLst/>
          </a:prstGeom>
          <a:solidFill>
            <a:srgbClr val="0F2E57"/>
          </a:solidFill>
          <a:ln w="9525">
            <a:solidFill>
              <a:srgbClr val="C79A3D"/>
            </a:solidFill>
            <a:prstDash val="solid"/>
          </a:ln>
        </p:spPr>
      </p:sp>
      <p:sp>
        <p:nvSpPr>
          <p:cNvPr id="11" name="Text 9"/>
          <p:cNvSpPr/>
          <p:nvPr/>
        </p:nvSpPr>
        <p:spPr>
          <a:xfrm>
            <a:off x="2958084" y="2926080"/>
            <a:ext cx="1911096" cy="822960"/>
          </a:xfrm>
          <a:prstGeom prst="rect">
            <a:avLst/>
          </a:prstGeom>
          <a:noFill/>
        </p:spPr>
        <p:txBody>
          <a:bodyPr wrap="square" rtlCol="0" anchor="ctr"/>
          <a:lstStyle/>
          <a:p>
            <a:pPr marL="0" indent="0" algn="ctr">
              <a:buNone/>
            </a:pPr>
            <a:r>
              <a:rPr lang="en-US" sz="2500" b="1" dirty="0">
                <a:solidFill>
                  <a:srgbClr val="C79A3D"/>
                </a:solidFill>
                <a:latin typeface="Cambria" panose="02040503050406030204" pitchFamily="34" charset="0"/>
                <a:ea typeface="Cambria" panose="02040503050406030204" pitchFamily="34" charset="-122"/>
                <a:cs typeface="Cambria" panose="02040503050406030204" pitchFamily="34" charset="-120"/>
              </a:rPr>
              <a:t>3.64%</a:t>
            </a:r>
            <a:endParaRPr lang="en-US" sz="2500" dirty="0"/>
          </a:p>
        </p:txBody>
      </p:sp>
      <p:sp>
        <p:nvSpPr>
          <p:cNvPr id="12" name="Text 10"/>
          <p:cNvSpPr/>
          <p:nvPr/>
        </p:nvSpPr>
        <p:spPr>
          <a:xfrm>
            <a:off x="2958084" y="3840480"/>
            <a:ext cx="1911096" cy="548640"/>
          </a:xfrm>
          <a:prstGeom prst="rect">
            <a:avLst/>
          </a:prstGeom>
          <a:noFill/>
        </p:spPr>
        <p:txBody>
          <a:bodyPr wrap="square" rtlCol="0" anchor="ctr"/>
          <a:lstStyle/>
          <a:p>
            <a:pPr marL="0" indent="0" algn="ctr">
              <a:buNone/>
            </a:pPr>
            <a:r>
              <a:rPr lang="en-US" sz="1250" b="1" dirty="0">
                <a:solidFill>
                  <a:srgbClr val="FFFFFF"/>
                </a:solidFill>
                <a:latin typeface="Calibri" panose="020F0502020204030204" pitchFamily="34" charset="0"/>
                <a:ea typeface="Calibri" panose="020F0502020204030204" pitchFamily="34" charset="-122"/>
                <a:cs typeface="Calibri" panose="020F0502020204030204" pitchFamily="34" charset="-120"/>
              </a:rPr>
              <a:t>Overall Defect Rate</a:t>
            </a:r>
            <a:endParaRPr lang="en-US" sz="1250" dirty="0"/>
          </a:p>
        </p:txBody>
      </p:sp>
      <p:sp>
        <p:nvSpPr>
          <p:cNvPr id="13" name="Shape 11"/>
          <p:cNvSpPr/>
          <p:nvPr/>
        </p:nvSpPr>
        <p:spPr>
          <a:xfrm>
            <a:off x="3351276" y="4434840"/>
            <a:ext cx="1124712" cy="0"/>
          </a:xfrm>
          <a:prstGeom prst="line">
            <a:avLst/>
          </a:prstGeom>
          <a:noFill/>
          <a:ln w="9525">
            <a:solidFill>
              <a:srgbClr val="CADCFC">
                <a:alpha val="60000"/>
              </a:srgbClr>
            </a:solidFill>
            <a:prstDash val="solid"/>
          </a:ln>
        </p:spPr>
      </p:sp>
      <p:sp>
        <p:nvSpPr>
          <p:cNvPr id="14" name="Text 12"/>
          <p:cNvSpPr/>
          <p:nvPr/>
        </p:nvSpPr>
        <p:spPr>
          <a:xfrm>
            <a:off x="3012948" y="4572000"/>
            <a:ext cx="1801368" cy="1097280"/>
          </a:xfrm>
          <a:prstGeom prst="rect">
            <a:avLst/>
          </a:prstGeom>
          <a:noFill/>
        </p:spPr>
        <p:txBody>
          <a:bodyPr wrap="square" rtlCol="0" anchor="ctr"/>
          <a:lstStyle/>
          <a:p>
            <a:pPr marL="0" indent="0" algn="ctr">
              <a:buNone/>
            </a:pPr>
            <a:r>
              <a:rPr lang="en-US" sz="1000" i="1" dirty="0">
                <a:solidFill>
                  <a:srgbClr val="CADCFC"/>
                </a:solidFill>
                <a:latin typeface="Calibri" panose="020F0502020204030204" pitchFamily="34" charset="0"/>
                <a:ea typeface="Calibri" panose="020F0502020204030204" pitchFamily="34" charset="-122"/>
                <a:cs typeface="Calibri" panose="020F0502020204030204" pitchFamily="34" charset="-120"/>
              </a:rPr>
              <a:t>13,655 total defects logged</a:t>
            </a:r>
            <a:endParaRPr lang="en-US" sz="1000" dirty="0"/>
          </a:p>
        </p:txBody>
      </p:sp>
      <p:sp>
        <p:nvSpPr>
          <p:cNvPr id="15" name="Shape 13"/>
          <p:cNvSpPr/>
          <p:nvPr/>
        </p:nvSpPr>
        <p:spPr>
          <a:xfrm>
            <a:off x="5148072" y="2606040"/>
            <a:ext cx="2130552" cy="3291840"/>
          </a:xfrm>
          <a:prstGeom prst="rect">
            <a:avLst/>
          </a:prstGeom>
          <a:solidFill>
            <a:srgbClr val="0F2E57"/>
          </a:solidFill>
          <a:ln w="9525">
            <a:solidFill>
              <a:srgbClr val="C79A3D"/>
            </a:solidFill>
            <a:prstDash val="solid"/>
          </a:ln>
        </p:spPr>
      </p:sp>
      <p:sp>
        <p:nvSpPr>
          <p:cNvPr id="16" name="Text 14"/>
          <p:cNvSpPr/>
          <p:nvPr/>
        </p:nvSpPr>
        <p:spPr>
          <a:xfrm>
            <a:off x="5257800" y="2926080"/>
            <a:ext cx="1911096" cy="822960"/>
          </a:xfrm>
          <a:prstGeom prst="rect">
            <a:avLst/>
          </a:prstGeom>
          <a:noFill/>
        </p:spPr>
        <p:txBody>
          <a:bodyPr wrap="square" rtlCol="0" anchor="ctr"/>
          <a:lstStyle/>
          <a:p>
            <a:pPr marL="0" indent="0" algn="ctr">
              <a:buNone/>
            </a:pPr>
            <a:r>
              <a:rPr lang="en-US" sz="2500" b="1" dirty="0">
                <a:solidFill>
                  <a:srgbClr val="C79A3D"/>
                </a:solidFill>
                <a:latin typeface="Cambria" panose="02040503050406030204" pitchFamily="34" charset="0"/>
                <a:ea typeface="Cambria" panose="02040503050406030204" pitchFamily="34" charset="-122"/>
                <a:cs typeface="Cambria" panose="02040503050406030204" pitchFamily="34" charset="-120"/>
              </a:rPr>
              <a:t>12.2%</a:t>
            </a:r>
            <a:endParaRPr lang="en-US" sz="2500" dirty="0"/>
          </a:p>
        </p:txBody>
      </p:sp>
      <p:sp>
        <p:nvSpPr>
          <p:cNvPr id="17" name="Text 15"/>
          <p:cNvSpPr/>
          <p:nvPr/>
        </p:nvSpPr>
        <p:spPr>
          <a:xfrm>
            <a:off x="5257800" y="3840480"/>
            <a:ext cx="1911096" cy="548640"/>
          </a:xfrm>
          <a:prstGeom prst="rect">
            <a:avLst/>
          </a:prstGeom>
          <a:noFill/>
        </p:spPr>
        <p:txBody>
          <a:bodyPr wrap="square" rtlCol="0" anchor="ctr"/>
          <a:lstStyle/>
          <a:p>
            <a:pPr marL="0" indent="0" algn="ctr">
              <a:buNone/>
            </a:pPr>
            <a:r>
              <a:rPr lang="en-US" sz="1250" b="1" dirty="0">
                <a:solidFill>
                  <a:srgbClr val="FFFFFF"/>
                </a:solidFill>
                <a:latin typeface="Calibri" panose="020F0502020204030204" pitchFamily="34" charset="0"/>
                <a:ea typeface="Calibri" panose="020F0502020204030204" pitchFamily="34" charset="-122"/>
                <a:cs typeface="Calibri" panose="020F0502020204030204" pitchFamily="34" charset="-120"/>
              </a:rPr>
              <a:t>Downtime-to-Production</a:t>
            </a:r>
            <a:endParaRPr lang="en-US" sz="1250" dirty="0"/>
          </a:p>
        </p:txBody>
      </p:sp>
      <p:sp>
        <p:nvSpPr>
          <p:cNvPr id="18" name="Shape 16"/>
          <p:cNvSpPr/>
          <p:nvPr/>
        </p:nvSpPr>
        <p:spPr>
          <a:xfrm>
            <a:off x="5650992" y="4434840"/>
            <a:ext cx="1124712" cy="0"/>
          </a:xfrm>
          <a:prstGeom prst="line">
            <a:avLst/>
          </a:prstGeom>
          <a:noFill/>
          <a:ln w="9525">
            <a:solidFill>
              <a:srgbClr val="CADCFC">
                <a:alpha val="60000"/>
              </a:srgbClr>
            </a:solidFill>
            <a:prstDash val="solid"/>
          </a:ln>
        </p:spPr>
      </p:sp>
      <p:sp>
        <p:nvSpPr>
          <p:cNvPr id="19" name="Text 17"/>
          <p:cNvSpPr/>
          <p:nvPr/>
        </p:nvSpPr>
        <p:spPr>
          <a:xfrm>
            <a:off x="5312664" y="4572000"/>
            <a:ext cx="1801368" cy="1097280"/>
          </a:xfrm>
          <a:prstGeom prst="rect">
            <a:avLst/>
          </a:prstGeom>
          <a:noFill/>
        </p:spPr>
        <p:txBody>
          <a:bodyPr wrap="square" rtlCol="0" anchor="ctr"/>
          <a:lstStyle/>
          <a:p>
            <a:pPr marL="0" indent="0" algn="ctr">
              <a:buNone/>
            </a:pPr>
            <a:r>
              <a:rPr lang="en-US" sz="1000" i="1" dirty="0">
                <a:solidFill>
                  <a:srgbClr val="CADCFC"/>
                </a:solidFill>
                <a:latin typeface="Calibri" panose="020F0502020204030204" pitchFamily="34" charset="0"/>
                <a:ea typeface="Calibri" panose="020F0502020204030204" pitchFamily="34" charset="-122"/>
                <a:cs typeface="Calibri" panose="020F0502020204030204" pitchFamily="34" charset="-120"/>
              </a:rPr>
              <a:t>4,613 hrs lost of 37,733 run</a:t>
            </a:r>
            <a:endParaRPr lang="en-US" sz="1000" dirty="0"/>
          </a:p>
        </p:txBody>
      </p:sp>
      <p:sp>
        <p:nvSpPr>
          <p:cNvPr id="20" name="Shape 18"/>
          <p:cNvSpPr/>
          <p:nvPr/>
        </p:nvSpPr>
        <p:spPr>
          <a:xfrm>
            <a:off x="7447788" y="2606040"/>
            <a:ext cx="2130552" cy="3291840"/>
          </a:xfrm>
          <a:prstGeom prst="rect">
            <a:avLst/>
          </a:prstGeom>
          <a:solidFill>
            <a:srgbClr val="0F2E57"/>
          </a:solidFill>
          <a:ln w="9525">
            <a:solidFill>
              <a:srgbClr val="C79A3D"/>
            </a:solidFill>
            <a:prstDash val="solid"/>
          </a:ln>
        </p:spPr>
      </p:sp>
      <p:sp>
        <p:nvSpPr>
          <p:cNvPr id="21" name="Text 19"/>
          <p:cNvSpPr/>
          <p:nvPr/>
        </p:nvSpPr>
        <p:spPr>
          <a:xfrm>
            <a:off x="7557516" y="2926080"/>
            <a:ext cx="1911096" cy="822960"/>
          </a:xfrm>
          <a:prstGeom prst="rect">
            <a:avLst/>
          </a:prstGeom>
          <a:noFill/>
        </p:spPr>
        <p:txBody>
          <a:bodyPr wrap="square" rtlCol="0" anchor="ctr"/>
          <a:lstStyle/>
          <a:p>
            <a:pPr marL="0" indent="0" algn="ctr">
              <a:buNone/>
            </a:pPr>
            <a:r>
              <a:rPr lang="en-US" sz="2500" b="1" dirty="0">
                <a:solidFill>
                  <a:srgbClr val="C79A3D"/>
                </a:solidFill>
                <a:latin typeface="Cambria" panose="02040503050406030204" pitchFamily="34" charset="0"/>
                <a:ea typeface="Cambria" panose="02040503050406030204" pitchFamily="34" charset="-122"/>
                <a:cs typeface="Cambria" panose="02040503050406030204" pitchFamily="34" charset="-120"/>
              </a:rPr>
              <a:t>7,522 hrs</a:t>
            </a:r>
            <a:endParaRPr lang="en-US" sz="2500" dirty="0"/>
          </a:p>
        </p:txBody>
      </p:sp>
      <p:sp>
        <p:nvSpPr>
          <p:cNvPr id="22" name="Text 20"/>
          <p:cNvSpPr/>
          <p:nvPr/>
        </p:nvSpPr>
        <p:spPr>
          <a:xfrm>
            <a:off x="7557516" y="3840480"/>
            <a:ext cx="1911096" cy="548640"/>
          </a:xfrm>
          <a:prstGeom prst="rect">
            <a:avLst/>
          </a:prstGeom>
          <a:noFill/>
        </p:spPr>
        <p:txBody>
          <a:bodyPr wrap="square" rtlCol="0" anchor="ctr"/>
          <a:lstStyle/>
          <a:p>
            <a:pPr marL="0" indent="0" algn="ctr">
              <a:buNone/>
            </a:pPr>
            <a:r>
              <a:rPr lang="en-US" sz="1250" b="1" dirty="0">
                <a:solidFill>
                  <a:srgbClr val="FFFFFF"/>
                </a:solidFill>
                <a:latin typeface="Calibri" panose="020F0502020204030204" pitchFamily="34" charset="0"/>
                <a:ea typeface="Calibri" panose="020F0502020204030204" pitchFamily="34" charset="-122"/>
                <a:cs typeface="Calibri" panose="020F0502020204030204" pitchFamily="34" charset="-120"/>
              </a:rPr>
              <a:t>Maintenance Invested</a:t>
            </a:r>
            <a:endParaRPr lang="en-US" sz="1250" dirty="0"/>
          </a:p>
        </p:txBody>
      </p:sp>
      <p:sp>
        <p:nvSpPr>
          <p:cNvPr id="23" name="Shape 21"/>
          <p:cNvSpPr/>
          <p:nvPr/>
        </p:nvSpPr>
        <p:spPr>
          <a:xfrm>
            <a:off x="7950708" y="4434840"/>
            <a:ext cx="1124712" cy="0"/>
          </a:xfrm>
          <a:prstGeom prst="line">
            <a:avLst/>
          </a:prstGeom>
          <a:noFill/>
          <a:ln w="9525">
            <a:solidFill>
              <a:srgbClr val="CADCFC">
                <a:alpha val="60000"/>
              </a:srgbClr>
            </a:solidFill>
            <a:prstDash val="solid"/>
          </a:ln>
        </p:spPr>
      </p:sp>
      <p:sp>
        <p:nvSpPr>
          <p:cNvPr id="24" name="Text 22"/>
          <p:cNvSpPr/>
          <p:nvPr/>
        </p:nvSpPr>
        <p:spPr>
          <a:xfrm>
            <a:off x="7612380" y="4572000"/>
            <a:ext cx="1801368" cy="1097280"/>
          </a:xfrm>
          <a:prstGeom prst="rect">
            <a:avLst/>
          </a:prstGeom>
          <a:noFill/>
        </p:spPr>
        <p:txBody>
          <a:bodyPr wrap="square" rtlCol="0" anchor="ctr"/>
          <a:lstStyle/>
          <a:p>
            <a:pPr marL="0" indent="0" algn="ctr">
              <a:buNone/>
            </a:pPr>
            <a:r>
              <a:rPr lang="en-US" sz="1000" i="1" dirty="0">
                <a:solidFill>
                  <a:srgbClr val="CADCFC"/>
                </a:solidFill>
                <a:latin typeface="Calibri" panose="020F0502020204030204" pitchFamily="34" charset="0"/>
                <a:ea typeface="Calibri" panose="020F0502020204030204" pitchFamily="34" charset="-122"/>
                <a:cs typeface="Calibri" panose="020F0502020204030204" pitchFamily="34" charset="-120"/>
              </a:rPr>
              <a:t>with no measurable downtime cut</a:t>
            </a:r>
            <a:endParaRPr lang="en-US" sz="1000" dirty="0"/>
          </a:p>
        </p:txBody>
      </p:sp>
      <p:sp>
        <p:nvSpPr>
          <p:cNvPr id="25" name="Shape 23"/>
          <p:cNvSpPr/>
          <p:nvPr/>
        </p:nvSpPr>
        <p:spPr>
          <a:xfrm>
            <a:off x="9747504" y="2606040"/>
            <a:ext cx="2130552" cy="3291840"/>
          </a:xfrm>
          <a:prstGeom prst="rect">
            <a:avLst/>
          </a:prstGeom>
          <a:solidFill>
            <a:srgbClr val="0F2E57"/>
          </a:solidFill>
          <a:ln w="9525">
            <a:solidFill>
              <a:srgbClr val="C79A3D"/>
            </a:solidFill>
            <a:prstDash val="solid"/>
          </a:ln>
        </p:spPr>
      </p:sp>
      <p:sp>
        <p:nvSpPr>
          <p:cNvPr id="26" name="Text 24"/>
          <p:cNvSpPr/>
          <p:nvPr/>
        </p:nvSpPr>
        <p:spPr>
          <a:xfrm>
            <a:off x="9857232" y="2926080"/>
            <a:ext cx="1911096" cy="822960"/>
          </a:xfrm>
          <a:prstGeom prst="rect">
            <a:avLst/>
          </a:prstGeom>
          <a:noFill/>
        </p:spPr>
        <p:txBody>
          <a:bodyPr wrap="square" rtlCol="0" anchor="ctr"/>
          <a:lstStyle/>
          <a:p>
            <a:pPr marL="0" indent="0" algn="ctr">
              <a:buNone/>
            </a:pPr>
            <a:r>
              <a:rPr lang="en-US" sz="2500" b="1" dirty="0">
                <a:solidFill>
                  <a:srgbClr val="C79A3D"/>
                </a:solidFill>
                <a:latin typeface="Cambria" panose="02040503050406030204" pitchFamily="34" charset="0"/>
                <a:ea typeface="Cambria" panose="02040503050406030204" pitchFamily="34" charset="-122"/>
                <a:cs typeface="Cambria" panose="02040503050406030204" pitchFamily="34" charset="-120"/>
              </a:rPr>
              <a:t>4 Machines</a:t>
            </a:r>
            <a:endParaRPr lang="en-US" sz="2500" dirty="0"/>
          </a:p>
        </p:txBody>
      </p:sp>
      <p:sp>
        <p:nvSpPr>
          <p:cNvPr id="27" name="Text 25"/>
          <p:cNvSpPr/>
          <p:nvPr/>
        </p:nvSpPr>
        <p:spPr>
          <a:xfrm>
            <a:off x="9857232" y="3840480"/>
            <a:ext cx="1911096" cy="548640"/>
          </a:xfrm>
          <a:prstGeom prst="rect">
            <a:avLst/>
          </a:prstGeom>
          <a:noFill/>
        </p:spPr>
        <p:txBody>
          <a:bodyPr wrap="square" rtlCol="0" anchor="ctr"/>
          <a:lstStyle/>
          <a:p>
            <a:pPr marL="0" indent="0" algn="ctr">
              <a:buNone/>
            </a:pPr>
            <a:r>
              <a:rPr lang="en-US" sz="1250" b="1" dirty="0">
                <a:solidFill>
                  <a:srgbClr val="FFFFFF"/>
                </a:solidFill>
                <a:latin typeface="Calibri" panose="020F0502020204030204" pitchFamily="34" charset="0"/>
                <a:ea typeface="Calibri" panose="020F0502020204030204" pitchFamily="34" charset="-122"/>
                <a:cs typeface="Calibri" panose="020F0502020204030204" pitchFamily="34" charset="-120"/>
              </a:rPr>
              <a:t>Flagged High-Risk</a:t>
            </a:r>
            <a:endParaRPr lang="en-US" sz="1250" dirty="0"/>
          </a:p>
        </p:txBody>
      </p:sp>
      <p:sp>
        <p:nvSpPr>
          <p:cNvPr id="28" name="Shape 26"/>
          <p:cNvSpPr/>
          <p:nvPr/>
        </p:nvSpPr>
        <p:spPr>
          <a:xfrm>
            <a:off x="10250424" y="4434840"/>
            <a:ext cx="1124712" cy="0"/>
          </a:xfrm>
          <a:prstGeom prst="line">
            <a:avLst/>
          </a:prstGeom>
          <a:noFill/>
          <a:ln w="9525">
            <a:solidFill>
              <a:srgbClr val="CADCFC">
                <a:alpha val="60000"/>
              </a:srgbClr>
            </a:solidFill>
            <a:prstDash val="solid"/>
          </a:ln>
        </p:spPr>
      </p:sp>
      <p:sp>
        <p:nvSpPr>
          <p:cNvPr id="29" name="Text 27"/>
          <p:cNvSpPr/>
          <p:nvPr/>
        </p:nvSpPr>
        <p:spPr>
          <a:xfrm>
            <a:off x="9912096" y="4572000"/>
            <a:ext cx="1801368" cy="1097280"/>
          </a:xfrm>
          <a:prstGeom prst="rect">
            <a:avLst/>
          </a:prstGeom>
          <a:noFill/>
        </p:spPr>
        <p:txBody>
          <a:bodyPr wrap="square" rtlCol="0" anchor="ctr"/>
          <a:lstStyle/>
          <a:p>
            <a:pPr marL="0" indent="0" algn="ctr">
              <a:buNone/>
            </a:pPr>
            <a:r>
              <a:rPr lang="en-US" sz="1000" i="1" dirty="0">
                <a:solidFill>
                  <a:srgbClr val="CADCFC"/>
                </a:solidFill>
                <a:latin typeface="Calibri" panose="020F0502020204030204" pitchFamily="34" charset="0"/>
                <a:ea typeface="Calibri" panose="020F0502020204030204" pitchFamily="34" charset="-122"/>
                <a:cs typeface="Calibri" panose="020F0502020204030204" pitchFamily="34" charset="-120"/>
              </a:rPr>
              <a:t>IDs 6, 9, 11 &amp; 18</a:t>
            </a:r>
            <a:endParaRPr lang="en-US" sz="1000" dirty="0"/>
          </a:p>
        </p:txBody>
      </p:sp>
      <p:sp>
        <p:nvSpPr>
          <p:cNvPr id="30" name="Text 28"/>
          <p:cNvSpPr/>
          <p:nvPr/>
        </p:nvSpPr>
        <p:spPr>
          <a:xfrm>
            <a:off x="11551615" y="6473952"/>
            <a:ext cx="457200" cy="274320"/>
          </a:xfrm>
          <a:prstGeom prst="rect">
            <a:avLst/>
          </a:prstGeom>
          <a:noFill/>
        </p:spPr>
        <p:txBody>
          <a:bodyPr wrap="square" rtlCol="0" anchor="ctr"/>
          <a:lstStyle/>
          <a:p>
            <a:pPr marL="0" indent="0" algn="r">
              <a:buNone/>
            </a:pPr>
            <a:r>
              <a:rPr lang="en-US" sz="900" dirty="0">
                <a:solidFill>
                  <a:srgbClr val="8C9AB3"/>
                </a:solidFill>
                <a:latin typeface="Calibri" panose="020F0502020204030204" pitchFamily="34" charset="0"/>
                <a:ea typeface="Calibri" panose="020F0502020204030204" pitchFamily="34" charset="-122"/>
                <a:cs typeface="Calibri" panose="020F0502020204030204" pitchFamily="34" charset="-120"/>
              </a:rPr>
              <a:t>06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274320"/>
          </a:xfrm>
          <a:prstGeom prst="rect">
            <a:avLst/>
          </a:prstGeom>
          <a:noFill/>
        </p:spPr>
        <p:txBody>
          <a:bodyPr wrap="square" rtlCol="0" anchor="ctr"/>
          <a:lstStyle/>
          <a:p>
            <a:pPr marL="0" indent="0">
              <a:buNone/>
            </a:pPr>
            <a:r>
              <a:rPr lang="en-US" sz="1200" b="1" kern="0" spc="200" dirty="0">
                <a:solidFill>
                  <a:srgbClr val="9C7A2B"/>
                </a:solidFill>
                <a:latin typeface="Calibri" panose="020F0502020204030204" pitchFamily="34" charset="0"/>
                <a:ea typeface="Calibri" panose="020F0502020204030204" pitchFamily="34" charset="-122"/>
                <a:cs typeface="Calibri" panose="020F0502020204030204" pitchFamily="34" charset="-120"/>
              </a:rPr>
              <a:t>INVESTIGATION 01 -ASSET RELIABILITY</a:t>
            </a:r>
            <a:endParaRPr lang="en-US" sz="1200" dirty="0"/>
          </a:p>
        </p:txBody>
      </p:sp>
      <p:sp>
        <p:nvSpPr>
          <p:cNvPr id="3" name="Text 1"/>
          <p:cNvSpPr/>
          <p:nvPr/>
        </p:nvSpPr>
        <p:spPr>
          <a:xfrm>
            <a:off x="548640" y="658368"/>
            <a:ext cx="10789920" cy="640080"/>
          </a:xfrm>
          <a:prstGeom prst="rect">
            <a:avLst/>
          </a:prstGeom>
          <a:noFill/>
        </p:spPr>
        <p:txBody>
          <a:bodyPr wrap="square" rtlCol="0" anchor="ctr"/>
          <a:lstStyle/>
          <a:p>
            <a:pPr marL="0" indent="0" algn="l">
              <a:buNone/>
            </a:pPr>
            <a:r>
              <a:rPr lang="en-US" sz="3000" b="1" dirty="0">
                <a:solidFill>
                  <a:srgbClr val="0B2545"/>
                </a:solidFill>
                <a:latin typeface="Cambria" panose="02040503050406030204" pitchFamily="34" charset="0"/>
                <a:ea typeface="Cambria" panose="02040503050406030204" pitchFamily="34" charset="-122"/>
                <a:cs typeface="Cambria" panose="02040503050406030204" pitchFamily="34" charset="-120"/>
              </a:rPr>
              <a:t>Five Machines Are Losing More Time Than the Rest of the Fleet</a:t>
            </a:r>
            <a:endParaRPr lang="en-US" sz="3000" dirty="0"/>
          </a:p>
        </p:txBody>
      </p:sp>
      <p:graphicFrame>
        <p:nvGraphicFramePr>
          <p:cNvPr id="4" name="Chart 0"/>
          <p:cNvGraphicFramePr/>
          <p:nvPr/>
        </p:nvGraphicFramePr>
        <p:xfrm>
          <a:off x="457200" y="1417320"/>
          <a:ext cx="7818120" cy="5029200"/>
        </p:xfrm>
        <a:graphic>
          <a:graphicData uri="http://schemas.openxmlformats.org/drawingml/2006/chart">
            <c:chart xmlns:c="http://schemas.openxmlformats.org/drawingml/2006/chart" xmlns:r="http://schemas.openxmlformats.org/officeDocument/2006/relationships" r:id="rId1"/>
          </a:graphicData>
        </a:graphic>
      </p:graphicFrame>
      <p:sp>
        <p:nvSpPr>
          <p:cNvPr id="5" name="Shape 2"/>
          <p:cNvSpPr/>
          <p:nvPr/>
        </p:nvSpPr>
        <p:spPr>
          <a:xfrm>
            <a:off x="457200" y="2918536"/>
            <a:ext cx="7818120" cy="0"/>
          </a:xfrm>
          <a:prstGeom prst="line">
            <a:avLst/>
          </a:prstGeom>
          <a:noFill/>
          <a:ln w="15875">
            <a:solidFill>
              <a:srgbClr val="9C7A2B"/>
            </a:solidFill>
            <a:prstDash val="dash"/>
          </a:ln>
        </p:spPr>
      </p:sp>
      <p:sp>
        <p:nvSpPr>
          <p:cNvPr id="6" name="Shape 3"/>
          <p:cNvSpPr/>
          <p:nvPr/>
        </p:nvSpPr>
        <p:spPr>
          <a:xfrm>
            <a:off x="8458200" y="1417320"/>
            <a:ext cx="3200400" cy="5029200"/>
          </a:xfrm>
          <a:prstGeom prst="rect">
            <a:avLst/>
          </a:prstGeom>
          <a:solidFill>
            <a:srgbClr val="E9EFFB"/>
          </a:solidFill>
        </p:spPr>
      </p:sp>
      <p:sp>
        <p:nvSpPr>
          <p:cNvPr id="7" name="Text 4"/>
          <p:cNvSpPr/>
          <p:nvPr/>
        </p:nvSpPr>
        <p:spPr>
          <a:xfrm>
            <a:off x="8686800" y="1645920"/>
            <a:ext cx="2743200" cy="274320"/>
          </a:xfrm>
          <a:prstGeom prst="rect">
            <a:avLst/>
          </a:prstGeom>
          <a:noFill/>
        </p:spPr>
        <p:txBody>
          <a:bodyPr wrap="square" rtlCol="0" anchor="ctr"/>
          <a:lstStyle/>
          <a:p>
            <a:pPr marL="0" indent="0">
              <a:buNone/>
            </a:pPr>
            <a:r>
              <a:rPr lang="en-US" sz="1000" b="1" kern="0" spc="150" dirty="0">
                <a:solidFill>
                  <a:srgbClr val="9C7A2B"/>
                </a:solidFill>
                <a:latin typeface="Calibri" panose="020F0502020204030204" pitchFamily="34" charset="0"/>
                <a:ea typeface="Calibri" panose="020F0502020204030204" pitchFamily="34" charset="-122"/>
                <a:cs typeface="Calibri" panose="020F0502020204030204" pitchFamily="34" charset="-120"/>
              </a:rPr>
              <a:t>FLEET AVERAGE</a:t>
            </a:r>
            <a:endParaRPr lang="en-US" sz="1000" dirty="0"/>
          </a:p>
        </p:txBody>
      </p:sp>
      <p:sp>
        <p:nvSpPr>
          <p:cNvPr id="8" name="Text 5"/>
          <p:cNvSpPr/>
          <p:nvPr/>
        </p:nvSpPr>
        <p:spPr>
          <a:xfrm>
            <a:off x="8686800" y="1874520"/>
            <a:ext cx="2743200" cy="640080"/>
          </a:xfrm>
          <a:prstGeom prst="rect">
            <a:avLst/>
          </a:prstGeom>
          <a:noFill/>
        </p:spPr>
        <p:txBody>
          <a:bodyPr wrap="square" rtlCol="0" anchor="ctr"/>
          <a:lstStyle/>
          <a:p>
            <a:pPr marL="0" indent="0">
              <a:buNone/>
            </a:pPr>
            <a:r>
              <a:rPr lang="en-US" sz="3000" b="1" dirty="0">
                <a:solidFill>
                  <a:srgbClr val="0B2545"/>
                </a:solidFill>
                <a:latin typeface="Cambria" panose="02040503050406030204" pitchFamily="34" charset="0"/>
                <a:ea typeface="Cambria" panose="02040503050406030204" pitchFamily="34" charset="-122"/>
                <a:cs typeface="Cambria" panose="02040503050406030204" pitchFamily="34" charset="-120"/>
              </a:rPr>
              <a:t>12.2%</a:t>
            </a:r>
            <a:endParaRPr lang="en-US" sz="3000" dirty="0"/>
          </a:p>
        </p:txBody>
      </p:sp>
      <p:sp>
        <p:nvSpPr>
          <p:cNvPr id="9" name="Text 6"/>
          <p:cNvSpPr/>
          <p:nvPr/>
        </p:nvSpPr>
        <p:spPr>
          <a:xfrm>
            <a:off x="8686800" y="2514600"/>
            <a:ext cx="2743200" cy="594360"/>
          </a:xfrm>
          <a:prstGeom prst="rect">
            <a:avLst/>
          </a:prstGeom>
          <a:noFill/>
        </p:spPr>
        <p:txBody>
          <a:bodyPr wrap="square" rtlCol="0" anchor="ctr"/>
          <a:lstStyle/>
          <a:p>
            <a:pPr marL="0" indent="0">
              <a:buNone/>
            </a:pPr>
            <a:r>
              <a:rPr lang="en-US" sz="1050" dirty="0">
                <a:solidFill>
                  <a:srgbClr val="44536B"/>
                </a:solidFill>
                <a:latin typeface="Calibri" panose="020F0502020204030204" pitchFamily="34" charset="0"/>
                <a:ea typeface="Calibri" panose="020F0502020204030204" pitchFamily="34" charset="-122"/>
                <a:cs typeface="Calibri" panose="020F0502020204030204" pitchFamily="34" charset="-120"/>
              </a:rPr>
              <a:t>of active production time lost to unplanned downtime, fleet-wide.</a:t>
            </a:r>
            <a:endParaRPr lang="en-US" sz="1050" dirty="0"/>
          </a:p>
        </p:txBody>
      </p:sp>
      <p:sp>
        <p:nvSpPr>
          <p:cNvPr id="10" name="Shape 7"/>
          <p:cNvSpPr/>
          <p:nvPr/>
        </p:nvSpPr>
        <p:spPr>
          <a:xfrm>
            <a:off x="8686800" y="3246120"/>
            <a:ext cx="2377440" cy="0"/>
          </a:xfrm>
          <a:prstGeom prst="line">
            <a:avLst/>
          </a:prstGeom>
          <a:noFill/>
          <a:ln w="12700">
            <a:solidFill>
              <a:srgbClr val="CADCFC"/>
            </a:solidFill>
            <a:prstDash val="solid"/>
          </a:ln>
        </p:spPr>
      </p:sp>
      <p:sp>
        <p:nvSpPr>
          <p:cNvPr id="11" name="Text 8"/>
          <p:cNvSpPr/>
          <p:nvPr/>
        </p:nvSpPr>
        <p:spPr>
          <a:xfrm>
            <a:off x="8686800" y="3429000"/>
            <a:ext cx="2743200" cy="274320"/>
          </a:xfrm>
          <a:prstGeom prst="rect">
            <a:avLst/>
          </a:prstGeom>
          <a:noFill/>
        </p:spPr>
        <p:txBody>
          <a:bodyPr wrap="square" rtlCol="0" anchor="ctr"/>
          <a:lstStyle/>
          <a:p>
            <a:pPr marL="0" indent="0">
              <a:buNone/>
            </a:pPr>
            <a:r>
              <a:rPr lang="en-US" sz="1000" b="1" kern="0" spc="150" dirty="0">
                <a:solidFill>
                  <a:srgbClr val="B0453C"/>
                </a:solidFill>
                <a:latin typeface="Calibri" panose="020F0502020204030204" pitchFamily="34" charset="0"/>
                <a:ea typeface="Calibri" panose="020F0502020204030204" pitchFamily="34" charset="-122"/>
                <a:cs typeface="Calibri" panose="020F0502020204030204" pitchFamily="34" charset="-120"/>
              </a:rPr>
              <a:t>THE FIVE OUTLIERS</a:t>
            </a:r>
            <a:endParaRPr lang="en-US" sz="1000" dirty="0"/>
          </a:p>
        </p:txBody>
      </p:sp>
      <p:sp>
        <p:nvSpPr>
          <p:cNvPr id="12" name="Text 9"/>
          <p:cNvSpPr/>
          <p:nvPr/>
        </p:nvSpPr>
        <p:spPr>
          <a:xfrm>
            <a:off x="8686800" y="3657600"/>
            <a:ext cx="2743200" cy="1005840"/>
          </a:xfrm>
          <a:prstGeom prst="rect">
            <a:avLst/>
          </a:prstGeom>
          <a:noFill/>
        </p:spPr>
        <p:txBody>
          <a:bodyPr wrap="square" rtlCol="0" anchor="ctr"/>
          <a:lstStyle/>
          <a:p>
            <a:pPr marL="0" indent="0">
              <a:lnSpc>
                <a:spcPct val="125000"/>
              </a:lnSpc>
              <a:buNone/>
            </a:pPr>
            <a:r>
              <a:rPr lang="en-US" sz="1050" dirty="0">
                <a:solidFill>
                  <a:srgbClr val="44536B"/>
                </a:solidFill>
                <a:latin typeface="Calibri" panose="020F0502020204030204" pitchFamily="34" charset="0"/>
                <a:ea typeface="Calibri" panose="020F0502020204030204" pitchFamily="34" charset="-122"/>
                <a:cs typeface="Calibri" panose="020F0502020204030204" pitchFamily="34" charset="-120"/>
              </a:rPr>
              <a:t>Machines 6, 11, 9, 7 &amp; 12 each lose 13.0-14.0% of running time - a real, addressable gap above the fleet norm.</a:t>
            </a:r>
            <a:endParaRPr lang="en-US" sz="1050" dirty="0"/>
          </a:p>
        </p:txBody>
      </p:sp>
      <p:sp>
        <p:nvSpPr>
          <p:cNvPr id="13" name="Text 10"/>
          <p:cNvSpPr/>
          <p:nvPr/>
        </p:nvSpPr>
        <p:spPr>
          <a:xfrm>
            <a:off x="8686800" y="4892040"/>
            <a:ext cx="2743200" cy="1417320"/>
          </a:xfrm>
          <a:prstGeom prst="rect">
            <a:avLst/>
          </a:prstGeom>
          <a:noFill/>
        </p:spPr>
        <p:txBody>
          <a:bodyPr wrap="square" rtlCol="0" anchor="ctr"/>
          <a:lstStyle/>
          <a:p>
            <a:pPr marL="0" indent="0">
              <a:buNone/>
            </a:pPr>
            <a:r>
              <a:rPr lang="en-US" sz="1000" i="1" dirty="0">
                <a:solidFill>
                  <a:srgbClr val="0B2545"/>
                </a:solidFill>
                <a:latin typeface="Calibri" panose="020F0502020204030204" pitchFamily="34" charset="0"/>
                <a:ea typeface="Calibri" panose="020F0502020204030204" pitchFamily="34" charset="-122"/>
                <a:cs typeface="Calibri" panose="020F0502020204030204" pitchFamily="34" charset="-120"/>
              </a:rPr>
              <a:t>This is a spread, not a single outlier - which is why the fix has to be targeted engineering inspection, not a blanket policy change.</a:t>
            </a:r>
            <a:endParaRPr lang="en-US" sz="1000" dirty="0"/>
          </a:p>
        </p:txBody>
      </p:sp>
      <p:sp>
        <p:nvSpPr>
          <p:cNvPr id="14" name="Text 11"/>
          <p:cNvSpPr/>
          <p:nvPr/>
        </p:nvSpPr>
        <p:spPr>
          <a:xfrm>
            <a:off x="11551615" y="6473952"/>
            <a:ext cx="457200" cy="274320"/>
          </a:xfrm>
          <a:prstGeom prst="rect">
            <a:avLst/>
          </a:prstGeom>
          <a:noFill/>
        </p:spPr>
        <p:txBody>
          <a:bodyPr wrap="square" rtlCol="0" anchor="ctr"/>
          <a:lstStyle/>
          <a:p>
            <a:pPr marL="0" indent="0" algn="r">
              <a:buNone/>
            </a:pPr>
            <a:r>
              <a:rPr lang="en-US" sz="900" dirty="0">
                <a:solidFill>
                  <a:srgbClr val="8C9AB3"/>
                </a:solidFill>
                <a:latin typeface="Calibri" panose="020F0502020204030204" pitchFamily="34" charset="0"/>
                <a:ea typeface="Calibri" panose="020F0502020204030204" pitchFamily="34" charset="-122"/>
                <a:cs typeface="Calibri" panose="020F0502020204030204" pitchFamily="34" charset="-120"/>
              </a:rPr>
              <a:t>07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274320"/>
          </a:xfrm>
          <a:prstGeom prst="rect">
            <a:avLst/>
          </a:prstGeom>
          <a:noFill/>
        </p:spPr>
        <p:txBody>
          <a:bodyPr wrap="square" rtlCol="0" anchor="ctr"/>
          <a:lstStyle/>
          <a:p>
            <a:pPr marL="0" indent="0">
              <a:buNone/>
            </a:pPr>
            <a:r>
              <a:rPr lang="en-US" sz="1200" b="1" kern="0" spc="200" dirty="0">
                <a:solidFill>
                  <a:srgbClr val="9C7A2B"/>
                </a:solidFill>
                <a:latin typeface="Calibri" panose="020F0502020204030204" pitchFamily="34" charset="0"/>
                <a:ea typeface="Calibri" panose="020F0502020204030204" pitchFamily="34" charset="-122"/>
                <a:cs typeface="Calibri" panose="020F0502020204030204" pitchFamily="34" charset="-120"/>
              </a:rPr>
              <a:t>INVESTIGATION 01 (CONT.) -THE MAINTENANCE PARADOX</a:t>
            </a:r>
            <a:endParaRPr lang="en-US" sz="1200" dirty="0"/>
          </a:p>
        </p:txBody>
      </p:sp>
      <p:sp>
        <p:nvSpPr>
          <p:cNvPr id="3" name="Text 1"/>
          <p:cNvSpPr/>
          <p:nvPr/>
        </p:nvSpPr>
        <p:spPr>
          <a:xfrm>
            <a:off x="548640" y="658368"/>
            <a:ext cx="10789920" cy="640080"/>
          </a:xfrm>
          <a:prstGeom prst="rect">
            <a:avLst/>
          </a:prstGeom>
          <a:noFill/>
        </p:spPr>
        <p:txBody>
          <a:bodyPr wrap="square" rtlCol="0" anchor="ctr"/>
          <a:lstStyle/>
          <a:p>
            <a:pPr marL="0" indent="0" algn="l">
              <a:buNone/>
            </a:pPr>
            <a:r>
              <a:rPr lang="en-US" sz="3000" b="1" dirty="0">
                <a:solidFill>
                  <a:srgbClr val="0B2545"/>
                </a:solidFill>
                <a:latin typeface="Cambria" panose="02040503050406030204" pitchFamily="34" charset="0"/>
                <a:ea typeface="Cambria" panose="02040503050406030204" pitchFamily="34" charset="-122"/>
                <a:cs typeface="Cambria" panose="02040503050406030204" pitchFamily="34" charset="-120"/>
              </a:rPr>
              <a:t>More Maintenance Hours Are Not Buying Less Downtime</a:t>
            </a:r>
            <a:endParaRPr lang="en-US" sz="3000" dirty="0"/>
          </a:p>
        </p:txBody>
      </p:sp>
      <p:graphicFrame>
        <p:nvGraphicFramePr>
          <p:cNvPr id="4" name="Chart 0"/>
          <p:cNvGraphicFramePr/>
          <p:nvPr/>
        </p:nvGraphicFramePr>
        <p:xfrm>
          <a:off x="457200" y="1554480"/>
          <a:ext cx="6766560" cy="4480560"/>
        </p:xfrm>
        <a:graphic>
          <a:graphicData uri="http://schemas.openxmlformats.org/drawingml/2006/chart">
            <c:chart xmlns:c="http://schemas.openxmlformats.org/drawingml/2006/chart" xmlns:r="http://schemas.openxmlformats.org/officeDocument/2006/relationships" r:id="rId1"/>
          </a:graphicData>
        </a:graphic>
      </p:graphicFrame>
      <p:sp>
        <p:nvSpPr>
          <p:cNvPr id="5" name="Shape 2"/>
          <p:cNvSpPr/>
          <p:nvPr/>
        </p:nvSpPr>
        <p:spPr>
          <a:xfrm>
            <a:off x="7498080" y="1554480"/>
            <a:ext cx="4160520" cy="4480560"/>
          </a:xfrm>
          <a:prstGeom prst="rect">
            <a:avLst/>
          </a:prstGeom>
          <a:solidFill>
            <a:srgbClr val="0B2545"/>
          </a:solidFill>
        </p:spPr>
      </p:sp>
      <p:sp>
        <p:nvSpPr>
          <p:cNvPr id="6" name="Text 3"/>
          <p:cNvSpPr/>
          <p:nvPr/>
        </p:nvSpPr>
        <p:spPr>
          <a:xfrm>
            <a:off x="7772400" y="1810512"/>
            <a:ext cx="3657600" cy="274320"/>
          </a:xfrm>
          <a:prstGeom prst="rect">
            <a:avLst/>
          </a:prstGeom>
          <a:noFill/>
        </p:spPr>
        <p:txBody>
          <a:bodyPr wrap="square" rtlCol="0" anchor="ctr"/>
          <a:lstStyle/>
          <a:p>
            <a:pPr marL="0" indent="0">
              <a:buNone/>
            </a:pPr>
            <a:r>
              <a:rPr lang="en-US" sz="1050" b="1" kern="0" spc="150" dirty="0">
                <a:solidFill>
                  <a:srgbClr val="C79A3D"/>
                </a:solidFill>
                <a:latin typeface="Calibri" panose="020F0502020204030204" pitchFamily="34" charset="0"/>
                <a:ea typeface="Calibri" panose="020F0502020204030204" pitchFamily="34" charset="-122"/>
                <a:cs typeface="Calibri" panose="020F0502020204030204" pitchFamily="34" charset="-120"/>
              </a:rPr>
              <a:t>CORRELATION</a:t>
            </a:r>
            <a:endParaRPr lang="en-US" sz="1050" dirty="0"/>
          </a:p>
        </p:txBody>
      </p:sp>
      <p:sp>
        <p:nvSpPr>
          <p:cNvPr id="7" name="Text 4"/>
          <p:cNvSpPr/>
          <p:nvPr/>
        </p:nvSpPr>
        <p:spPr>
          <a:xfrm>
            <a:off x="7772400" y="2057400"/>
            <a:ext cx="3657600" cy="777240"/>
          </a:xfrm>
          <a:prstGeom prst="rect">
            <a:avLst/>
          </a:prstGeom>
          <a:noFill/>
        </p:spPr>
        <p:txBody>
          <a:bodyPr wrap="square" rtlCol="0" anchor="ctr"/>
          <a:lstStyle/>
          <a:p>
            <a:pPr marL="0" indent="0">
              <a:buNone/>
            </a:pPr>
            <a:r>
              <a:rPr lang="en-US" sz="3400" b="1" dirty="0">
                <a:solidFill>
                  <a:srgbClr val="FFFFFF"/>
                </a:solidFill>
                <a:latin typeface="Cambria" panose="02040503050406030204" pitchFamily="34" charset="0"/>
                <a:ea typeface="Cambria" panose="02040503050406030204" pitchFamily="34" charset="-122"/>
                <a:cs typeface="Cambria" panose="02040503050406030204" pitchFamily="34" charset="-120"/>
              </a:rPr>
              <a:t>- 0.004</a:t>
            </a:r>
            <a:endParaRPr lang="en-US" sz="3400" dirty="0"/>
          </a:p>
        </p:txBody>
      </p:sp>
      <p:sp>
        <p:nvSpPr>
          <p:cNvPr id="8" name="Text 5"/>
          <p:cNvSpPr/>
          <p:nvPr/>
        </p:nvSpPr>
        <p:spPr>
          <a:xfrm>
            <a:off x="7772400" y="2834640"/>
            <a:ext cx="3566160" cy="548640"/>
          </a:xfrm>
          <a:prstGeom prst="rect">
            <a:avLst/>
          </a:prstGeom>
          <a:noFill/>
        </p:spPr>
        <p:txBody>
          <a:bodyPr wrap="square" rtlCol="0" anchor="ctr"/>
          <a:lstStyle/>
          <a:p>
            <a:pPr marL="0" indent="0">
              <a:buNone/>
            </a:pPr>
            <a:r>
              <a:rPr lang="en-US" sz="1100" i="1" dirty="0">
                <a:solidFill>
                  <a:srgbClr val="CADCFC"/>
                </a:solidFill>
                <a:latin typeface="Calibri" panose="020F0502020204030204" pitchFamily="34" charset="0"/>
                <a:ea typeface="Calibri" panose="020F0502020204030204" pitchFamily="34" charset="-122"/>
                <a:cs typeface="Calibri" panose="020F0502020204030204" pitchFamily="34" charset="-120"/>
              </a:rPr>
              <a:t>Maintenance Hours vs. Down Time Hours -effectively zero relationship.</a:t>
            </a:r>
            <a:endParaRPr lang="en-US" sz="1100" dirty="0"/>
          </a:p>
        </p:txBody>
      </p:sp>
      <p:sp>
        <p:nvSpPr>
          <p:cNvPr id="9" name="Shape 6"/>
          <p:cNvSpPr/>
          <p:nvPr/>
        </p:nvSpPr>
        <p:spPr>
          <a:xfrm>
            <a:off x="7772400" y="3520440"/>
            <a:ext cx="3520440" cy="0"/>
          </a:xfrm>
          <a:prstGeom prst="line">
            <a:avLst/>
          </a:prstGeom>
          <a:noFill/>
          <a:ln w="9525">
            <a:solidFill>
              <a:srgbClr val="CADCFC">
                <a:alpha val="60000"/>
              </a:srgbClr>
            </a:solidFill>
            <a:prstDash val="solid"/>
          </a:ln>
        </p:spPr>
      </p:sp>
      <p:sp>
        <p:nvSpPr>
          <p:cNvPr id="10" name="Text 7"/>
          <p:cNvSpPr/>
          <p:nvPr/>
        </p:nvSpPr>
        <p:spPr>
          <a:xfrm>
            <a:off x="7772400" y="3703320"/>
            <a:ext cx="3657600" cy="274320"/>
          </a:xfrm>
          <a:prstGeom prst="rect">
            <a:avLst/>
          </a:prstGeom>
          <a:noFill/>
        </p:spPr>
        <p:txBody>
          <a:bodyPr wrap="square" rtlCol="0" anchor="ctr"/>
          <a:lstStyle/>
          <a:p>
            <a:pPr marL="0" indent="0">
              <a:buNone/>
            </a:pPr>
            <a:r>
              <a:rPr lang="en-US" sz="1050" b="1" kern="0" spc="150" dirty="0">
                <a:solidFill>
                  <a:srgbClr val="C79A3D"/>
                </a:solidFill>
                <a:latin typeface="Calibri" panose="020F0502020204030204" pitchFamily="34" charset="0"/>
                <a:ea typeface="Calibri" panose="020F0502020204030204" pitchFamily="34" charset="-122"/>
                <a:cs typeface="Calibri" panose="020F0502020204030204" pitchFamily="34" charset="-120"/>
              </a:rPr>
              <a:t>THE STORY HERE</a:t>
            </a:r>
            <a:endParaRPr lang="en-US" sz="1050" dirty="0"/>
          </a:p>
        </p:txBody>
      </p:sp>
      <p:sp>
        <p:nvSpPr>
          <p:cNvPr id="11" name="Text 8"/>
          <p:cNvSpPr/>
          <p:nvPr/>
        </p:nvSpPr>
        <p:spPr>
          <a:xfrm>
            <a:off x="7772400" y="3950208"/>
            <a:ext cx="3611880" cy="1965960"/>
          </a:xfrm>
          <a:prstGeom prst="rect">
            <a:avLst/>
          </a:prstGeom>
          <a:noFill/>
        </p:spPr>
        <p:txBody>
          <a:bodyPr wrap="square" rtlCol="0" anchor="ctr"/>
          <a:lstStyle/>
          <a:p>
            <a:pPr marL="0" indent="0">
              <a:lnSpc>
                <a:spcPct val="130000"/>
              </a:lnSpc>
              <a:buNone/>
            </a:pPr>
            <a:r>
              <a:rPr lang="en-US" sz="1100" dirty="0">
                <a:solidFill>
                  <a:srgbClr val="CADCFC"/>
                </a:solidFill>
                <a:latin typeface="Calibri" panose="020F0502020204030204" pitchFamily="34" charset="0"/>
                <a:ea typeface="Calibri" panose="020F0502020204030204" pitchFamily="34" charset="-122"/>
                <a:cs typeface="Calibri" panose="020F0502020204030204" pitchFamily="34" charset="-120"/>
              </a:rPr>
              <a:t>Average downtime stays flat at roughly 1.5 hours whether a machine received 1 hour or 5 hours of maintenance. This doesn't mean maintenance is worthless -it means it's being applied on a fixed calendar rather than in response to a machine's actual condition, so the hours aren't landing where they're needed.</a:t>
            </a:r>
            <a:endParaRPr lang="en-US" sz="1100" dirty="0"/>
          </a:p>
        </p:txBody>
      </p:sp>
      <p:sp>
        <p:nvSpPr>
          <p:cNvPr id="12" name="Text 9"/>
          <p:cNvSpPr/>
          <p:nvPr/>
        </p:nvSpPr>
        <p:spPr>
          <a:xfrm>
            <a:off x="11551615" y="6473952"/>
            <a:ext cx="457200" cy="274320"/>
          </a:xfrm>
          <a:prstGeom prst="rect">
            <a:avLst/>
          </a:prstGeom>
          <a:noFill/>
        </p:spPr>
        <p:txBody>
          <a:bodyPr wrap="square" rtlCol="0" anchor="ctr"/>
          <a:lstStyle/>
          <a:p>
            <a:pPr marL="0" indent="0" algn="r">
              <a:buNone/>
            </a:pPr>
            <a:r>
              <a:rPr lang="en-US" sz="900" dirty="0">
                <a:solidFill>
                  <a:srgbClr val="8C9AB3"/>
                </a:solidFill>
                <a:latin typeface="Calibri" panose="020F0502020204030204" pitchFamily="34" charset="0"/>
                <a:ea typeface="Calibri" panose="020F0502020204030204" pitchFamily="34" charset="-122"/>
                <a:cs typeface="Calibri" panose="020F0502020204030204" pitchFamily="34" charset="-120"/>
              </a:rPr>
              <a:t>08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274320"/>
          </a:xfrm>
          <a:prstGeom prst="rect">
            <a:avLst/>
          </a:prstGeom>
          <a:noFill/>
        </p:spPr>
        <p:txBody>
          <a:bodyPr wrap="square" rtlCol="0" anchor="ctr"/>
          <a:lstStyle/>
          <a:p>
            <a:pPr marL="0" indent="0">
              <a:buNone/>
            </a:pPr>
            <a:r>
              <a:rPr lang="en-US" sz="1200" b="1" kern="0" spc="200" dirty="0">
                <a:solidFill>
                  <a:srgbClr val="9C7A2B"/>
                </a:solidFill>
                <a:latin typeface="Calibri" panose="020F0502020204030204" pitchFamily="34" charset="0"/>
                <a:ea typeface="Calibri" panose="020F0502020204030204" pitchFamily="34" charset="-122"/>
                <a:cs typeface="Calibri" panose="020F0502020204030204" pitchFamily="34" charset="-120"/>
              </a:rPr>
              <a:t>INVESTIGATION 02 -QUALITY &amp; SCRAP</a:t>
            </a:r>
            <a:endParaRPr lang="en-US" sz="1200" dirty="0"/>
          </a:p>
        </p:txBody>
      </p:sp>
      <p:sp>
        <p:nvSpPr>
          <p:cNvPr id="3" name="Text 1"/>
          <p:cNvSpPr/>
          <p:nvPr/>
        </p:nvSpPr>
        <p:spPr>
          <a:xfrm>
            <a:off x="548640" y="658368"/>
            <a:ext cx="10789920" cy="640080"/>
          </a:xfrm>
          <a:prstGeom prst="rect">
            <a:avLst/>
          </a:prstGeom>
          <a:noFill/>
        </p:spPr>
        <p:txBody>
          <a:bodyPr wrap="square" rtlCol="0" anchor="ctr"/>
          <a:lstStyle/>
          <a:p>
            <a:pPr marL="0" indent="0" algn="l">
              <a:buNone/>
            </a:pPr>
            <a:r>
              <a:rPr lang="en-US" sz="3000" b="1" dirty="0">
                <a:solidFill>
                  <a:srgbClr val="0B2545"/>
                </a:solidFill>
                <a:latin typeface="Cambria" panose="02040503050406030204" pitchFamily="34" charset="0"/>
                <a:ea typeface="Cambria" panose="02040503050406030204" pitchFamily="34" charset="-122"/>
                <a:cs typeface="Cambria" panose="02040503050406030204" pitchFamily="34" charset="-120"/>
              </a:rPr>
              <a:t>Defects Are a Plant-Wide Pattern -Not One Product's Problem</a:t>
            </a:r>
            <a:endParaRPr lang="en-US" sz="3000" dirty="0"/>
          </a:p>
        </p:txBody>
      </p:sp>
      <p:graphicFrame>
        <p:nvGraphicFramePr>
          <p:cNvPr id="4" name="Chart 0"/>
          <p:cNvGraphicFramePr/>
          <p:nvPr/>
        </p:nvGraphicFramePr>
        <p:xfrm>
          <a:off x="457200" y="1463040"/>
          <a:ext cx="7315200" cy="4480560"/>
        </p:xfrm>
        <a:graphic>
          <a:graphicData uri="http://schemas.openxmlformats.org/drawingml/2006/chart">
            <c:chart xmlns:c="http://schemas.openxmlformats.org/drawingml/2006/chart" xmlns:r="http://schemas.openxmlformats.org/officeDocument/2006/relationships" r:id="rId1"/>
          </a:graphicData>
        </a:graphic>
      </p:graphicFrame>
      <p:sp>
        <p:nvSpPr>
          <p:cNvPr id="5" name="Shape 2"/>
          <p:cNvSpPr/>
          <p:nvPr/>
        </p:nvSpPr>
        <p:spPr>
          <a:xfrm>
            <a:off x="8092440" y="1463040"/>
            <a:ext cx="3566160" cy="4480560"/>
          </a:xfrm>
          <a:prstGeom prst="rect">
            <a:avLst/>
          </a:prstGeom>
          <a:solidFill>
            <a:srgbClr val="E9EFFB"/>
          </a:solidFill>
        </p:spPr>
      </p:sp>
      <p:sp>
        <p:nvSpPr>
          <p:cNvPr id="6" name="Text 3"/>
          <p:cNvSpPr/>
          <p:nvPr/>
        </p:nvSpPr>
        <p:spPr>
          <a:xfrm>
            <a:off x="8321040" y="1691640"/>
            <a:ext cx="3108960" cy="274320"/>
          </a:xfrm>
          <a:prstGeom prst="rect">
            <a:avLst/>
          </a:prstGeom>
          <a:noFill/>
        </p:spPr>
        <p:txBody>
          <a:bodyPr wrap="square" rtlCol="0" anchor="ctr"/>
          <a:lstStyle/>
          <a:p>
            <a:pPr marL="0" indent="0">
              <a:buNone/>
            </a:pPr>
            <a:r>
              <a:rPr lang="en-US" sz="1000" b="1" kern="0" spc="150" dirty="0">
                <a:solidFill>
                  <a:srgbClr val="9C7A2B"/>
                </a:solidFill>
                <a:latin typeface="Calibri" panose="020F0502020204030204" pitchFamily="34" charset="0"/>
                <a:ea typeface="Calibri" panose="020F0502020204030204" pitchFamily="34" charset="-122"/>
                <a:cs typeface="Calibri" panose="020F0502020204030204" pitchFamily="34" charset="-120"/>
              </a:rPr>
              <a:t>DEFECT RATE BAND</a:t>
            </a:r>
            <a:endParaRPr lang="en-US" sz="1000" dirty="0"/>
          </a:p>
        </p:txBody>
      </p:sp>
      <p:sp>
        <p:nvSpPr>
          <p:cNvPr id="7" name="Text 4"/>
          <p:cNvSpPr/>
          <p:nvPr/>
        </p:nvSpPr>
        <p:spPr>
          <a:xfrm>
            <a:off x="8321040" y="1920240"/>
            <a:ext cx="3108960" cy="640080"/>
          </a:xfrm>
          <a:prstGeom prst="rect">
            <a:avLst/>
          </a:prstGeom>
          <a:noFill/>
        </p:spPr>
        <p:txBody>
          <a:bodyPr wrap="square" rtlCol="0" anchor="ctr"/>
          <a:lstStyle/>
          <a:p>
            <a:pPr marL="0" indent="0">
              <a:buNone/>
            </a:pPr>
            <a:r>
              <a:rPr lang="en-US" sz="2500" b="1" dirty="0">
                <a:solidFill>
                  <a:srgbClr val="0B2545"/>
                </a:solidFill>
                <a:latin typeface="Cambria" panose="02040503050406030204" pitchFamily="34" charset="0"/>
                <a:ea typeface="Cambria" panose="02040503050406030204" pitchFamily="34" charset="-122"/>
                <a:cs typeface="Cambria" panose="02040503050406030204" pitchFamily="34" charset="-120"/>
              </a:rPr>
              <a:t>3.54% - 3.77%</a:t>
            </a:r>
            <a:endParaRPr lang="en-US" sz="2500" dirty="0"/>
          </a:p>
        </p:txBody>
      </p:sp>
      <p:sp>
        <p:nvSpPr>
          <p:cNvPr id="8" name="Text 5"/>
          <p:cNvSpPr/>
          <p:nvPr/>
        </p:nvSpPr>
        <p:spPr>
          <a:xfrm>
            <a:off x="8321040" y="2560320"/>
            <a:ext cx="3108960" cy="685800"/>
          </a:xfrm>
          <a:prstGeom prst="rect">
            <a:avLst/>
          </a:prstGeom>
          <a:noFill/>
        </p:spPr>
        <p:txBody>
          <a:bodyPr wrap="square" rtlCol="0" anchor="ctr"/>
          <a:lstStyle/>
          <a:p>
            <a:pPr marL="0" indent="0">
              <a:buNone/>
            </a:pPr>
            <a:r>
              <a:rPr lang="en-US" sz="1050" dirty="0">
                <a:solidFill>
                  <a:srgbClr val="44536B"/>
                </a:solidFill>
                <a:latin typeface="Calibri" panose="020F0502020204030204" pitchFamily="34" charset="0"/>
                <a:ea typeface="Calibri" panose="020F0502020204030204" pitchFamily="34" charset="-122"/>
                <a:cs typeface="Calibri" panose="020F0502020204030204" pitchFamily="34" charset="-120"/>
              </a:rPr>
              <a:t>across all five product lines -too narrow a gap to call any single line the culprit.</a:t>
            </a:r>
            <a:endParaRPr lang="en-US" sz="1050" dirty="0"/>
          </a:p>
        </p:txBody>
      </p:sp>
      <p:sp>
        <p:nvSpPr>
          <p:cNvPr id="9" name="Shape 6"/>
          <p:cNvSpPr/>
          <p:nvPr/>
        </p:nvSpPr>
        <p:spPr>
          <a:xfrm>
            <a:off x="8321040" y="3337560"/>
            <a:ext cx="2880360" cy="0"/>
          </a:xfrm>
          <a:prstGeom prst="line">
            <a:avLst/>
          </a:prstGeom>
          <a:noFill/>
          <a:ln w="9525">
            <a:solidFill>
              <a:srgbClr val="0B2545">
                <a:alpha val="45000"/>
              </a:srgbClr>
            </a:solidFill>
            <a:prstDash val="solid"/>
          </a:ln>
        </p:spPr>
      </p:sp>
      <p:sp>
        <p:nvSpPr>
          <p:cNvPr id="10" name="Text 7"/>
          <p:cNvSpPr/>
          <p:nvPr/>
        </p:nvSpPr>
        <p:spPr>
          <a:xfrm>
            <a:off x="8321040" y="3520440"/>
            <a:ext cx="3108960" cy="274320"/>
          </a:xfrm>
          <a:prstGeom prst="rect">
            <a:avLst/>
          </a:prstGeom>
          <a:noFill/>
        </p:spPr>
        <p:txBody>
          <a:bodyPr wrap="square" rtlCol="0" anchor="ctr"/>
          <a:lstStyle/>
          <a:p>
            <a:pPr marL="0" indent="0">
              <a:buNone/>
            </a:pPr>
            <a:r>
              <a:rPr lang="en-US" sz="1000" b="1" kern="0" spc="150" dirty="0">
                <a:solidFill>
                  <a:srgbClr val="9C7A2B"/>
                </a:solidFill>
                <a:latin typeface="Calibri" panose="020F0502020204030204" pitchFamily="34" charset="0"/>
                <a:ea typeface="Calibri" panose="020F0502020204030204" pitchFamily="34" charset="-122"/>
                <a:cs typeface="Calibri" panose="020F0502020204030204" pitchFamily="34" charset="-120"/>
              </a:rPr>
              <a:t>SCRAP RATE SPREAD</a:t>
            </a:r>
            <a:endParaRPr lang="en-US" sz="1000" dirty="0"/>
          </a:p>
        </p:txBody>
      </p:sp>
      <p:sp>
        <p:nvSpPr>
          <p:cNvPr id="11" name="Text 8"/>
          <p:cNvSpPr/>
          <p:nvPr/>
        </p:nvSpPr>
        <p:spPr>
          <a:xfrm>
            <a:off x="8321040" y="3794760"/>
            <a:ext cx="3154680" cy="1920240"/>
          </a:xfrm>
          <a:prstGeom prst="rect">
            <a:avLst/>
          </a:prstGeom>
          <a:noFill/>
        </p:spPr>
        <p:txBody>
          <a:bodyPr wrap="square" rtlCol="0" anchor="ctr"/>
          <a:lstStyle/>
          <a:p>
            <a:pPr marL="0" indent="0">
              <a:lnSpc>
                <a:spcPct val="130000"/>
              </a:lnSpc>
              <a:buNone/>
            </a:pPr>
            <a:r>
              <a:rPr lang="en-US" sz="1050" dirty="0">
                <a:solidFill>
                  <a:srgbClr val="44536B"/>
                </a:solidFill>
                <a:latin typeface="Calibri" panose="020F0502020204030204" pitchFamily="34" charset="0"/>
                <a:ea typeface="Calibri" panose="020F0502020204030204" pitchFamily="34" charset="-122"/>
                <a:cs typeface="Calibri" panose="020F0502020204030204" pitchFamily="34" charset="-120"/>
              </a:rPr>
              <a:t>2.98%-3.12% by product, 2.99%-3.09% by shift. Rework hours also show almost no link to labour pay tier (r = 0.02) -we are not overpaying premium shifts to fix mistakes; rework itself is the cost to target.</a:t>
            </a:r>
            <a:endParaRPr lang="en-US" sz="1050" dirty="0"/>
          </a:p>
        </p:txBody>
      </p:sp>
      <p:sp>
        <p:nvSpPr>
          <p:cNvPr id="12" name="Text 9"/>
          <p:cNvSpPr/>
          <p:nvPr/>
        </p:nvSpPr>
        <p:spPr>
          <a:xfrm>
            <a:off x="11551615" y="6473952"/>
            <a:ext cx="457200" cy="274320"/>
          </a:xfrm>
          <a:prstGeom prst="rect">
            <a:avLst/>
          </a:prstGeom>
          <a:noFill/>
        </p:spPr>
        <p:txBody>
          <a:bodyPr wrap="square" rtlCol="0" anchor="ctr"/>
          <a:lstStyle/>
          <a:p>
            <a:pPr marL="0" indent="0" algn="r">
              <a:buNone/>
            </a:pPr>
            <a:r>
              <a:rPr lang="en-US" sz="900" dirty="0">
                <a:solidFill>
                  <a:srgbClr val="8C9AB3"/>
                </a:solidFill>
                <a:latin typeface="Calibri" panose="020F0502020204030204" pitchFamily="34" charset="0"/>
                <a:ea typeface="Calibri" panose="020F0502020204030204" pitchFamily="34" charset="-122"/>
                <a:cs typeface="Calibri" panose="020F0502020204030204" pitchFamily="34" charset="-120"/>
              </a:rPr>
              <a:t>09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274320"/>
          </a:xfrm>
          <a:prstGeom prst="rect">
            <a:avLst/>
          </a:prstGeom>
          <a:noFill/>
        </p:spPr>
        <p:txBody>
          <a:bodyPr wrap="square" rtlCol="0" anchor="ctr"/>
          <a:lstStyle/>
          <a:p>
            <a:pPr marL="0" indent="0">
              <a:buNone/>
            </a:pPr>
            <a:r>
              <a:rPr lang="en-US" sz="1200" b="1" kern="0" spc="200" dirty="0">
                <a:solidFill>
                  <a:srgbClr val="9C7A2B"/>
                </a:solidFill>
                <a:latin typeface="Calibri" panose="020F0502020204030204" pitchFamily="34" charset="0"/>
                <a:ea typeface="Calibri" panose="020F0502020204030204" pitchFamily="34" charset="-122"/>
                <a:cs typeface="Calibri" panose="020F0502020204030204" pitchFamily="34" charset="-120"/>
              </a:rPr>
              <a:t>INVESTIGATION 03 -SHIFT &amp; STAFFING</a:t>
            </a:r>
            <a:endParaRPr lang="en-US" sz="1200" dirty="0"/>
          </a:p>
        </p:txBody>
      </p:sp>
      <p:sp>
        <p:nvSpPr>
          <p:cNvPr id="3" name="Text 1"/>
          <p:cNvSpPr/>
          <p:nvPr/>
        </p:nvSpPr>
        <p:spPr>
          <a:xfrm>
            <a:off x="548640" y="658368"/>
            <a:ext cx="10789920" cy="640080"/>
          </a:xfrm>
          <a:prstGeom prst="rect">
            <a:avLst/>
          </a:prstGeom>
          <a:noFill/>
        </p:spPr>
        <p:txBody>
          <a:bodyPr wrap="square" rtlCol="0" anchor="ctr"/>
          <a:lstStyle/>
          <a:p>
            <a:pPr marL="0" indent="0" algn="l">
              <a:buNone/>
            </a:pPr>
            <a:r>
              <a:rPr lang="en-US" sz="3000" b="1" dirty="0">
                <a:solidFill>
                  <a:srgbClr val="0B2545"/>
                </a:solidFill>
                <a:latin typeface="Cambria" panose="02040503050406030204" pitchFamily="34" charset="0"/>
                <a:ea typeface="Cambria" panose="02040503050406030204" pitchFamily="34" charset="-122"/>
                <a:cs typeface="Cambria" panose="02040503050406030204" pitchFamily="34" charset="-120"/>
              </a:rPr>
              <a:t>Night Shift Isn't the Problem -and Neither Is More Headcount</a:t>
            </a:r>
            <a:endParaRPr lang="en-US" sz="3000" dirty="0"/>
          </a:p>
        </p:txBody>
      </p:sp>
      <p:sp>
        <p:nvSpPr>
          <p:cNvPr id="4" name="Text 2"/>
          <p:cNvSpPr/>
          <p:nvPr/>
        </p:nvSpPr>
        <p:spPr>
          <a:xfrm>
            <a:off x="548640" y="1417320"/>
            <a:ext cx="5303520" cy="274320"/>
          </a:xfrm>
          <a:prstGeom prst="rect">
            <a:avLst/>
          </a:prstGeom>
          <a:noFill/>
        </p:spPr>
        <p:txBody>
          <a:bodyPr wrap="square" rtlCol="0" anchor="ctr"/>
          <a:lstStyle/>
          <a:p>
            <a:pPr marL="0" indent="0">
              <a:buNone/>
            </a:pPr>
            <a:r>
              <a:rPr lang="en-US" sz="1100" b="1" kern="0" spc="150" dirty="0">
                <a:solidFill>
                  <a:srgbClr val="9C7A2B"/>
                </a:solidFill>
                <a:latin typeface="Calibri" panose="020F0502020204030204" pitchFamily="34" charset="0"/>
                <a:ea typeface="Calibri" panose="020F0502020204030204" pitchFamily="34" charset="-122"/>
                <a:cs typeface="Calibri" panose="020F0502020204030204" pitchFamily="34" charset="-120"/>
              </a:rPr>
              <a:t>OUTPUT &amp; DEFECT RATE BY SHIFT</a:t>
            </a:r>
            <a:endParaRPr lang="en-US" sz="1100" dirty="0"/>
          </a:p>
        </p:txBody>
      </p:sp>
      <p:graphicFrame>
        <p:nvGraphicFramePr>
          <p:cNvPr id="5" name="Chart 0"/>
          <p:cNvGraphicFramePr/>
          <p:nvPr/>
        </p:nvGraphicFramePr>
        <p:xfrm>
          <a:off x="502920" y="1737360"/>
          <a:ext cx="5303520" cy="2194560"/>
        </p:xfrm>
        <a:graphic>
          <a:graphicData uri="http://schemas.openxmlformats.org/drawingml/2006/chart">
            <c:chart xmlns:c="http://schemas.openxmlformats.org/drawingml/2006/chart" xmlns:r="http://schemas.openxmlformats.org/officeDocument/2006/relationships" r:id="rId1"/>
          </a:graphicData>
        </a:graphic>
      </p:graphicFrame>
      <p:sp>
        <p:nvSpPr>
          <p:cNvPr id="6" name="Text 3"/>
          <p:cNvSpPr/>
          <p:nvPr/>
        </p:nvSpPr>
        <p:spPr>
          <a:xfrm>
            <a:off x="548640" y="3977640"/>
            <a:ext cx="5212080" cy="868680"/>
          </a:xfrm>
          <a:prstGeom prst="rect">
            <a:avLst/>
          </a:prstGeom>
          <a:noFill/>
        </p:spPr>
        <p:txBody>
          <a:bodyPr wrap="square" rtlCol="0" anchor="ctr"/>
          <a:lstStyle/>
          <a:p>
            <a:pPr marL="0" indent="0">
              <a:lnSpc>
                <a:spcPct val="125000"/>
              </a:lnSpc>
              <a:buNone/>
            </a:pPr>
            <a:r>
              <a:rPr lang="en-US" sz="1050" i="1" dirty="0">
                <a:solidFill>
                  <a:srgbClr val="44536B"/>
                </a:solidFill>
                <a:latin typeface="Calibri" panose="020F0502020204030204" pitchFamily="34" charset="0"/>
                <a:ea typeface="Calibri" panose="020F0502020204030204" pitchFamily="34" charset="-122"/>
                <a:cs typeface="Calibri" panose="020F0502020204030204" pitchFamily="34" charset="-120"/>
              </a:rPr>
              <a:t>Swing shift actually edges out Day and Night on both output and defect rate -the long-held “night shift underperforms” assumption isn't supported.</a:t>
            </a:r>
            <a:endParaRPr lang="en-US" sz="1050" dirty="0"/>
          </a:p>
        </p:txBody>
      </p:sp>
      <p:sp>
        <p:nvSpPr>
          <p:cNvPr id="7" name="Shape 4"/>
          <p:cNvSpPr/>
          <p:nvPr/>
        </p:nvSpPr>
        <p:spPr>
          <a:xfrm>
            <a:off x="6080760" y="1600200"/>
            <a:ext cx="0" cy="4709160"/>
          </a:xfrm>
          <a:prstGeom prst="line">
            <a:avLst/>
          </a:prstGeom>
          <a:noFill/>
          <a:ln w="12700">
            <a:solidFill>
              <a:srgbClr val="CADCFC"/>
            </a:solidFill>
            <a:prstDash val="solid"/>
          </a:ln>
        </p:spPr>
      </p:sp>
      <p:sp>
        <p:nvSpPr>
          <p:cNvPr id="8" name="Text 5"/>
          <p:cNvSpPr/>
          <p:nvPr/>
        </p:nvSpPr>
        <p:spPr>
          <a:xfrm>
            <a:off x="6355080" y="1417320"/>
            <a:ext cx="5303520" cy="274320"/>
          </a:xfrm>
          <a:prstGeom prst="rect">
            <a:avLst/>
          </a:prstGeom>
          <a:noFill/>
        </p:spPr>
        <p:txBody>
          <a:bodyPr wrap="square" rtlCol="0" anchor="ctr"/>
          <a:lstStyle/>
          <a:p>
            <a:pPr marL="0" indent="0">
              <a:buNone/>
            </a:pPr>
            <a:r>
              <a:rPr lang="en-US" sz="1100" b="1" kern="0" spc="150" dirty="0">
                <a:solidFill>
                  <a:srgbClr val="9C7A2B"/>
                </a:solidFill>
                <a:latin typeface="Calibri" panose="020F0502020204030204" pitchFamily="34" charset="0"/>
                <a:ea typeface="Calibri" panose="020F0502020204030204" pitchFamily="34" charset="-122"/>
                <a:cs typeface="Calibri" panose="020F0502020204030204" pitchFamily="34" charset="-120"/>
              </a:rPr>
              <a:t>PRODUCTION PER HOUR BY OPERATOR COUNT</a:t>
            </a:r>
            <a:endParaRPr lang="en-US" sz="1100" dirty="0"/>
          </a:p>
        </p:txBody>
      </p:sp>
      <p:graphicFrame>
        <p:nvGraphicFramePr>
          <p:cNvPr id="9" name="Chart 1"/>
          <p:cNvGraphicFramePr/>
          <p:nvPr/>
        </p:nvGraphicFramePr>
        <p:xfrm>
          <a:off x="6355080" y="1737360"/>
          <a:ext cx="5349240" cy="2194560"/>
        </p:xfrm>
        <a:graphic>
          <a:graphicData uri="http://schemas.openxmlformats.org/drawingml/2006/chart">
            <c:chart xmlns:c="http://schemas.openxmlformats.org/drawingml/2006/chart" xmlns:r="http://schemas.openxmlformats.org/officeDocument/2006/relationships" r:id="rId2"/>
          </a:graphicData>
        </a:graphic>
      </p:graphicFrame>
      <p:sp>
        <p:nvSpPr>
          <p:cNvPr id="10" name="Text 6"/>
          <p:cNvSpPr/>
          <p:nvPr/>
        </p:nvSpPr>
        <p:spPr>
          <a:xfrm>
            <a:off x="6355080" y="3977640"/>
            <a:ext cx="5349240" cy="1051560"/>
          </a:xfrm>
          <a:prstGeom prst="rect">
            <a:avLst/>
          </a:prstGeom>
          <a:noFill/>
        </p:spPr>
        <p:txBody>
          <a:bodyPr wrap="square" rtlCol="0" anchor="ctr"/>
          <a:lstStyle/>
          <a:p>
            <a:pPr marL="0" indent="0">
              <a:lnSpc>
                <a:spcPct val="125000"/>
              </a:lnSpc>
              <a:buNone/>
            </a:pPr>
            <a:r>
              <a:rPr lang="en-US" sz="1050" i="1" dirty="0">
                <a:solidFill>
                  <a:srgbClr val="44536B"/>
                </a:solidFill>
                <a:latin typeface="Calibri" panose="020F0502020204030204" pitchFamily="34" charset="0"/>
                <a:ea typeface="Calibri" panose="020F0502020204030204" pitchFamily="34" charset="-122"/>
                <a:cs typeface="Calibri" panose="020F0502020204030204" pitchFamily="34" charset="-120"/>
              </a:rPr>
              <a:t>Correlation between Operator Count and Units Produced: 0.007. Output per hour does not climb with headcount -pointing to a bottleneck in machine speed or material supply, not staffing.</a:t>
            </a:r>
            <a:endParaRPr lang="en-US" sz="1050" dirty="0"/>
          </a:p>
        </p:txBody>
      </p:sp>
      <p:sp>
        <p:nvSpPr>
          <p:cNvPr id="11" name="Shape 7"/>
          <p:cNvSpPr/>
          <p:nvPr/>
        </p:nvSpPr>
        <p:spPr>
          <a:xfrm>
            <a:off x="502920" y="5257800"/>
            <a:ext cx="11201400" cy="1097280"/>
          </a:xfrm>
          <a:prstGeom prst="rect">
            <a:avLst/>
          </a:prstGeom>
          <a:solidFill>
            <a:srgbClr val="0B2545"/>
          </a:solidFill>
        </p:spPr>
      </p:sp>
      <p:sp>
        <p:nvSpPr>
          <p:cNvPr id="12" name="Text 8"/>
          <p:cNvSpPr/>
          <p:nvPr/>
        </p:nvSpPr>
        <p:spPr>
          <a:xfrm>
            <a:off x="777240" y="5440680"/>
            <a:ext cx="1920240" cy="731520"/>
          </a:xfrm>
          <a:prstGeom prst="rect">
            <a:avLst/>
          </a:prstGeom>
          <a:noFill/>
        </p:spPr>
        <p:txBody>
          <a:bodyPr wrap="square" rtlCol="0" anchor="ctr"/>
          <a:lstStyle/>
          <a:p>
            <a:pPr marL="0" indent="0">
              <a:buNone/>
            </a:pPr>
            <a:r>
              <a:rPr lang="en-US" sz="1200" b="1" dirty="0">
                <a:solidFill>
                  <a:srgbClr val="C79A3D"/>
                </a:solidFill>
                <a:latin typeface="Calibri" panose="020F0502020204030204" pitchFamily="34" charset="0"/>
                <a:ea typeface="Calibri" panose="020F0502020204030204" pitchFamily="34" charset="-122"/>
                <a:cs typeface="Calibri" panose="020F0502020204030204" pitchFamily="34" charset="-120"/>
              </a:rPr>
              <a:t>Business read:</a:t>
            </a:r>
            <a:endParaRPr lang="en-US" sz="1200" dirty="0"/>
          </a:p>
        </p:txBody>
      </p:sp>
      <p:sp>
        <p:nvSpPr>
          <p:cNvPr id="13" name="Text 9"/>
          <p:cNvSpPr/>
          <p:nvPr/>
        </p:nvSpPr>
        <p:spPr>
          <a:xfrm>
            <a:off x="2651760" y="5440680"/>
            <a:ext cx="8778240" cy="731520"/>
          </a:xfrm>
          <a:prstGeom prst="rect">
            <a:avLst/>
          </a:prstGeom>
          <a:noFill/>
        </p:spPr>
        <p:txBody>
          <a:bodyPr wrap="square" rtlCol="0" anchor="ctr"/>
          <a:lstStyle/>
          <a:p>
            <a:pPr marL="0" indent="0">
              <a:buNone/>
            </a:pPr>
            <a:r>
              <a:rPr lang="en-US" sz="1200" dirty="0">
                <a:solidFill>
                  <a:srgbClr val="FFFFFF"/>
                </a:solidFill>
                <a:latin typeface="Calibri" panose="020F0502020204030204" pitchFamily="34" charset="0"/>
                <a:ea typeface="Calibri" panose="020F0502020204030204" pitchFamily="34" charset="-122"/>
                <a:cs typeface="Calibri" panose="020F0502020204030204" pitchFamily="34" charset="-120"/>
              </a:rPr>
              <a:t>Some lines may be over-staffed relative to what they can actually produce -a near-term headcount review is worth more than a shift-schedule overhaul.</a:t>
            </a:r>
            <a:endParaRPr lang="en-US" sz="1200" dirty="0"/>
          </a:p>
        </p:txBody>
      </p:sp>
      <p:sp>
        <p:nvSpPr>
          <p:cNvPr id="14" name="Text 10"/>
          <p:cNvSpPr/>
          <p:nvPr/>
        </p:nvSpPr>
        <p:spPr>
          <a:xfrm>
            <a:off x="11551615" y="6473952"/>
            <a:ext cx="457200" cy="274320"/>
          </a:xfrm>
          <a:prstGeom prst="rect">
            <a:avLst/>
          </a:prstGeom>
          <a:noFill/>
        </p:spPr>
        <p:txBody>
          <a:bodyPr wrap="square" rtlCol="0" anchor="ctr"/>
          <a:lstStyle/>
          <a:p>
            <a:pPr marL="0" indent="0" algn="r">
              <a:buNone/>
            </a:pPr>
            <a:r>
              <a:rPr lang="en-US" sz="900" dirty="0">
                <a:solidFill>
                  <a:srgbClr val="8C9AB3"/>
                </a:solidFill>
                <a:latin typeface="Calibri" panose="020F0502020204030204" pitchFamily="34" charset="0"/>
                <a:ea typeface="Calibri" panose="020F0502020204030204" pitchFamily="34" charset="-122"/>
                <a:cs typeface="Calibri" panose="020F0502020204030204"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274320"/>
          </a:xfrm>
          <a:prstGeom prst="rect">
            <a:avLst/>
          </a:prstGeom>
          <a:noFill/>
        </p:spPr>
        <p:txBody>
          <a:bodyPr wrap="square" rtlCol="0" anchor="ctr"/>
          <a:lstStyle/>
          <a:p>
            <a:pPr marL="0" indent="0">
              <a:buNone/>
            </a:pPr>
            <a:r>
              <a:rPr lang="en-US" sz="1200" b="1" kern="0" spc="200" dirty="0">
                <a:solidFill>
                  <a:srgbClr val="9C7A2B"/>
                </a:solidFill>
                <a:latin typeface="Calibri" panose="020F0502020204030204" pitchFamily="34" charset="0"/>
                <a:ea typeface="Calibri" panose="020F0502020204030204" pitchFamily="34" charset="-122"/>
                <a:cs typeface="Calibri" panose="020F0502020204030204" pitchFamily="34" charset="-120"/>
              </a:rPr>
              <a:t>INVESTIGATION 04 -ENVIRONMENTAL CONTROL</a:t>
            </a:r>
            <a:endParaRPr lang="en-US" sz="1200" dirty="0"/>
          </a:p>
        </p:txBody>
      </p:sp>
      <p:sp>
        <p:nvSpPr>
          <p:cNvPr id="3" name="Text 1"/>
          <p:cNvSpPr/>
          <p:nvPr/>
        </p:nvSpPr>
        <p:spPr>
          <a:xfrm>
            <a:off x="548640" y="658368"/>
            <a:ext cx="10789920" cy="640080"/>
          </a:xfrm>
          <a:prstGeom prst="rect">
            <a:avLst/>
          </a:prstGeom>
          <a:noFill/>
        </p:spPr>
        <p:txBody>
          <a:bodyPr wrap="square" rtlCol="0" anchor="ctr"/>
          <a:lstStyle/>
          <a:p>
            <a:pPr marL="0" indent="0" algn="l">
              <a:buNone/>
            </a:pPr>
            <a:r>
              <a:rPr lang="en-US" sz="3000" b="1" dirty="0">
                <a:solidFill>
                  <a:srgbClr val="0B2545"/>
                </a:solidFill>
                <a:latin typeface="Cambria" panose="02040503050406030204" pitchFamily="34" charset="0"/>
                <a:ea typeface="Cambria" panose="02040503050406030204" pitchFamily="34" charset="-122"/>
                <a:cs typeface="Cambria" panose="02040503050406030204" pitchFamily="34" charset="-120"/>
              </a:rPr>
              <a:t>The Climate-Control Hypothesis Doesn't Hold Up</a:t>
            </a:r>
            <a:endParaRPr lang="en-US" sz="3000" dirty="0"/>
          </a:p>
        </p:txBody>
      </p:sp>
      <p:sp>
        <p:nvSpPr>
          <p:cNvPr id="4" name="Text 2"/>
          <p:cNvSpPr/>
          <p:nvPr/>
        </p:nvSpPr>
        <p:spPr>
          <a:xfrm>
            <a:off x="1965960" y="1307592"/>
            <a:ext cx="932688" cy="365760"/>
          </a:xfrm>
          <a:prstGeom prst="rect">
            <a:avLst/>
          </a:prstGeom>
          <a:noFill/>
        </p:spPr>
        <p:txBody>
          <a:bodyPr wrap="square" rtlCol="0" anchor="b"/>
          <a:lstStyle/>
          <a:p>
            <a:pPr marL="0" indent="0" algn="ctr">
              <a:buNone/>
            </a:pPr>
            <a:r>
              <a:rPr lang="en-US" sz="950" b="1" dirty="0">
                <a:solidFill>
                  <a:srgbClr val="0B2545"/>
                </a:solidFill>
                <a:latin typeface="Calibri" panose="020F0502020204030204" pitchFamily="34" charset="0"/>
                <a:ea typeface="Calibri" panose="020F0502020204030204" pitchFamily="34" charset="-122"/>
                <a:cs typeface="Calibri" panose="020F0502020204030204" pitchFamily="34" charset="-120"/>
              </a:rPr>
              <a:t>Temp.</a:t>
            </a:r>
            <a:endParaRPr lang="en-US" sz="950" dirty="0"/>
          </a:p>
        </p:txBody>
      </p:sp>
      <p:sp>
        <p:nvSpPr>
          <p:cNvPr id="5" name="Text 3"/>
          <p:cNvSpPr/>
          <p:nvPr/>
        </p:nvSpPr>
        <p:spPr>
          <a:xfrm>
            <a:off x="2898648" y="1307592"/>
            <a:ext cx="932688" cy="365760"/>
          </a:xfrm>
          <a:prstGeom prst="rect">
            <a:avLst/>
          </a:prstGeom>
          <a:noFill/>
        </p:spPr>
        <p:txBody>
          <a:bodyPr wrap="square" rtlCol="0" anchor="b"/>
          <a:lstStyle/>
          <a:p>
            <a:pPr marL="0" indent="0" algn="ctr">
              <a:buNone/>
            </a:pPr>
            <a:r>
              <a:rPr lang="en-US" sz="950" b="1" dirty="0">
                <a:solidFill>
                  <a:srgbClr val="0B2545"/>
                </a:solidFill>
                <a:latin typeface="Calibri" panose="020F0502020204030204" pitchFamily="34" charset="0"/>
                <a:ea typeface="Calibri" panose="020F0502020204030204" pitchFamily="34" charset="-122"/>
                <a:cs typeface="Calibri" panose="020F0502020204030204" pitchFamily="34" charset="-120"/>
              </a:rPr>
              <a:t>Humidity</a:t>
            </a:r>
            <a:endParaRPr lang="en-US" sz="950" dirty="0"/>
          </a:p>
        </p:txBody>
      </p:sp>
      <p:sp>
        <p:nvSpPr>
          <p:cNvPr id="6" name="Text 4"/>
          <p:cNvSpPr/>
          <p:nvPr/>
        </p:nvSpPr>
        <p:spPr>
          <a:xfrm>
            <a:off x="3831336" y="1307592"/>
            <a:ext cx="932688" cy="365760"/>
          </a:xfrm>
          <a:prstGeom prst="rect">
            <a:avLst/>
          </a:prstGeom>
          <a:noFill/>
        </p:spPr>
        <p:txBody>
          <a:bodyPr wrap="square" rtlCol="0" anchor="b"/>
          <a:lstStyle/>
          <a:p>
            <a:pPr marL="0" indent="0" algn="ctr">
              <a:buNone/>
            </a:pPr>
            <a:r>
              <a:rPr lang="en-US" sz="950" b="1" dirty="0">
                <a:solidFill>
                  <a:srgbClr val="0B2545"/>
                </a:solidFill>
                <a:latin typeface="Calibri" panose="020F0502020204030204" pitchFamily="34" charset="0"/>
                <a:ea typeface="Calibri" panose="020F0502020204030204" pitchFamily="34" charset="-122"/>
                <a:cs typeface="Calibri" panose="020F0502020204030204" pitchFamily="34" charset="-120"/>
              </a:rPr>
              <a:t>Defects</a:t>
            </a:r>
            <a:endParaRPr lang="en-US" sz="950" dirty="0"/>
          </a:p>
        </p:txBody>
      </p:sp>
      <p:sp>
        <p:nvSpPr>
          <p:cNvPr id="7" name="Text 5"/>
          <p:cNvSpPr/>
          <p:nvPr/>
        </p:nvSpPr>
        <p:spPr>
          <a:xfrm>
            <a:off x="4764024" y="1307592"/>
            <a:ext cx="932688" cy="365760"/>
          </a:xfrm>
          <a:prstGeom prst="rect">
            <a:avLst/>
          </a:prstGeom>
          <a:noFill/>
        </p:spPr>
        <p:txBody>
          <a:bodyPr wrap="square" rtlCol="0" anchor="b"/>
          <a:lstStyle/>
          <a:p>
            <a:pPr marL="0" indent="0" algn="ctr">
              <a:buNone/>
            </a:pPr>
            <a:r>
              <a:rPr lang="en-US" sz="950" b="1" dirty="0">
                <a:solidFill>
                  <a:srgbClr val="0B2545"/>
                </a:solidFill>
                <a:latin typeface="Calibri" panose="020F0502020204030204" pitchFamily="34" charset="0"/>
                <a:ea typeface="Calibri" panose="020F0502020204030204" pitchFamily="34" charset="-122"/>
                <a:cs typeface="Calibri" panose="020F0502020204030204" pitchFamily="34" charset="-120"/>
              </a:rPr>
              <a:t>QC Failed</a:t>
            </a:r>
            <a:endParaRPr lang="en-US" sz="950" dirty="0"/>
          </a:p>
        </p:txBody>
      </p:sp>
      <p:sp>
        <p:nvSpPr>
          <p:cNvPr id="8" name="Text 6"/>
          <p:cNvSpPr/>
          <p:nvPr/>
        </p:nvSpPr>
        <p:spPr>
          <a:xfrm>
            <a:off x="5696712" y="1307592"/>
            <a:ext cx="932688" cy="365760"/>
          </a:xfrm>
          <a:prstGeom prst="rect">
            <a:avLst/>
          </a:prstGeom>
          <a:noFill/>
        </p:spPr>
        <p:txBody>
          <a:bodyPr wrap="square" rtlCol="0" anchor="b"/>
          <a:lstStyle/>
          <a:p>
            <a:pPr marL="0" indent="0" algn="ctr">
              <a:buNone/>
            </a:pPr>
            <a:r>
              <a:rPr lang="en-US" sz="950" b="1" dirty="0">
                <a:solidFill>
                  <a:srgbClr val="0B2545"/>
                </a:solidFill>
                <a:latin typeface="Calibri" panose="020F0502020204030204" pitchFamily="34" charset="0"/>
                <a:ea typeface="Calibri" panose="020F0502020204030204" pitchFamily="34" charset="-122"/>
                <a:cs typeface="Calibri" panose="020F0502020204030204" pitchFamily="34" charset="-120"/>
              </a:rPr>
              <a:t>Downtime</a:t>
            </a:r>
            <a:endParaRPr lang="en-US" sz="950" dirty="0"/>
          </a:p>
        </p:txBody>
      </p:sp>
      <p:sp>
        <p:nvSpPr>
          <p:cNvPr id="9" name="Text 7"/>
          <p:cNvSpPr/>
          <p:nvPr/>
        </p:nvSpPr>
        <p:spPr>
          <a:xfrm>
            <a:off x="6629400" y="1307592"/>
            <a:ext cx="932688" cy="365760"/>
          </a:xfrm>
          <a:prstGeom prst="rect">
            <a:avLst/>
          </a:prstGeom>
          <a:noFill/>
        </p:spPr>
        <p:txBody>
          <a:bodyPr wrap="square" rtlCol="0" anchor="b"/>
          <a:lstStyle/>
          <a:p>
            <a:pPr marL="0" indent="0" algn="ctr">
              <a:buNone/>
            </a:pPr>
            <a:r>
              <a:rPr lang="en-US" sz="950" b="1" dirty="0">
                <a:solidFill>
                  <a:srgbClr val="0B2545"/>
                </a:solidFill>
                <a:latin typeface="Calibri" panose="020F0502020204030204" pitchFamily="34" charset="0"/>
                <a:ea typeface="Calibri" panose="020F0502020204030204" pitchFamily="34" charset="-122"/>
                <a:cs typeface="Calibri" panose="020F0502020204030204" pitchFamily="34" charset="-120"/>
              </a:rPr>
              <a:t>Scrap</a:t>
            </a:r>
            <a:endParaRPr lang="en-US" sz="950" dirty="0"/>
          </a:p>
        </p:txBody>
      </p:sp>
      <p:sp>
        <p:nvSpPr>
          <p:cNvPr id="10" name="Text 8"/>
          <p:cNvSpPr/>
          <p:nvPr/>
        </p:nvSpPr>
        <p:spPr>
          <a:xfrm>
            <a:off x="548640" y="1691640"/>
            <a:ext cx="1325880" cy="658368"/>
          </a:xfrm>
          <a:prstGeom prst="rect">
            <a:avLst/>
          </a:prstGeom>
          <a:noFill/>
        </p:spPr>
        <p:txBody>
          <a:bodyPr wrap="square" rtlCol="0" anchor="ctr"/>
          <a:lstStyle/>
          <a:p>
            <a:pPr marL="0" indent="0">
              <a:buNone/>
            </a:pPr>
            <a:r>
              <a:rPr lang="en-US" sz="1000" b="1" dirty="0">
                <a:solidFill>
                  <a:srgbClr val="0B2545"/>
                </a:solidFill>
                <a:latin typeface="Calibri" panose="020F0502020204030204" pitchFamily="34" charset="0"/>
                <a:ea typeface="Calibri" panose="020F0502020204030204" pitchFamily="34" charset="-122"/>
                <a:cs typeface="Calibri" panose="020F0502020204030204" pitchFamily="34" charset="-120"/>
              </a:rPr>
              <a:t>Temperature</a:t>
            </a:r>
            <a:endParaRPr lang="en-US" sz="1000" dirty="0"/>
          </a:p>
        </p:txBody>
      </p:sp>
      <p:sp>
        <p:nvSpPr>
          <p:cNvPr id="11" name="Shape 9"/>
          <p:cNvSpPr/>
          <p:nvPr/>
        </p:nvSpPr>
        <p:spPr>
          <a:xfrm>
            <a:off x="1965960" y="1691640"/>
            <a:ext cx="896112" cy="621792"/>
          </a:xfrm>
          <a:prstGeom prst="rect">
            <a:avLst/>
          </a:prstGeom>
          <a:solidFill>
            <a:srgbClr val="0B2545"/>
          </a:solidFill>
          <a:ln w="19050">
            <a:solidFill>
              <a:srgbClr val="FFFFFF"/>
            </a:solidFill>
            <a:prstDash val="solid"/>
          </a:ln>
        </p:spPr>
      </p:sp>
      <p:sp>
        <p:nvSpPr>
          <p:cNvPr id="12" name="Text 10"/>
          <p:cNvSpPr/>
          <p:nvPr/>
        </p:nvSpPr>
        <p:spPr>
          <a:xfrm>
            <a:off x="1965960" y="1691640"/>
            <a:ext cx="896112" cy="621792"/>
          </a:xfrm>
          <a:prstGeom prst="rect">
            <a:avLst/>
          </a:prstGeom>
          <a:noFill/>
        </p:spPr>
        <p:txBody>
          <a:bodyPr wrap="square" rtlCol="0" anchor="ctr"/>
          <a:lstStyle/>
          <a:p>
            <a:pPr marL="0" indent="0" algn="ctr">
              <a:buNone/>
            </a:pPr>
            <a:r>
              <a:rPr lang="en-US" sz="1100" b="1" dirty="0">
                <a:solidFill>
                  <a:srgbClr val="FFFFFF"/>
                </a:solidFill>
                <a:latin typeface="Calibri" panose="020F0502020204030204" pitchFamily="34" charset="0"/>
                <a:ea typeface="Calibri" panose="020F0502020204030204" pitchFamily="34" charset="-122"/>
                <a:cs typeface="Calibri" panose="020F0502020204030204" pitchFamily="34" charset="-120"/>
              </a:rPr>
              <a:t>1.00</a:t>
            </a:r>
            <a:endParaRPr lang="en-US" sz="1100" dirty="0"/>
          </a:p>
        </p:txBody>
      </p:sp>
      <p:sp>
        <p:nvSpPr>
          <p:cNvPr id="13" name="Shape 11"/>
          <p:cNvSpPr/>
          <p:nvPr/>
        </p:nvSpPr>
        <p:spPr>
          <a:xfrm>
            <a:off x="2898648" y="1691640"/>
            <a:ext cx="896112" cy="621792"/>
          </a:xfrm>
          <a:prstGeom prst="rect">
            <a:avLst/>
          </a:prstGeom>
          <a:solidFill>
            <a:srgbClr val="E9EFFB"/>
          </a:solidFill>
          <a:ln w="19050">
            <a:solidFill>
              <a:srgbClr val="FFFFFF"/>
            </a:solidFill>
            <a:prstDash val="solid"/>
          </a:ln>
        </p:spPr>
      </p:sp>
      <p:sp>
        <p:nvSpPr>
          <p:cNvPr id="14" name="Text 12"/>
          <p:cNvSpPr/>
          <p:nvPr/>
        </p:nvSpPr>
        <p:spPr>
          <a:xfrm>
            <a:off x="2898648" y="1691640"/>
            <a:ext cx="896112" cy="621792"/>
          </a:xfrm>
          <a:prstGeom prst="rect">
            <a:avLst/>
          </a:prstGeom>
          <a:noFill/>
        </p:spPr>
        <p:txBody>
          <a:bodyPr wrap="square" rtlCol="0" anchor="ctr"/>
          <a:lstStyle/>
          <a:p>
            <a:pPr marL="0" indent="0" algn="ctr">
              <a:buNone/>
            </a:pPr>
            <a:r>
              <a:rPr lang="en-US" sz="1100" dirty="0">
                <a:solidFill>
                  <a:srgbClr val="0B2545"/>
                </a:solidFill>
                <a:latin typeface="Calibri" panose="020F0502020204030204" pitchFamily="34" charset="0"/>
                <a:ea typeface="Calibri" panose="020F0502020204030204" pitchFamily="34" charset="-122"/>
                <a:cs typeface="Calibri" panose="020F0502020204030204" pitchFamily="34" charset="-120"/>
              </a:rPr>
              <a:t>0.01</a:t>
            </a:r>
            <a:endParaRPr lang="en-US" sz="1100" dirty="0"/>
          </a:p>
        </p:txBody>
      </p:sp>
      <p:sp>
        <p:nvSpPr>
          <p:cNvPr id="15" name="Shape 13"/>
          <p:cNvSpPr/>
          <p:nvPr/>
        </p:nvSpPr>
        <p:spPr>
          <a:xfrm>
            <a:off x="3831336" y="1691640"/>
            <a:ext cx="896112" cy="621792"/>
          </a:xfrm>
          <a:prstGeom prst="rect">
            <a:avLst/>
          </a:prstGeom>
          <a:solidFill>
            <a:srgbClr val="E9EFFB"/>
          </a:solidFill>
          <a:ln w="19050">
            <a:solidFill>
              <a:srgbClr val="FFFFFF"/>
            </a:solidFill>
            <a:prstDash val="solid"/>
          </a:ln>
        </p:spPr>
      </p:sp>
      <p:sp>
        <p:nvSpPr>
          <p:cNvPr id="16" name="Text 14"/>
          <p:cNvSpPr/>
          <p:nvPr/>
        </p:nvSpPr>
        <p:spPr>
          <a:xfrm>
            <a:off x="3831336" y="1691640"/>
            <a:ext cx="896112" cy="621792"/>
          </a:xfrm>
          <a:prstGeom prst="rect">
            <a:avLst/>
          </a:prstGeom>
          <a:noFill/>
        </p:spPr>
        <p:txBody>
          <a:bodyPr wrap="square" rtlCol="0" anchor="ctr"/>
          <a:lstStyle/>
          <a:p>
            <a:pPr marL="0" indent="0" algn="ctr">
              <a:buNone/>
            </a:pPr>
            <a:r>
              <a:rPr lang="en-US" sz="1100" dirty="0">
                <a:solidFill>
                  <a:srgbClr val="0B2545"/>
                </a:solidFill>
                <a:latin typeface="Calibri" panose="020F0502020204030204" pitchFamily="34" charset="0"/>
                <a:ea typeface="Calibri" panose="020F0502020204030204" pitchFamily="34" charset="-122"/>
                <a:cs typeface="Calibri" panose="020F0502020204030204" pitchFamily="34" charset="-120"/>
              </a:rPr>
              <a:t>0.01</a:t>
            </a:r>
            <a:endParaRPr lang="en-US" sz="1100" dirty="0"/>
          </a:p>
        </p:txBody>
      </p:sp>
      <p:sp>
        <p:nvSpPr>
          <p:cNvPr id="17" name="Shape 15"/>
          <p:cNvSpPr/>
          <p:nvPr/>
        </p:nvSpPr>
        <p:spPr>
          <a:xfrm>
            <a:off x="4764024" y="1691640"/>
            <a:ext cx="896112" cy="621792"/>
          </a:xfrm>
          <a:prstGeom prst="rect">
            <a:avLst/>
          </a:prstGeom>
          <a:solidFill>
            <a:srgbClr val="E9EFFB"/>
          </a:solidFill>
          <a:ln w="19050">
            <a:solidFill>
              <a:srgbClr val="FFFFFF"/>
            </a:solidFill>
            <a:prstDash val="solid"/>
          </a:ln>
        </p:spPr>
      </p:sp>
      <p:sp>
        <p:nvSpPr>
          <p:cNvPr id="18" name="Text 16"/>
          <p:cNvSpPr/>
          <p:nvPr/>
        </p:nvSpPr>
        <p:spPr>
          <a:xfrm>
            <a:off x="4764024" y="1691640"/>
            <a:ext cx="896112" cy="621792"/>
          </a:xfrm>
          <a:prstGeom prst="rect">
            <a:avLst/>
          </a:prstGeom>
          <a:noFill/>
        </p:spPr>
        <p:txBody>
          <a:bodyPr wrap="square" rtlCol="0" anchor="ctr"/>
          <a:lstStyle/>
          <a:p>
            <a:pPr marL="0" indent="0" algn="ctr">
              <a:buNone/>
            </a:pPr>
            <a:r>
              <a:rPr lang="en-US" sz="1100" dirty="0">
                <a:solidFill>
                  <a:srgbClr val="0B2545"/>
                </a:solidFill>
                <a:latin typeface="Calibri" panose="020F0502020204030204" pitchFamily="34" charset="0"/>
                <a:ea typeface="Calibri" panose="020F0502020204030204" pitchFamily="34" charset="-122"/>
                <a:cs typeface="Calibri" panose="020F0502020204030204" pitchFamily="34" charset="-120"/>
              </a:rPr>
              <a:t>0.01</a:t>
            </a:r>
            <a:endParaRPr lang="en-US" sz="1100" dirty="0"/>
          </a:p>
        </p:txBody>
      </p:sp>
      <p:sp>
        <p:nvSpPr>
          <p:cNvPr id="19" name="Shape 17"/>
          <p:cNvSpPr/>
          <p:nvPr/>
        </p:nvSpPr>
        <p:spPr>
          <a:xfrm>
            <a:off x="5696712" y="1691640"/>
            <a:ext cx="896112" cy="621792"/>
          </a:xfrm>
          <a:prstGeom prst="rect">
            <a:avLst/>
          </a:prstGeom>
          <a:solidFill>
            <a:srgbClr val="F5DFAE"/>
          </a:solidFill>
          <a:ln w="19050">
            <a:solidFill>
              <a:srgbClr val="FFFFFF"/>
            </a:solidFill>
            <a:prstDash val="solid"/>
          </a:ln>
        </p:spPr>
      </p:sp>
      <p:sp>
        <p:nvSpPr>
          <p:cNvPr id="20" name="Text 18"/>
          <p:cNvSpPr/>
          <p:nvPr/>
        </p:nvSpPr>
        <p:spPr>
          <a:xfrm>
            <a:off x="5696712" y="1691640"/>
            <a:ext cx="896112" cy="621792"/>
          </a:xfrm>
          <a:prstGeom prst="rect">
            <a:avLst/>
          </a:prstGeom>
          <a:noFill/>
        </p:spPr>
        <p:txBody>
          <a:bodyPr wrap="square" rtlCol="0" anchor="ctr"/>
          <a:lstStyle/>
          <a:p>
            <a:pPr marL="0" indent="0" algn="ctr">
              <a:buNone/>
            </a:pPr>
            <a:r>
              <a:rPr lang="en-US" sz="1100" dirty="0">
                <a:solidFill>
                  <a:srgbClr val="0B2545"/>
                </a:solidFill>
                <a:latin typeface="Calibri" panose="020F0502020204030204" pitchFamily="34" charset="0"/>
                <a:ea typeface="Calibri" panose="020F0502020204030204" pitchFamily="34" charset="-122"/>
                <a:cs typeface="Calibri" panose="020F0502020204030204" pitchFamily="34" charset="-120"/>
              </a:rPr>
              <a:t>0.02</a:t>
            </a:r>
            <a:endParaRPr lang="en-US" sz="1100" dirty="0"/>
          </a:p>
        </p:txBody>
      </p:sp>
      <p:sp>
        <p:nvSpPr>
          <p:cNvPr id="21" name="Shape 19"/>
          <p:cNvSpPr/>
          <p:nvPr/>
        </p:nvSpPr>
        <p:spPr>
          <a:xfrm>
            <a:off x="6629400" y="1691640"/>
            <a:ext cx="896112" cy="621792"/>
          </a:xfrm>
          <a:prstGeom prst="rect">
            <a:avLst/>
          </a:prstGeom>
          <a:solidFill>
            <a:srgbClr val="F5DFAE"/>
          </a:solidFill>
          <a:ln w="19050">
            <a:solidFill>
              <a:srgbClr val="FFFFFF"/>
            </a:solidFill>
            <a:prstDash val="solid"/>
          </a:ln>
        </p:spPr>
      </p:sp>
      <p:sp>
        <p:nvSpPr>
          <p:cNvPr id="22" name="Text 20"/>
          <p:cNvSpPr/>
          <p:nvPr/>
        </p:nvSpPr>
        <p:spPr>
          <a:xfrm>
            <a:off x="6629400" y="1691640"/>
            <a:ext cx="896112" cy="621792"/>
          </a:xfrm>
          <a:prstGeom prst="rect">
            <a:avLst/>
          </a:prstGeom>
          <a:noFill/>
        </p:spPr>
        <p:txBody>
          <a:bodyPr wrap="square" rtlCol="0" anchor="ctr"/>
          <a:lstStyle/>
          <a:p>
            <a:pPr marL="0" indent="0" algn="ctr">
              <a:buNone/>
            </a:pPr>
            <a:r>
              <a:rPr lang="en-US" sz="1100" dirty="0">
                <a:solidFill>
                  <a:srgbClr val="0B2545"/>
                </a:solidFill>
                <a:latin typeface="Calibri" panose="020F0502020204030204" pitchFamily="34" charset="0"/>
                <a:ea typeface="Calibri" panose="020F0502020204030204" pitchFamily="34" charset="-122"/>
                <a:cs typeface="Calibri" panose="020F0502020204030204" pitchFamily="34" charset="-120"/>
              </a:rPr>
              <a:t>0.02</a:t>
            </a:r>
            <a:endParaRPr lang="en-US" sz="1100" dirty="0"/>
          </a:p>
        </p:txBody>
      </p:sp>
      <p:sp>
        <p:nvSpPr>
          <p:cNvPr id="23" name="Text 21"/>
          <p:cNvSpPr/>
          <p:nvPr/>
        </p:nvSpPr>
        <p:spPr>
          <a:xfrm>
            <a:off x="548640" y="2350008"/>
            <a:ext cx="1325880" cy="658368"/>
          </a:xfrm>
          <a:prstGeom prst="rect">
            <a:avLst/>
          </a:prstGeom>
          <a:noFill/>
        </p:spPr>
        <p:txBody>
          <a:bodyPr wrap="square" rtlCol="0" anchor="ctr"/>
          <a:lstStyle/>
          <a:p>
            <a:pPr marL="0" indent="0">
              <a:buNone/>
            </a:pPr>
            <a:r>
              <a:rPr lang="en-US" sz="1000" b="1" dirty="0">
                <a:solidFill>
                  <a:srgbClr val="0B2545"/>
                </a:solidFill>
                <a:latin typeface="Calibri" panose="020F0502020204030204" pitchFamily="34" charset="0"/>
                <a:ea typeface="Calibri" panose="020F0502020204030204" pitchFamily="34" charset="-122"/>
                <a:cs typeface="Calibri" panose="020F0502020204030204" pitchFamily="34" charset="-120"/>
              </a:rPr>
              <a:t>Humidity</a:t>
            </a:r>
            <a:endParaRPr lang="en-US" sz="1000" dirty="0"/>
          </a:p>
        </p:txBody>
      </p:sp>
      <p:sp>
        <p:nvSpPr>
          <p:cNvPr id="24" name="Shape 22"/>
          <p:cNvSpPr/>
          <p:nvPr/>
        </p:nvSpPr>
        <p:spPr>
          <a:xfrm>
            <a:off x="1965960" y="2350008"/>
            <a:ext cx="896112" cy="621792"/>
          </a:xfrm>
          <a:prstGeom prst="rect">
            <a:avLst/>
          </a:prstGeom>
          <a:solidFill>
            <a:srgbClr val="E9EFFB"/>
          </a:solidFill>
          <a:ln w="19050">
            <a:solidFill>
              <a:srgbClr val="FFFFFF"/>
            </a:solidFill>
            <a:prstDash val="solid"/>
          </a:ln>
        </p:spPr>
      </p:sp>
      <p:sp>
        <p:nvSpPr>
          <p:cNvPr id="25" name="Text 23"/>
          <p:cNvSpPr/>
          <p:nvPr/>
        </p:nvSpPr>
        <p:spPr>
          <a:xfrm>
            <a:off x="1965960" y="2350008"/>
            <a:ext cx="896112" cy="621792"/>
          </a:xfrm>
          <a:prstGeom prst="rect">
            <a:avLst/>
          </a:prstGeom>
          <a:noFill/>
        </p:spPr>
        <p:txBody>
          <a:bodyPr wrap="square" rtlCol="0" anchor="ctr"/>
          <a:lstStyle/>
          <a:p>
            <a:pPr marL="0" indent="0" algn="ctr">
              <a:buNone/>
            </a:pPr>
            <a:r>
              <a:rPr lang="en-US" sz="1100" dirty="0">
                <a:solidFill>
                  <a:srgbClr val="0B2545"/>
                </a:solidFill>
                <a:latin typeface="Calibri" panose="020F0502020204030204" pitchFamily="34" charset="0"/>
                <a:ea typeface="Calibri" panose="020F0502020204030204" pitchFamily="34" charset="-122"/>
                <a:cs typeface="Calibri" panose="020F0502020204030204" pitchFamily="34" charset="-120"/>
              </a:rPr>
              <a:t>0.01</a:t>
            </a:r>
            <a:endParaRPr lang="en-US" sz="1100" dirty="0"/>
          </a:p>
        </p:txBody>
      </p:sp>
      <p:sp>
        <p:nvSpPr>
          <p:cNvPr id="26" name="Shape 24"/>
          <p:cNvSpPr/>
          <p:nvPr/>
        </p:nvSpPr>
        <p:spPr>
          <a:xfrm>
            <a:off x="2898648" y="2350008"/>
            <a:ext cx="896112" cy="621792"/>
          </a:xfrm>
          <a:prstGeom prst="rect">
            <a:avLst/>
          </a:prstGeom>
          <a:solidFill>
            <a:srgbClr val="0B2545"/>
          </a:solidFill>
          <a:ln w="19050">
            <a:solidFill>
              <a:srgbClr val="FFFFFF"/>
            </a:solidFill>
            <a:prstDash val="solid"/>
          </a:ln>
        </p:spPr>
      </p:sp>
      <p:sp>
        <p:nvSpPr>
          <p:cNvPr id="27" name="Text 25"/>
          <p:cNvSpPr/>
          <p:nvPr/>
        </p:nvSpPr>
        <p:spPr>
          <a:xfrm>
            <a:off x="2898648" y="2350008"/>
            <a:ext cx="896112" cy="621792"/>
          </a:xfrm>
          <a:prstGeom prst="rect">
            <a:avLst/>
          </a:prstGeom>
          <a:noFill/>
        </p:spPr>
        <p:txBody>
          <a:bodyPr wrap="square" rtlCol="0" anchor="ctr"/>
          <a:lstStyle/>
          <a:p>
            <a:pPr marL="0" indent="0" algn="ctr">
              <a:buNone/>
            </a:pPr>
            <a:r>
              <a:rPr lang="en-US" sz="1100" b="1" dirty="0">
                <a:solidFill>
                  <a:srgbClr val="FFFFFF"/>
                </a:solidFill>
                <a:latin typeface="Calibri" panose="020F0502020204030204" pitchFamily="34" charset="0"/>
                <a:ea typeface="Calibri" panose="020F0502020204030204" pitchFamily="34" charset="-122"/>
                <a:cs typeface="Calibri" panose="020F0502020204030204" pitchFamily="34" charset="-120"/>
              </a:rPr>
              <a:t>1.00</a:t>
            </a:r>
            <a:endParaRPr lang="en-US" sz="1100" dirty="0"/>
          </a:p>
        </p:txBody>
      </p:sp>
      <p:sp>
        <p:nvSpPr>
          <p:cNvPr id="28" name="Shape 26"/>
          <p:cNvSpPr/>
          <p:nvPr/>
        </p:nvSpPr>
        <p:spPr>
          <a:xfrm>
            <a:off x="3831336" y="2350008"/>
            <a:ext cx="896112" cy="621792"/>
          </a:xfrm>
          <a:prstGeom prst="rect">
            <a:avLst/>
          </a:prstGeom>
          <a:solidFill>
            <a:srgbClr val="E9EFFB"/>
          </a:solidFill>
          <a:ln w="19050">
            <a:solidFill>
              <a:srgbClr val="FFFFFF"/>
            </a:solidFill>
            <a:prstDash val="solid"/>
          </a:ln>
        </p:spPr>
      </p:sp>
      <p:sp>
        <p:nvSpPr>
          <p:cNvPr id="29" name="Text 27"/>
          <p:cNvSpPr/>
          <p:nvPr/>
        </p:nvSpPr>
        <p:spPr>
          <a:xfrm>
            <a:off x="3831336" y="2350008"/>
            <a:ext cx="896112" cy="621792"/>
          </a:xfrm>
          <a:prstGeom prst="rect">
            <a:avLst/>
          </a:prstGeom>
          <a:noFill/>
        </p:spPr>
        <p:txBody>
          <a:bodyPr wrap="square" rtlCol="0" anchor="ctr"/>
          <a:lstStyle/>
          <a:p>
            <a:pPr marL="0" indent="0" algn="ctr">
              <a:buNone/>
            </a:pPr>
            <a:r>
              <a:rPr lang="en-US" sz="1100" dirty="0">
                <a:solidFill>
                  <a:srgbClr val="0B2545"/>
                </a:solidFill>
                <a:latin typeface="Calibri" panose="020F0502020204030204" pitchFamily="34" charset="0"/>
                <a:ea typeface="Calibri" panose="020F0502020204030204" pitchFamily="34" charset="-122"/>
                <a:cs typeface="Calibri" panose="020F0502020204030204" pitchFamily="34" charset="-120"/>
              </a:rPr>
              <a:t>0.00</a:t>
            </a:r>
            <a:endParaRPr lang="en-US" sz="1100" dirty="0"/>
          </a:p>
        </p:txBody>
      </p:sp>
      <p:sp>
        <p:nvSpPr>
          <p:cNvPr id="30" name="Shape 28"/>
          <p:cNvSpPr/>
          <p:nvPr/>
        </p:nvSpPr>
        <p:spPr>
          <a:xfrm>
            <a:off x="4764024" y="2350008"/>
            <a:ext cx="896112" cy="621792"/>
          </a:xfrm>
          <a:prstGeom prst="rect">
            <a:avLst/>
          </a:prstGeom>
          <a:solidFill>
            <a:srgbClr val="F5DFAE"/>
          </a:solidFill>
          <a:ln w="19050">
            <a:solidFill>
              <a:srgbClr val="FFFFFF"/>
            </a:solidFill>
            <a:prstDash val="solid"/>
          </a:ln>
        </p:spPr>
      </p:sp>
      <p:sp>
        <p:nvSpPr>
          <p:cNvPr id="31" name="Text 29"/>
          <p:cNvSpPr/>
          <p:nvPr/>
        </p:nvSpPr>
        <p:spPr>
          <a:xfrm>
            <a:off x="4764024" y="2350008"/>
            <a:ext cx="896112" cy="621792"/>
          </a:xfrm>
          <a:prstGeom prst="rect">
            <a:avLst/>
          </a:prstGeom>
          <a:noFill/>
        </p:spPr>
        <p:txBody>
          <a:bodyPr wrap="square" rtlCol="0" anchor="ctr"/>
          <a:lstStyle/>
          <a:p>
            <a:pPr marL="0" indent="0" algn="ctr">
              <a:buNone/>
            </a:pPr>
            <a:r>
              <a:rPr lang="en-US" sz="1100" dirty="0">
                <a:solidFill>
                  <a:srgbClr val="0B2545"/>
                </a:solidFill>
                <a:latin typeface="Calibri" panose="020F0502020204030204" pitchFamily="34" charset="0"/>
                <a:ea typeface="Calibri" panose="020F0502020204030204" pitchFamily="34" charset="-122"/>
                <a:cs typeface="Calibri" panose="020F0502020204030204" pitchFamily="34" charset="-120"/>
              </a:rPr>
              <a:t>0.02</a:t>
            </a:r>
            <a:endParaRPr lang="en-US" sz="1100" dirty="0"/>
          </a:p>
        </p:txBody>
      </p:sp>
      <p:sp>
        <p:nvSpPr>
          <p:cNvPr id="32" name="Shape 30"/>
          <p:cNvSpPr/>
          <p:nvPr/>
        </p:nvSpPr>
        <p:spPr>
          <a:xfrm>
            <a:off x="5696712" y="2350008"/>
            <a:ext cx="896112" cy="621792"/>
          </a:xfrm>
          <a:prstGeom prst="rect">
            <a:avLst/>
          </a:prstGeom>
          <a:solidFill>
            <a:srgbClr val="F0C978"/>
          </a:solidFill>
          <a:ln w="19050">
            <a:solidFill>
              <a:srgbClr val="FFFFFF"/>
            </a:solidFill>
            <a:prstDash val="solid"/>
          </a:ln>
        </p:spPr>
      </p:sp>
      <p:sp>
        <p:nvSpPr>
          <p:cNvPr id="33" name="Text 31"/>
          <p:cNvSpPr/>
          <p:nvPr/>
        </p:nvSpPr>
        <p:spPr>
          <a:xfrm>
            <a:off x="5696712" y="2350008"/>
            <a:ext cx="896112" cy="621792"/>
          </a:xfrm>
          <a:prstGeom prst="rect">
            <a:avLst/>
          </a:prstGeom>
          <a:noFill/>
        </p:spPr>
        <p:txBody>
          <a:bodyPr wrap="square" rtlCol="0" anchor="ctr"/>
          <a:lstStyle/>
          <a:p>
            <a:pPr marL="0" indent="0" algn="ctr">
              <a:buNone/>
            </a:pPr>
            <a:r>
              <a:rPr lang="en-US" sz="1100" dirty="0">
                <a:solidFill>
                  <a:srgbClr val="0B2545"/>
                </a:solidFill>
                <a:latin typeface="Calibri" panose="020F0502020204030204" pitchFamily="34" charset="0"/>
                <a:ea typeface="Calibri" panose="020F0502020204030204" pitchFamily="34" charset="-122"/>
                <a:cs typeface="Calibri" panose="020F0502020204030204" pitchFamily="34" charset="-120"/>
              </a:rPr>
              <a:t>0.05</a:t>
            </a:r>
            <a:endParaRPr lang="en-US" sz="1100" dirty="0"/>
          </a:p>
        </p:txBody>
      </p:sp>
      <p:sp>
        <p:nvSpPr>
          <p:cNvPr id="34" name="Shape 32"/>
          <p:cNvSpPr/>
          <p:nvPr/>
        </p:nvSpPr>
        <p:spPr>
          <a:xfrm>
            <a:off x="6629400" y="2350008"/>
            <a:ext cx="896112" cy="621792"/>
          </a:xfrm>
          <a:prstGeom prst="rect">
            <a:avLst/>
          </a:prstGeom>
          <a:solidFill>
            <a:srgbClr val="F5DFAE"/>
          </a:solidFill>
          <a:ln w="19050">
            <a:solidFill>
              <a:srgbClr val="FFFFFF"/>
            </a:solidFill>
            <a:prstDash val="solid"/>
          </a:ln>
        </p:spPr>
      </p:sp>
      <p:sp>
        <p:nvSpPr>
          <p:cNvPr id="35" name="Text 33"/>
          <p:cNvSpPr/>
          <p:nvPr/>
        </p:nvSpPr>
        <p:spPr>
          <a:xfrm>
            <a:off x="6629400" y="2350008"/>
            <a:ext cx="896112" cy="621792"/>
          </a:xfrm>
          <a:prstGeom prst="rect">
            <a:avLst/>
          </a:prstGeom>
          <a:noFill/>
        </p:spPr>
        <p:txBody>
          <a:bodyPr wrap="square" rtlCol="0" anchor="ctr"/>
          <a:lstStyle/>
          <a:p>
            <a:pPr marL="0" indent="0" algn="ctr">
              <a:buNone/>
            </a:pPr>
            <a:r>
              <a:rPr lang="en-US" sz="1100" dirty="0">
                <a:solidFill>
                  <a:srgbClr val="0B2545"/>
                </a:solidFill>
                <a:latin typeface="Calibri" panose="020F0502020204030204" pitchFamily="34" charset="0"/>
                <a:ea typeface="Calibri" panose="020F0502020204030204" pitchFamily="34" charset="-122"/>
                <a:cs typeface="Calibri" panose="020F0502020204030204" pitchFamily="34" charset="-120"/>
              </a:rPr>
              <a:t>0.03</a:t>
            </a:r>
            <a:endParaRPr lang="en-US" sz="1100" dirty="0"/>
          </a:p>
        </p:txBody>
      </p:sp>
      <p:sp>
        <p:nvSpPr>
          <p:cNvPr id="36" name="Text 34"/>
          <p:cNvSpPr/>
          <p:nvPr/>
        </p:nvSpPr>
        <p:spPr>
          <a:xfrm>
            <a:off x="548640" y="3008376"/>
            <a:ext cx="1325880" cy="658368"/>
          </a:xfrm>
          <a:prstGeom prst="rect">
            <a:avLst/>
          </a:prstGeom>
          <a:noFill/>
        </p:spPr>
        <p:txBody>
          <a:bodyPr wrap="square" rtlCol="0" anchor="ctr"/>
          <a:lstStyle/>
          <a:p>
            <a:pPr marL="0" indent="0">
              <a:buNone/>
            </a:pPr>
            <a:r>
              <a:rPr lang="en-US" sz="1000" b="1" dirty="0">
                <a:solidFill>
                  <a:srgbClr val="0B2545"/>
                </a:solidFill>
                <a:latin typeface="Calibri" panose="020F0502020204030204" pitchFamily="34" charset="0"/>
                <a:ea typeface="Calibri" panose="020F0502020204030204" pitchFamily="34" charset="-122"/>
                <a:cs typeface="Calibri" panose="020F0502020204030204" pitchFamily="34" charset="-120"/>
              </a:rPr>
              <a:t>Defects</a:t>
            </a:r>
            <a:endParaRPr lang="en-US" sz="1000" dirty="0"/>
          </a:p>
        </p:txBody>
      </p:sp>
      <p:sp>
        <p:nvSpPr>
          <p:cNvPr id="37" name="Shape 35"/>
          <p:cNvSpPr/>
          <p:nvPr/>
        </p:nvSpPr>
        <p:spPr>
          <a:xfrm>
            <a:off x="1965960" y="3008376"/>
            <a:ext cx="896112" cy="621792"/>
          </a:xfrm>
          <a:prstGeom prst="rect">
            <a:avLst/>
          </a:prstGeom>
          <a:solidFill>
            <a:srgbClr val="E9EFFB"/>
          </a:solidFill>
          <a:ln w="19050">
            <a:solidFill>
              <a:srgbClr val="FFFFFF"/>
            </a:solidFill>
            <a:prstDash val="solid"/>
          </a:ln>
        </p:spPr>
      </p:sp>
      <p:sp>
        <p:nvSpPr>
          <p:cNvPr id="38" name="Text 36"/>
          <p:cNvSpPr/>
          <p:nvPr/>
        </p:nvSpPr>
        <p:spPr>
          <a:xfrm>
            <a:off x="1965960" y="3008376"/>
            <a:ext cx="896112" cy="621792"/>
          </a:xfrm>
          <a:prstGeom prst="rect">
            <a:avLst/>
          </a:prstGeom>
          <a:noFill/>
        </p:spPr>
        <p:txBody>
          <a:bodyPr wrap="square" rtlCol="0" anchor="ctr"/>
          <a:lstStyle/>
          <a:p>
            <a:pPr marL="0" indent="0" algn="ctr">
              <a:buNone/>
            </a:pPr>
            <a:r>
              <a:rPr lang="en-US" sz="1100" dirty="0">
                <a:solidFill>
                  <a:srgbClr val="0B2545"/>
                </a:solidFill>
                <a:latin typeface="Calibri" panose="020F0502020204030204" pitchFamily="34" charset="0"/>
                <a:ea typeface="Calibri" panose="020F0502020204030204" pitchFamily="34" charset="-122"/>
                <a:cs typeface="Calibri" panose="020F0502020204030204" pitchFamily="34" charset="-120"/>
              </a:rPr>
              <a:t>0.01</a:t>
            </a:r>
            <a:endParaRPr lang="en-US" sz="1100" dirty="0"/>
          </a:p>
        </p:txBody>
      </p:sp>
      <p:sp>
        <p:nvSpPr>
          <p:cNvPr id="39" name="Shape 37"/>
          <p:cNvSpPr/>
          <p:nvPr/>
        </p:nvSpPr>
        <p:spPr>
          <a:xfrm>
            <a:off x="2898648" y="3008376"/>
            <a:ext cx="896112" cy="621792"/>
          </a:xfrm>
          <a:prstGeom prst="rect">
            <a:avLst/>
          </a:prstGeom>
          <a:solidFill>
            <a:srgbClr val="E9EFFB"/>
          </a:solidFill>
          <a:ln w="19050">
            <a:solidFill>
              <a:srgbClr val="FFFFFF"/>
            </a:solidFill>
            <a:prstDash val="solid"/>
          </a:ln>
        </p:spPr>
      </p:sp>
      <p:sp>
        <p:nvSpPr>
          <p:cNvPr id="40" name="Text 38"/>
          <p:cNvSpPr/>
          <p:nvPr/>
        </p:nvSpPr>
        <p:spPr>
          <a:xfrm>
            <a:off x="2898648" y="3008376"/>
            <a:ext cx="896112" cy="621792"/>
          </a:xfrm>
          <a:prstGeom prst="rect">
            <a:avLst/>
          </a:prstGeom>
          <a:noFill/>
        </p:spPr>
        <p:txBody>
          <a:bodyPr wrap="square" rtlCol="0" anchor="ctr"/>
          <a:lstStyle/>
          <a:p>
            <a:pPr marL="0" indent="0" algn="ctr">
              <a:buNone/>
            </a:pPr>
            <a:r>
              <a:rPr lang="en-US" sz="1100" dirty="0">
                <a:solidFill>
                  <a:srgbClr val="0B2545"/>
                </a:solidFill>
                <a:latin typeface="Calibri" panose="020F0502020204030204" pitchFamily="34" charset="0"/>
                <a:ea typeface="Calibri" panose="020F0502020204030204" pitchFamily="34" charset="-122"/>
                <a:cs typeface="Calibri" panose="020F0502020204030204" pitchFamily="34" charset="-120"/>
              </a:rPr>
              <a:t>0.00</a:t>
            </a:r>
            <a:endParaRPr lang="en-US" sz="1100" dirty="0"/>
          </a:p>
        </p:txBody>
      </p:sp>
      <p:sp>
        <p:nvSpPr>
          <p:cNvPr id="41" name="Shape 39"/>
          <p:cNvSpPr/>
          <p:nvPr/>
        </p:nvSpPr>
        <p:spPr>
          <a:xfrm>
            <a:off x="3831336" y="3008376"/>
            <a:ext cx="896112" cy="621792"/>
          </a:xfrm>
          <a:prstGeom prst="rect">
            <a:avLst/>
          </a:prstGeom>
          <a:solidFill>
            <a:srgbClr val="0B2545"/>
          </a:solidFill>
          <a:ln w="19050">
            <a:solidFill>
              <a:srgbClr val="FFFFFF"/>
            </a:solidFill>
            <a:prstDash val="solid"/>
          </a:ln>
        </p:spPr>
      </p:sp>
      <p:sp>
        <p:nvSpPr>
          <p:cNvPr id="42" name="Text 40"/>
          <p:cNvSpPr/>
          <p:nvPr/>
        </p:nvSpPr>
        <p:spPr>
          <a:xfrm>
            <a:off x="3831336" y="3008376"/>
            <a:ext cx="896112" cy="621792"/>
          </a:xfrm>
          <a:prstGeom prst="rect">
            <a:avLst/>
          </a:prstGeom>
          <a:noFill/>
        </p:spPr>
        <p:txBody>
          <a:bodyPr wrap="square" rtlCol="0" anchor="ctr"/>
          <a:lstStyle/>
          <a:p>
            <a:pPr marL="0" indent="0" algn="ctr">
              <a:buNone/>
            </a:pPr>
            <a:r>
              <a:rPr lang="en-US" sz="1100" b="1" dirty="0">
                <a:solidFill>
                  <a:srgbClr val="FFFFFF"/>
                </a:solidFill>
                <a:latin typeface="Calibri" panose="020F0502020204030204" pitchFamily="34" charset="0"/>
                <a:ea typeface="Calibri" panose="020F0502020204030204" pitchFamily="34" charset="-122"/>
                <a:cs typeface="Calibri" panose="020F0502020204030204" pitchFamily="34" charset="-120"/>
              </a:rPr>
              <a:t>1.00</a:t>
            </a:r>
            <a:endParaRPr lang="en-US" sz="1100" dirty="0"/>
          </a:p>
        </p:txBody>
      </p:sp>
      <p:sp>
        <p:nvSpPr>
          <p:cNvPr id="43" name="Shape 41"/>
          <p:cNvSpPr/>
          <p:nvPr/>
        </p:nvSpPr>
        <p:spPr>
          <a:xfrm>
            <a:off x="4764024" y="3008376"/>
            <a:ext cx="896112" cy="621792"/>
          </a:xfrm>
          <a:prstGeom prst="rect">
            <a:avLst/>
          </a:prstGeom>
          <a:solidFill>
            <a:srgbClr val="F5DFAE"/>
          </a:solidFill>
          <a:ln w="19050">
            <a:solidFill>
              <a:srgbClr val="FFFFFF"/>
            </a:solidFill>
            <a:prstDash val="solid"/>
          </a:ln>
        </p:spPr>
      </p:sp>
      <p:sp>
        <p:nvSpPr>
          <p:cNvPr id="44" name="Text 42"/>
          <p:cNvSpPr/>
          <p:nvPr/>
        </p:nvSpPr>
        <p:spPr>
          <a:xfrm>
            <a:off x="4764024" y="3008376"/>
            <a:ext cx="896112" cy="621792"/>
          </a:xfrm>
          <a:prstGeom prst="rect">
            <a:avLst/>
          </a:prstGeom>
          <a:noFill/>
        </p:spPr>
        <p:txBody>
          <a:bodyPr wrap="square" rtlCol="0" anchor="ctr"/>
          <a:lstStyle/>
          <a:p>
            <a:pPr marL="0" indent="0" algn="ctr">
              <a:buNone/>
            </a:pPr>
            <a:r>
              <a:rPr lang="en-US" sz="1100" dirty="0">
                <a:solidFill>
                  <a:srgbClr val="0B2545"/>
                </a:solidFill>
                <a:latin typeface="Calibri" panose="020F0502020204030204" pitchFamily="34" charset="0"/>
                <a:ea typeface="Calibri" panose="020F0502020204030204" pitchFamily="34" charset="-122"/>
                <a:cs typeface="Calibri" panose="020F0502020204030204" pitchFamily="34" charset="-120"/>
              </a:rPr>
              <a:t>-0.03</a:t>
            </a:r>
            <a:endParaRPr lang="en-US" sz="1100" dirty="0"/>
          </a:p>
        </p:txBody>
      </p:sp>
      <p:sp>
        <p:nvSpPr>
          <p:cNvPr id="45" name="Shape 43"/>
          <p:cNvSpPr/>
          <p:nvPr/>
        </p:nvSpPr>
        <p:spPr>
          <a:xfrm>
            <a:off x="5696712" y="3008376"/>
            <a:ext cx="896112" cy="621792"/>
          </a:xfrm>
          <a:prstGeom prst="rect">
            <a:avLst/>
          </a:prstGeom>
          <a:solidFill>
            <a:srgbClr val="F5DFAE"/>
          </a:solidFill>
          <a:ln w="19050">
            <a:solidFill>
              <a:srgbClr val="FFFFFF"/>
            </a:solidFill>
            <a:prstDash val="solid"/>
          </a:ln>
        </p:spPr>
      </p:sp>
      <p:sp>
        <p:nvSpPr>
          <p:cNvPr id="46" name="Text 44"/>
          <p:cNvSpPr/>
          <p:nvPr/>
        </p:nvSpPr>
        <p:spPr>
          <a:xfrm>
            <a:off x="5696712" y="3008376"/>
            <a:ext cx="896112" cy="621792"/>
          </a:xfrm>
          <a:prstGeom prst="rect">
            <a:avLst/>
          </a:prstGeom>
          <a:noFill/>
        </p:spPr>
        <p:txBody>
          <a:bodyPr wrap="square" rtlCol="0" anchor="ctr"/>
          <a:lstStyle/>
          <a:p>
            <a:pPr marL="0" indent="0" algn="ctr">
              <a:buNone/>
            </a:pPr>
            <a:r>
              <a:rPr lang="en-US" sz="1100" dirty="0">
                <a:solidFill>
                  <a:srgbClr val="0B2545"/>
                </a:solidFill>
                <a:latin typeface="Calibri" panose="020F0502020204030204" pitchFamily="34" charset="0"/>
                <a:ea typeface="Calibri" panose="020F0502020204030204" pitchFamily="34" charset="-122"/>
                <a:cs typeface="Calibri" panose="020F0502020204030204" pitchFamily="34" charset="-120"/>
              </a:rPr>
              <a:t>0.03</a:t>
            </a:r>
            <a:endParaRPr lang="en-US" sz="1100" dirty="0"/>
          </a:p>
        </p:txBody>
      </p:sp>
      <p:sp>
        <p:nvSpPr>
          <p:cNvPr id="47" name="Shape 45"/>
          <p:cNvSpPr/>
          <p:nvPr/>
        </p:nvSpPr>
        <p:spPr>
          <a:xfrm>
            <a:off x="6629400" y="3008376"/>
            <a:ext cx="896112" cy="621792"/>
          </a:xfrm>
          <a:prstGeom prst="rect">
            <a:avLst/>
          </a:prstGeom>
          <a:solidFill>
            <a:srgbClr val="E9EFFB"/>
          </a:solidFill>
          <a:ln w="19050">
            <a:solidFill>
              <a:srgbClr val="FFFFFF"/>
            </a:solidFill>
            <a:prstDash val="solid"/>
          </a:ln>
        </p:spPr>
      </p:sp>
      <p:sp>
        <p:nvSpPr>
          <p:cNvPr id="48" name="Text 46"/>
          <p:cNvSpPr/>
          <p:nvPr/>
        </p:nvSpPr>
        <p:spPr>
          <a:xfrm>
            <a:off x="6629400" y="3008376"/>
            <a:ext cx="896112" cy="621792"/>
          </a:xfrm>
          <a:prstGeom prst="rect">
            <a:avLst/>
          </a:prstGeom>
          <a:noFill/>
        </p:spPr>
        <p:txBody>
          <a:bodyPr wrap="square" rtlCol="0" anchor="ctr"/>
          <a:lstStyle/>
          <a:p>
            <a:pPr marL="0" indent="0" algn="ctr">
              <a:buNone/>
            </a:pPr>
            <a:r>
              <a:rPr lang="en-US" sz="1100" dirty="0">
                <a:solidFill>
                  <a:srgbClr val="0B2545"/>
                </a:solidFill>
                <a:latin typeface="Calibri" panose="020F0502020204030204" pitchFamily="34" charset="0"/>
                <a:ea typeface="Calibri" panose="020F0502020204030204" pitchFamily="34" charset="-122"/>
                <a:cs typeface="Calibri" panose="020F0502020204030204" pitchFamily="34" charset="-120"/>
              </a:rPr>
              <a:t>0.00</a:t>
            </a:r>
            <a:endParaRPr lang="en-US" sz="1100" dirty="0"/>
          </a:p>
        </p:txBody>
      </p:sp>
      <p:sp>
        <p:nvSpPr>
          <p:cNvPr id="49" name="Text 47"/>
          <p:cNvSpPr/>
          <p:nvPr/>
        </p:nvSpPr>
        <p:spPr>
          <a:xfrm>
            <a:off x="548640" y="3666744"/>
            <a:ext cx="1325880" cy="658368"/>
          </a:xfrm>
          <a:prstGeom prst="rect">
            <a:avLst/>
          </a:prstGeom>
          <a:noFill/>
        </p:spPr>
        <p:txBody>
          <a:bodyPr wrap="square" rtlCol="0" anchor="ctr"/>
          <a:lstStyle/>
          <a:p>
            <a:pPr marL="0" indent="0">
              <a:buNone/>
            </a:pPr>
            <a:r>
              <a:rPr lang="en-US" sz="1000" b="1" dirty="0">
                <a:solidFill>
                  <a:srgbClr val="0B2545"/>
                </a:solidFill>
                <a:latin typeface="Calibri" panose="020F0502020204030204" pitchFamily="34" charset="0"/>
                <a:ea typeface="Calibri" panose="020F0502020204030204" pitchFamily="34" charset="-122"/>
                <a:cs typeface="Calibri" panose="020F0502020204030204" pitchFamily="34" charset="-120"/>
              </a:rPr>
              <a:t>QC Failed</a:t>
            </a:r>
            <a:endParaRPr lang="en-US" sz="1000" dirty="0"/>
          </a:p>
        </p:txBody>
      </p:sp>
      <p:sp>
        <p:nvSpPr>
          <p:cNvPr id="50" name="Shape 48"/>
          <p:cNvSpPr/>
          <p:nvPr/>
        </p:nvSpPr>
        <p:spPr>
          <a:xfrm>
            <a:off x="1965960" y="3666744"/>
            <a:ext cx="896112" cy="621792"/>
          </a:xfrm>
          <a:prstGeom prst="rect">
            <a:avLst/>
          </a:prstGeom>
          <a:solidFill>
            <a:srgbClr val="E9EFFB"/>
          </a:solidFill>
          <a:ln w="19050">
            <a:solidFill>
              <a:srgbClr val="FFFFFF"/>
            </a:solidFill>
            <a:prstDash val="solid"/>
          </a:ln>
        </p:spPr>
      </p:sp>
      <p:sp>
        <p:nvSpPr>
          <p:cNvPr id="51" name="Text 49"/>
          <p:cNvSpPr/>
          <p:nvPr/>
        </p:nvSpPr>
        <p:spPr>
          <a:xfrm>
            <a:off x="1965960" y="3666744"/>
            <a:ext cx="896112" cy="621792"/>
          </a:xfrm>
          <a:prstGeom prst="rect">
            <a:avLst/>
          </a:prstGeom>
          <a:noFill/>
        </p:spPr>
        <p:txBody>
          <a:bodyPr wrap="square" rtlCol="0" anchor="ctr"/>
          <a:lstStyle/>
          <a:p>
            <a:pPr marL="0" indent="0" algn="ctr">
              <a:buNone/>
            </a:pPr>
            <a:r>
              <a:rPr lang="en-US" sz="1100" dirty="0">
                <a:solidFill>
                  <a:srgbClr val="0B2545"/>
                </a:solidFill>
                <a:latin typeface="Calibri" panose="020F0502020204030204" pitchFamily="34" charset="0"/>
                <a:ea typeface="Calibri" panose="020F0502020204030204" pitchFamily="34" charset="-122"/>
                <a:cs typeface="Calibri" panose="020F0502020204030204" pitchFamily="34" charset="-120"/>
              </a:rPr>
              <a:t>0.01</a:t>
            </a:r>
            <a:endParaRPr lang="en-US" sz="1100" dirty="0"/>
          </a:p>
        </p:txBody>
      </p:sp>
      <p:sp>
        <p:nvSpPr>
          <p:cNvPr id="52" name="Shape 50"/>
          <p:cNvSpPr/>
          <p:nvPr/>
        </p:nvSpPr>
        <p:spPr>
          <a:xfrm>
            <a:off x="2898648" y="3666744"/>
            <a:ext cx="896112" cy="621792"/>
          </a:xfrm>
          <a:prstGeom prst="rect">
            <a:avLst/>
          </a:prstGeom>
          <a:solidFill>
            <a:srgbClr val="F5DFAE"/>
          </a:solidFill>
          <a:ln w="19050">
            <a:solidFill>
              <a:srgbClr val="FFFFFF"/>
            </a:solidFill>
            <a:prstDash val="solid"/>
          </a:ln>
        </p:spPr>
      </p:sp>
      <p:sp>
        <p:nvSpPr>
          <p:cNvPr id="53" name="Text 51"/>
          <p:cNvSpPr/>
          <p:nvPr/>
        </p:nvSpPr>
        <p:spPr>
          <a:xfrm>
            <a:off x="2898648" y="3666744"/>
            <a:ext cx="896112" cy="621792"/>
          </a:xfrm>
          <a:prstGeom prst="rect">
            <a:avLst/>
          </a:prstGeom>
          <a:noFill/>
        </p:spPr>
        <p:txBody>
          <a:bodyPr wrap="square" rtlCol="0" anchor="ctr"/>
          <a:lstStyle/>
          <a:p>
            <a:pPr marL="0" indent="0" algn="ctr">
              <a:buNone/>
            </a:pPr>
            <a:r>
              <a:rPr lang="en-US" sz="1100" dirty="0">
                <a:solidFill>
                  <a:srgbClr val="0B2545"/>
                </a:solidFill>
                <a:latin typeface="Calibri" panose="020F0502020204030204" pitchFamily="34" charset="0"/>
                <a:ea typeface="Calibri" panose="020F0502020204030204" pitchFamily="34" charset="-122"/>
                <a:cs typeface="Calibri" panose="020F0502020204030204" pitchFamily="34" charset="-120"/>
              </a:rPr>
              <a:t>0.02</a:t>
            </a:r>
            <a:endParaRPr lang="en-US" sz="1100" dirty="0"/>
          </a:p>
        </p:txBody>
      </p:sp>
      <p:sp>
        <p:nvSpPr>
          <p:cNvPr id="54" name="Shape 52"/>
          <p:cNvSpPr/>
          <p:nvPr/>
        </p:nvSpPr>
        <p:spPr>
          <a:xfrm>
            <a:off x="3831336" y="3666744"/>
            <a:ext cx="896112" cy="621792"/>
          </a:xfrm>
          <a:prstGeom prst="rect">
            <a:avLst/>
          </a:prstGeom>
          <a:solidFill>
            <a:srgbClr val="F5DFAE"/>
          </a:solidFill>
          <a:ln w="19050">
            <a:solidFill>
              <a:srgbClr val="FFFFFF"/>
            </a:solidFill>
            <a:prstDash val="solid"/>
          </a:ln>
        </p:spPr>
      </p:sp>
      <p:sp>
        <p:nvSpPr>
          <p:cNvPr id="55" name="Text 53"/>
          <p:cNvSpPr/>
          <p:nvPr/>
        </p:nvSpPr>
        <p:spPr>
          <a:xfrm>
            <a:off x="3831336" y="3666744"/>
            <a:ext cx="896112" cy="621792"/>
          </a:xfrm>
          <a:prstGeom prst="rect">
            <a:avLst/>
          </a:prstGeom>
          <a:noFill/>
        </p:spPr>
        <p:txBody>
          <a:bodyPr wrap="square" rtlCol="0" anchor="ctr"/>
          <a:lstStyle/>
          <a:p>
            <a:pPr marL="0" indent="0" algn="ctr">
              <a:buNone/>
            </a:pPr>
            <a:r>
              <a:rPr lang="en-US" sz="1100" dirty="0">
                <a:solidFill>
                  <a:srgbClr val="0B2545"/>
                </a:solidFill>
                <a:latin typeface="Calibri" panose="020F0502020204030204" pitchFamily="34" charset="0"/>
                <a:ea typeface="Calibri" panose="020F0502020204030204" pitchFamily="34" charset="-122"/>
                <a:cs typeface="Calibri" panose="020F0502020204030204" pitchFamily="34" charset="-120"/>
              </a:rPr>
              <a:t>-0.03</a:t>
            </a:r>
            <a:endParaRPr lang="en-US" sz="1100" dirty="0"/>
          </a:p>
        </p:txBody>
      </p:sp>
      <p:sp>
        <p:nvSpPr>
          <p:cNvPr id="56" name="Shape 54"/>
          <p:cNvSpPr/>
          <p:nvPr/>
        </p:nvSpPr>
        <p:spPr>
          <a:xfrm>
            <a:off x="4764024" y="3666744"/>
            <a:ext cx="896112" cy="621792"/>
          </a:xfrm>
          <a:prstGeom prst="rect">
            <a:avLst/>
          </a:prstGeom>
          <a:solidFill>
            <a:srgbClr val="0B2545"/>
          </a:solidFill>
          <a:ln w="19050">
            <a:solidFill>
              <a:srgbClr val="FFFFFF"/>
            </a:solidFill>
            <a:prstDash val="solid"/>
          </a:ln>
        </p:spPr>
      </p:sp>
      <p:sp>
        <p:nvSpPr>
          <p:cNvPr id="57" name="Text 55"/>
          <p:cNvSpPr/>
          <p:nvPr/>
        </p:nvSpPr>
        <p:spPr>
          <a:xfrm>
            <a:off x="4764024" y="3666744"/>
            <a:ext cx="896112" cy="621792"/>
          </a:xfrm>
          <a:prstGeom prst="rect">
            <a:avLst/>
          </a:prstGeom>
          <a:noFill/>
        </p:spPr>
        <p:txBody>
          <a:bodyPr wrap="square" rtlCol="0" anchor="ctr"/>
          <a:lstStyle/>
          <a:p>
            <a:pPr marL="0" indent="0" algn="ctr">
              <a:buNone/>
            </a:pPr>
            <a:r>
              <a:rPr lang="en-US" sz="1100" b="1" dirty="0">
                <a:solidFill>
                  <a:srgbClr val="FFFFFF"/>
                </a:solidFill>
                <a:latin typeface="Calibri" panose="020F0502020204030204" pitchFamily="34" charset="0"/>
                <a:ea typeface="Calibri" panose="020F0502020204030204" pitchFamily="34" charset="-122"/>
                <a:cs typeface="Calibri" panose="020F0502020204030204" pitchFamily="34" charset="-120"/>
              </a:rPr>
              <a:t>1.00</a:t>
            </a:r>
            <a:endParaRPr lang="en-US" sz="1100" dirty="0"/>
          </a:p>
        </p:txBody>
      </p:sp>
      <p:sp>
        <p:nvSpPr>
          <p:cNvPr id="58" name="Shape 56"/>
          <p:cNvSpPr/>
          <p:nvPr/>
        </p:nvSpPr>
        <p:spPr>
          <a:xfrm>
            <a:off x="5696712" y="3666744"/>
            <a:ext cx="896112" cy="621792"/>
          </a:xfrm>
          <a:prstGeom prst="rect">
            <a:avLst/>
          </a:prstGeom>
          <a:solidFill>
            <a:srgbClr val="E9EFFB"/>
          </a:solidFill>
          <a:ln w="19050">
            <a:solidFill>
              <a:srgbClr val="FFFFFF"/>
            </a:solidFill>
            <a:prstDash val="solid"/>
          </a:ln>
        </p:spPr>
      </p:sp>
      <p:sp>
        <p:nvSpPr>
          <p:cNvPr id="59" name="Text 57"/>
          <p:cNvSpPr/>
          <p:nvPr/>
        </p:nvSpPr>
        <p:spPr>
          <a:xfrm>
            <a:off x="5696712" y="3666744"/>
            <a:ext cx="896112" cy="621792"/>
          </a:xfrm>
          <a:prstGeom prst="rect">
            <a:avLst/>
          </a:prstGeom>
          <a:noFill/>
        </p:spPr>
        <p:txBody>
          <a:bodyPr wrap="square" rtlCol="0" anchor="ctr"/>
          <a:lstStyle/>
          <a:p>
            <a:pPr marL="0" indent="0" algn="ctr">
              <a:buNone/>
            </a:pPr>
            <a:r>
              <a:rPr lang="en-US" sz="1100" dirty="0">
                <a:solidFill>
                  <a:srgbClr val="0B2545"/>
                </a:solidFill>
                <a:latin typeface="Calibri" panose="020F0502020204030204" pitchFamily="34" charset="0"/>
                <a:ea typeface="Calibri" panose="020F0502020204030204" pitchFamily="34" charset="-122"/>
                <a:cs typeface="Calibri" panose="020F0502020204030204" pitchFamily="34" charset="-120"/>
              </a:rPr>
              <a:t>-0.01</a:t>
            </a:r>
            <a:endParaRPr lang="en-US" sz="1100" dirty="0"/>
          </a:p>
        </p:txBody>
      </p:sp>
      <p:sp>
        <p:nvSpPr>
          <p:cNvPr id="60" name="Shape 58"/>
          <p:cNvSpPr/>
          <p:nvPr/>
        </p:nvSpPr>
        <p:spPr>
          <a:xfrm>
            <a:off x="6629400" y="3666744"/>
            <a:ext cx="896112" cy="621792"/>
          </a:xfrm>
          <a:prstGeom prst="rect">
            <a:avLst/>
          </a:prstGeom>
          <a:solidFill>
            <a:srgbClr val="F5DFAE"/>
          </a:solidFill>
          <a:ln w="19050">
            <a:solidFill>
              <a:srgbClr val="FFFFFF"/>
            </a:solidFill>
            <a:prstDash val="solid"/>
          </a:ln>
        </p:spPr>
      </p:sp>
      <p:sp>
        <p:nvSpPr>
          <p:cNvPr id="61" name="Text 59"/>
          <p:cNvSpPr/>
          <p:nvPr/>
        </p:nvSpPr>
        <p:spPr>
          <a:xfrm>
            <a:off x="6629400" y="3666744"/>
            <a:ext cx="896112" cy="621792"/>
          </a:xfrm>
          <a:prstGeom prst="rect">
            <a:avLst/>
          </a:prstGeom>
          <a:noFill/>
        </p:spPr>
        <p:txBody>
          <a:bodyPr wrap="square" rtlCol="0" anchor="ctr"/>
          <a:lstStyle/>
          <a:p>
            <a:pPr marL="0" indent="0" algn="ctr">
              <a:buNone/>
            </a:pPr>
            <a:r>
              <a:rPr lang="en-US" sz="1100" dirty="0">
                <a:solidFill>
                  <a:srgbClr val="0B2545"/>
                </a:solidFill>
                <a:latin typeface="Calibri" panose="020F0502020204030204" pitchFamily="34" charset="0"/>
                <a:ea typeface="Calibri" panose="020F0502020204030204" pitchFamily="34" charset="-122"/>
                <a:cs typeface="Calibri" panose="020F0502020204030204" pitchFamily="34" charset="-120"/>
              </a:rPr>
              <a:t>0.02</a:t>
            </a:r>
            <a:endParaRPr lang="en-US" sz="1100" dirty="0"/>
          </a:p>
        </p:txBody>
      </p:sp>
      <p:sp>
        <p:nvSpPr>
          <p:cNvPr id="62" name="Text 60"/>
          <p:cNvSpPr/>
          <p:nvPr/>
        </p:nvSpPr>
        <p:spPr>
          <a:xfrm>
            <a:off x="548640" y="4325112"/>
            <a:ext cx="1325880" cy="658368"/>
          </a:xfrm>
          <a:prstGeom prst="rect">
            <a:avLst/>
          </a:prstGeom>
          <a:noFill/>
        </p:spPr>
        <p:txBody>
          <a:bodyPr wrap="square" rtlCol="0" anchor="ctr"/>
          <a:lstStyle/>
          <a:p>
            <a:pPr marL="0" indent="0">
              <a:buNone/>
            </a:pPr>
            <a:r>
              <a:rPr lang="en-US" sz="1000" b="1" dirty="0">
                <a:solidFill>
                  <a:srgbClr val="0B2545"/>
                </a:solidFill>
                <a:latin typeface="Calibri" panose="020F0502020204030204" pitchFamily="34" charset="0"/>
                <a:ea typeface="Calibri" panose="020F0502020204030204" pitchFamily="34" charset="-122"/>
                <a:cs typeface="Calibri" panose="020F0502020204030204" pitchFamily="34" charset="-120"/>
              </a:rPr>
              <a:t>Downtime</a:t>
            </a:r>
            <a:endParaRPr lang="en-US" sz="1000" dirty="0"/>
          </a:p>
        </p:txBody>
      </p:sp>
      <p:sp>
        <p:nvSpPr>
          <p:cNvPr id="63" name="Shape 61"/>
          <p:cNvSpPr/>
          <p:nvPr/>
        </p:nvSpPr>
        <p:spPr>
          <a:xfrm>
            <a:off x="1965960" y="4325112"/>
            <a:ext cx="896112" cy="621792"/>
          </a:xfrm>
          <a:prstGeom prst="rect">
            <a:avLst/>
          </a:prstGeom>
          <a:solidFill>
            <a:srgbClr val="F5DFAE"/>
          </a:solidFill>
          <a:ln w="19050">
            <a:solidFill>
              <a:srgbClr val="FFFFFF"/>
            </a:solidFill>
            <a:prstDash val="solid"/>
          </a:ln>
        </p:spPr>
      </p:sp>
      <p:sp>
        <p:nvSpPr>
          <p:cNvPr id="64" name="Text 62"/>
          <p:cNvSpPr/>
          <p:nvPr/>
        </p:nvSpPr>
        <p:spPr>
          <a:xfrm>
            <a:off x="1965960" y="4325112"/>
            <a:ext cx="896112" cy="621792"/>
          </a:xfrm>
          <a:prstGeom prst="rect">
            <a:avLst/>
          </a:prstGeom>
          <a:noFill/>
        </p:spPr>
        <p:txBody>
          <a:bodyPr wrap="square" rtlCol="0" anchor="ctr"/>
          <a:lstStyle/>
          <a:p>
            <a:pPr marL="0" indent="0" algn="ctr">
              <a:buNone/>
            </a:pPr>
            <a:r>
              <a:rPr lang="en-US" sz="1100" dirty="0">
                <a:solidFill>
                  <a:srgbClr val="0B2545"/>
                </a:solidFill>
                <a:latin typeface="Calibri" panose="020F0502020204030204" pitchFamily="34" charset="0"/>
                <a:ea typeface="Calibri" panose="020F0502020204030204" pitchFamily="34" charset="-122"/>
                <a:cs typeface="Calibri" panose="020F0502020204030204" pitchFamily="34" charset="-120"/>
              </a:rPr>
              <a:t>0.02</a:t>
            </a:r>
            <a:endParaRPr lang="en-US" sz="1100" dirty="0"/>
          </a:p>
        </p:txBody>
      </p:sp>
      <p:sp>
        <p:nvSpPr>
          <p:cNvPr id="65" name="Shape 63"/>
          <p:cNvSpPr/>
          <p:nvPr/>
        </p:nvSpPr>
        <p:spPr>
          <a:xfrm>
            <a:off x="2898648" y="4325112"/>
            <a:ext cx="896112" cy="621792"/>
          </a:xfrm>
          <a:prstGeom prst="rect">
            <a:avLst/>
          </a:prstGeom>
          <a:solidFill>
            <a:srgbClr val="F0C978"/>
          </a:solidFill>
          <a:ln w="19050">
            <a:solidFill>
              <a:srgbClr val="FFFFFF"/>
            </a:solidFill>
            <a:prstDash val="solid"/>
          </a:ln>
        </p:spPr>
      </p:sp>
      <p:sp>
        <p:nvSpPr>
          <p:cNvPr id="66" name="Text 64"/>
          <p:cNvSpPr/>
          <p:nvPr/>
        </p:nvSpPr>
        <p:spPr>
          <a:xfrm>
            <a:off x="2898648" y="4325112"/>
            <a:ext cx="896112" cy="621792"/>
          </a:xfrm>
          <a:prstGeom prst="rect">
            <a:avLst/>
          </a:prstGeom>
          <a:noFill/>
        </p:spPr>
        <p:txBody>
          <a:bodyPr wrap="square" rtlCol="0" anchor="ctr"/>
          <a:lstStyle/>
          <a:p>
            <a:pPr marL="0" indent="0" algn="ctr">
              <a:buNone/>
            </a:pPr>
            <a:r>
              <a:rPr lang="en-US" sz="1100" dirty="0">
                <a:solidFill>
                  <a:srgbClr val="0B2545"/>
                </a:solidFill>
                <a:latin typeface="Calibri" panose="020F0502020204030204" pitchFamily="34" charset="0"/>
                <a:ea typeface="Calibri" panose="020F0502020204030204" pitchFamily="34" charset="-122"/>
                <a:cs typeface="Calibri" panose="020F0502020204030204" pitchFamily="34" charset="-120"/>
              </a:rPr>
              <a:t>0.05</a:t>
            </a:r>
            <a:endParaRPr lang="en-US" sz="1100" dirty="0"/>
          </a:p>
        </p:txBody>
      </p:sp>
      <p:sp>
        <p:nvSpPr>
          <p:cNvPr id="67" name="Shape 65"/>
          <p:cNvSpPr/>
          <p:nvPr/>
        </p:nvSpPr>
        <p:spPr>
          <a:xfrm>
            <a:off x="3831336" y="4325112"/>
            <a:ext cx="896112" cy="621792"/>
          </a:xfrm>
          <a:prstGeom prst="rect">
            <a:avLst/>
          </a:prstGeom>
          <a:solidFill>
            <a:srgbClr val="F5DFAE"/>
          </a:solidFill>
          <a:ln w="19050">
            <a:solidFill>
              <a:srgbClr val="FFFFFF"/>
            </a:solidFill>
            <a:prstDash val="solid"/>
          </a:ln>
        </p:spPr>
      </p:sp>
      <p:sp>
        <p:nvSpPr>
          <p:cNvPr id="68" name="Text 66"/>
          <p:cNvSpPr/>
          <p:nvPr/>
        </p:nvSpPr>
        <p:spPr>
          <a:xfrm>
            <a:off x="3831336" y="4325112"/>
            <a:ext cx="896112" cy="621792"/>
          </a:xfrm>
          <a:prstGeom prst="rect">
            <a:avLst/>
          </a:prstGeom>
          <a:noFill/>
        </p:spPr>
        <p:txBody>
          <a:bodyPr wrap="square" rtlCol="0" anchor="ctr"/>
          <a:lstStyle/>
          <a:p>
            <a:pPr marL="0" indent="0" algn="ctr">
              <a:buNone/>
            </a:pPr>
            <a:r>
              <a:rPr lang="en-US" sz="1100" dirty="0">
                <a:solidFill>
                  <a:srgbClr val="0B2545"/>
                </a:solidFill>
                <a:latin typeface="Calibri" panose="020F0502020204030204" pitchFamily="34" charset="0"/>
                <a:ea typeface="Calibri" panose="020F0502020204030204" pitchFamily="34" charset="-122"/>
                <a:cs typeface="Calibri" panose="020F0502020204030204" pitchFamily="34" charset="-120"/>
              </a:rPr>
              <a:t>0.03</a:t>
            </a:r>
            <a:endParaRPr lang="en-US" sz="1100" dirty="0"/>
          </a:p>
        </p:txBody>
      </p:sp>
      <p:sp>
        <p:nvSpPr>
          <p:cNvPr id="69" name="Shape 67"/>
          <p:cNvSpPr/>
          <p:nvPr/>
        </p:nvSpPr>
        <p:spPr>
          <a:xfrm>
            <a:off x="4764024" y="4325112"/>
            <a:ext cx="896112" cy="621792"/>
          </a:xfrm>
          <a:prstGeom prst="rect">
            <a:avLst/>
          </a:prstGeom>
          <a:solidFill>
            <a:srgbClr val="E9EFFB"/>
          </a:solidFill>
          <a:ln w="19050">
            <a:solidFill>
              <a:srgbClr val="FFFFFF"/>
            </a:solidFill>
            <a:prstDash val="solid"/>
          </a:ln>
        </p:spPr>
      </p:sp>
      <p:sp>
        <p:nvSpPr>
          <p:cNvPr id="70" name="Text 68"/>
          <p:cNvSpPr/>
          <p:nvPr/>
        </p:nvSpPr>
        <p:spPr>
          <a:xfrm>
            <a:off x="4764024" y="4325112"/>
            <a:ext cx="896112" cy="621792"/>
          </a:xfrm>
          <a:prstGeom prst="rect">
            <a:avLst/>
          </a:prstGeom>
          <a:noFill/>
        </p:spPr>
        <p:txBody>
          <a:bodyPr wrap="square" rtlCol="0" anchor="ctr"/>
          <a:lstStyle/>
          <a:p>
            <a:pPr marL="0" indent="0" algn="ctr">
              <a:buNone/>
            </a:pPr>
            <a:r>
              <a:rPr lang="en-US" sz="1100" dirty="0">
                <a:solidFill>
                  <a:srgbClr val="0B2545"/>
                </a:solidFill>
                <a:latin typeface="Calibri" panose="020F0502020204030204" pitchFamily="34" charset="0"/>
                <a:ea typeface="Calibri" panose="020F0502020204030204" pitchFamily="34" charset="-122"/>
                <a:cs typeface="Calibri" panose="020F0502020204030204" pitchFamily="34" charset="-120"/>
              </a:rPr>
              <a:t>-0.01</a:t>
            </a:r>
            <a:endParaRPr lang="en-US" sz="1100" dirty="0"/>
          </a:p>
        </p:txBody>
      </p:sp>
      <p:sp>
        <p:nvSpPr>
          <p:cNvPr id="71" name="Shape 69"/>
          <p:cNvSpPr/>
          <p:nvPr/>
        </p:nvSpPr>
        <p:spPr>
          <a:xfrm>
            <a:off x="5696712" y="4325112"/>
            <a:ext cx="896112" cy="621792"/>
          </a:xfrm>
          <a:prstGeom prst="rect">
            <a:avLst/>
          </a:prstGeom>
          <a:solidFill>
            <a:srgbClr val="0B2545"/>
          </a:solidFill>
          <a:ln w="19050">
            <a:solidFill>
              <a:srgbClr val="FFFFFF"/>
            </a:solidFill>
            <a:prstDash val="solid"/>
          </a:ln>
        </p:spPr>
      </p:sp>
      <p:sp>
        <p:nvSpPr>
          <p:cNvPr id="72" name="Text 70"/>
          <p:cNvSpPr/>
          <p:nvPr/>
        </p:nvSpPr>
        <p:spPr>
          <a:xfrm>
            <a:off x="5696712" y="4325112"/>
            <a:ext cx="896112" cy="621792"/>
          </a:xfrm>
          <a:prstGeom prst="rect">
            <a:avLst/>
          </a:prstGeom>
          <a:noFill/>
        </p:spPr>
        <p:txBody>
          <a:bodyPr wrap="square" rtlCol="0" anchor="ctr"/>
          <a:lstStyle/>
          <a:p>
            <a:pPr marL="0" indent="0" algn="ctr">
              <a:buNone/>
            </a:pPr>
            <a:r>
              <a:rPr lang="en-US" sz="1100" b="1" dirty="0">
                <a:solidFill>
                  <a:srgbClr val="FFFFFF"/>
                </a:solidFill>
                <a:latin typeface="Calibri" panose="020F0502020204030204" pitchFamily="34" charset="0"/>
                <a:ea typeface="Calibri" panose="020F0502020204030204" pitchFamily="34" charset="-122"/>
                <a:cs typeface="Calibri" panose="020F0502020204030204" pitchFamily="34" charset="-120"/>
              </a:rPr>
              <a:t>1.00</a:t>
            </a:r>
            <a:endParaRPr lang="en-US" sz="1100" dirty="0"/>
          </a:p>
        </p:txBody>
      </p:sp>
      <p:sp>
        <p:nvSpPr>
          <p:cNvPr id="73" name="Shape 71"/>
          <p:cNvSpPr/>
          <p:nvPr/>
        </p:nvSpPr>
        <p:spPr>
          <a:xfrm>
            <a:off x="6629400" y="4325112"/>
            <a:ext cx="896112" cy="621792"/>
          </a:xfrm>
          <a:prstGeom prst="rect">
            <a:avLst/>
          </a:prstGeom>
          <a:solidFill>
            <a:srgbClr val="F5DFAE"/>
          </a:solidFill>
          <a:ln w="19050">
            <a:solidFill>
              <a:srgbClr val="FFFFFF"/>
            </a:solidFill>
            <a:prstDash val="solid"/>
          </a:ln>
        </p:spPr>
      </p:sp>
      <p:sp>
        <p:nvSpPr>
          <p:cNvPr id="74" name="Text 72"/>
          <p:cNvSpPr/>
          <p:nvPr/>
        </p:nvSpPr>
        <p:spPr>
          <a:xfrm>
            <a:off x="6629400" y="4325112"/>
            <a:ext cx="896112" cy="621792"/>
          </a:xfrm>
          <a:prstGeom prst="rect">
            <a:avLst/>
          </a:prstGeom>
          <a:noFill/>
        </p:spPr>
        <p:txBody>
          <a:bodyPr wrap="square" rtlCol="0" anchor="ctr"/>
          <a:lstStyle/>
          <a:p>
            <a:pPr marL="0" indent="0" algn="ctr">
              <a:buNone/>
            </a:pPr>
            <a:r>
              <a:rPr lang="en-US" sz="1100" dirty="0">
                <a:solidFill>
                  <a:srgbClr val="0B2545"/>
                </a:solidFill>
                <a:latin typeface="Calibri" panose="020F0502020204030204" pitchFamily="34" charset="0"/>
                <a:ea typeface="Calibri" panose="020F0502020204030204" pitchFamily="34" charset="-122"/>
                <a:cs typeface="Calibri" panose="020F0502020204030204" pitchFamily="34" charset="-120"/>
              </a:rPr>
              <a:t>0.02</a:t>
            </a:r>
            <a:endParaRPr lang="en-US" sz="1100" dirty="0"/>
          </a:p>
        </p:txBody>
      </p:sp>
      <p:sp>
        <p:nvSpPr>
          <p:cNvPr id="75" name="Text 73"/>
          <p:cNvSpPr/>
          <p:nvPr/>
        </p:nvSpPr>
        <p:spPr>
          <a:xfrm>
            <a:off x="548640" y="5212080"/>
            <a:ext cx="7863840" cy="365760"/>
          </a:xfrm>
          <a:prstGeom prst="rect">
            <a:avLst/>
          </a:prstGeom>
          <a:noFill/>
        </p:spPr>
        <p:txBody>
          <a:bodyPr wrap="square" rtlCol="0" anchor="ctr"/>
          <a:lstStyle/>
          <a:p>
            <a:pPr marL="0" indent="0">
              <a:buNone/>
            </a:pPr>
            <a:r>
              <a:rPr lang="en-US" sz="1050" i="1" dirty="0">
                <a:solidFill>
                  <a:srgbClr val="44536B"/>
                </a:solidFill>
                <a:latin typeface="Calibri" panose="020F0502020204030204" pitchFamily="34" charset="0"/>
                <a:ea typeface="Calibri" panose="020F0502020204030204" pitchFamily="34" charset="-122"/>
                <a:cs typeface="Calibri" panose="020F0502020204030204" pitchFamily="34" charset="-120"/>
              </a:rPr>
              <a:t>All values between -0.03 and 0.05 -statistically indistinguishable from no relationship.</a:t>
            </a:r>
            <a:endParaRPr lang="en-US" sz="1050" dirty="0"/>
          </a:p>
        </p:txBody>
      </p:sp>
      <p:sp>
        <p:nvSpPr>
          <p:cNvPr id="76" name="Shape 74"/>
          <p:cNvSpPr/>
          <p:nvPr/>
        </p:nvSpPr>
        <p:spPr>
          <a:xfrm>
            <a:off x="8686800" y="1691640"/>
            <a:ext cx="2971800" cy="4754880"/>
          </a:xfrm>
          <a:prstGeom prst="rect">
            <a:avLst/>
          </a:prstGeom>
          <a:solidFill>
            <a:srgbClr val="0B2545"/>
          </a:solidFill>
        </p:spPr>
      </p:sp>
      <p:sp>
        <p:nvSpPr>
          <p:cNvPr id="77" name="Text 75"/>
          <p:cNvSpPr/>
          <p:nvPr/>
        </p:nvSpPr>
        <p:spPr>
          <a:xfrm>
            <a:off x="8915400" y="1920240"/>
            <a:ext cx="2560320" cy="274320"/>
          </a:xfrm>
          <a:prstGeom prst="rect">
            <a:avLst/>
          </a:prstGeom>
          <a:noFill/>
        </p:spPr>
        <p:txBody>
          <a:bodyPr wrap="square" rtlCol="0" anchor="ctr"/>
          <a:lstStyle/>
          <a:p>
            <a:pPr marL="0" indent="0">
              <a:buNone/>
            </a:pPr>
            <a:r>
              <a:rPr lang="en-US" sz="1050" b="1" kern="0" spc="150" dirty="0">
                <a:solidFill>
                  <a:srgbClr val="C79A3D"/>
                </a:solidFill>
                <a:latin typeface="Calibri" panose="020F0502020204030204" pitchFamily="34" charset="0"/>
                <a:ea typeface="Calibri" panose="020F0502020204030204" pitchFamily="34" charset="-122"/>
                <a:cs typeface="Calibri" panose="020F0502020204030204" pitchFamily="34" charset="-120"/>
              </a:rPr>
              <a:t>VERDICT</a:t>
            </a:r>
            <a:endParaRPr lang="en-US" sz="1050" dirty="0"/>
          </a:p>
        </p:txBody>
      </p:sp>
      <p:sp>
        <p:nvSpPr>
          <p:cNvPr id="78" name="Text 76"/>
          <p:cNvSpPr/>
          <p:nvPr/>
        </p:nvSpPr>
        <p:spPr>
          <a:xfrm>
            <a:off x="8915400" y="2194560"/>
            <a:ext cx="2560320" cy="822960"/>
          </a:xfrm>
          <a:prstGeom prst="rect">
            <a:avLst/>
          </a:prstGeom>
          <a:noFill/>
        </p:spPr>
        <p:txBody>
          <a:bodyPr wrap="square" rtlCol="0" anchor="ctr"/>
          <a:lstStyle/>
          <a:p>
            <a:pPr marL="0" indent="0">
              <a:lnSpc>
                <a:spcPct val="105000"/>
              </a:lnSpc>
              <a:buNone/>
            </a:pPr>
            <a:r>
              <a:rPr lang="en-US" sz="1800" b="1" dirty="0">
                <a:solidFill>
                  <a:srgbClr val="FFFFFF"/>
                </a:solidFill>
                <a:latin typeface="Cambria" panose="02040503050406030204" pitchFamily="34" charset="0"/>
                <a:ea typeface="Cambria" panose="02040503050406030204" pitchFamily="34" charset="-122"/>
                <a:cs typeface="Cambria" panose="02040503050406030204" pitchFamily="34" charset="-120"/>
              </a:rPr>
              <a:t>Hypothesis: Disproven</a:t>
            </a:r>
            <a:endParaRPr lang="en-US" sz="1800" dirty="0"/>
          </a:p>
        </p:txBody>
      </p:sp>
      <p:sp>
        <p:nvSpPr>
          <p:cNvPr id="79" name="Text 77"/>
          <p:cNvSpPr/>
          <p:nvPr/>
        </p:nvSpPr>
        <p:spPr>
          <a:xfrm>
            <a:off x="8915400" y="3108960"/>
            <a:ext cx="2560320" cy="3108960"/>
          </a:xfrm>
          <a:prstGeom prst="rect">
            <a:avLst/>
          </a:prstGeom>
          <a:noFill/>
        </p:spPr>
        <p:txBody>
          <a:bodyPr wrap="square" rtlCol="0" anchor="ctr"/>
          <a:lstStyle/>
          <a:p>
            <a:pPr marL="0" indent="0">
              <a:lnSpc>
                <a:spcPct val="132000"/>
              </a:lnSpc>
              <a:buNone/>
            </a:pPr>
            <a:r>
              <a:rPr lang="en-US" sz="1100" dirty="0">
                <a:solidFill>
                  <a:srgbClr val="CADCFC"/>
                </a:solidFill>
                <a:latin typeface="Calibri" panose="020F0502020204030204" pitchFamily="34" charset="0"/>
                <a:ea typeface="Calibri" panose="020F0502020204030204" pitchFamily="34" charset="-122"/>
                <a:cs typeface="Calibri" panose="020F0502020204030204" pitchFamily="34" charset="-120"/>
              </a:rPr>
              <a:t>Temperature and humidity, within the ranges recorded on our floor, are not driving defect or breakdown patterns. That's a cost-saving finding: tighter climate control is not the lever to pull for quality or downtime -and it frees up that budget for the machine-level fixes that actually move the needle.</a:t>
            </a:r>
            <a:endParaRPr lang="en-US" sz="1100" dirty="0"/>
          </a:p>
        </p:txBody>
      </p:sp>
      <p:sp>
        <p:nvSpPr>
          <p:cNvPr id="80" name="Text 78"/>
          <p:cNvSpPr/>
          <p:nvPr/>
        </p:nvSpPr>
        <p:spPr>
          <a:xfrm>
            <a:off x="11551615" y="6473952"/>
            <a:ext cx="457200" cy="274320"/>
          </a:xfrm>
          <a:prstGeom prst="rect">
            <a:avLst/>
          </a:prstGeom>
          <a:noFill/>
        </p:spPr>
        <p:txBody>
          <a:bodyPr wrap="square" rtlCol="0" anchor="ctr"/>
          <a:lstStyle/>
          <a:p>
            <a:pPr marL="0" indent="0" algn="r">
              <a:buNone/>
            </a:pPr>
            <a:r>
              <a:rPr lang="en-US" sz="900" dirty="0">
                <a:solidFill>
                  <a:srgbClr val="8C9AB3"/>
                </a:solidFill>
                <a:latin typeface="Calibri" panose="020F0502020204030204" pitchFamily="34" charset="0"/>
                <a:ea typeface="Calibri" panose="020F0502020204030204" pitchFamily="34" charset="-122"/>
                <a:cs typeface="Calibri" panose="020F0502020204030204"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6F8FC"/>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274320"/>
          </a:xfrm>
          <a:prstGeom prst="rect">
            <a:avLst/>
          </a:prstGeom>
          <a:noFill/>
        </p:spPr>
        <p:txBody>
          <a:bodyPr wrap="square" rtlCol="0" anchor="ctr"/>
          <a:lstStyle/>
          <a:p>
            <a:pPr marL="0" indent="0">
              <a:buNone/>
            </a:pPr>
            <a:r>
              <a:rPr lang="en-US" sz="1200" b="1" kern="0" spc="200" dirty="0">
                <a:solidFill>
                  <a:srgbClr val="9C7A2B"/>
                </a:solidFill>
                <a:latin typeface="Calibri" panose="020F0502020204030204" pitchFamily="34" charset="0"/>
                <a:ea typeface="Calibri" panose="020F0502020204030204" pitchFamily="34" charset="-122"/>
                <a:cs typeface="Calibri" panose="020F0502020204030204" pitchFamily="34" charset="-120"/>
              </a:rPr>
              <a:t>BEYOND THE BRIEF -ADDED ANALYSIS</a:t>
            </a:r>
            <a:endParaRPr lang="en-US" sz="1200" dirty="0"/>
          </a:p>
        </p:txBody>
      </p:sp>
      <p:sp>
        <p:nvSpPr>
          <p:cNvPr id="3" name="Text 1"/>
          <p:cNvSpPr/>
          <p:nvPr/>
        </p:nvSpPr>
        <p:spPr>
          <a:xfrm>
            <a:off x="548640" y="658368"/>
            <a:ext cx="10789920" cy="640080"/>
          </a:xfrm>
          <a:prstGeom prst="rect">
            <a:avLst/>
          </a:prstGeom>
          <a:noFill/>
        </p:spPr>
        <p:txBody>
          <a:bodyPr wrap="square" rtlCol="0" anchor="ctr"/>
          <a:lstStyle/>
          <a:p>
            <a:pPr marL="0" indent="0" algn="l">
              <a:buNone/>
            </a:pPr>
            <a:r>
              <a:rPr lang="en-US" sz="3000" b="1" dirty="0">
                <a:solidFill>
                  <a:srgbClr val="0B2545"/>
                </a:solidFill>
                <a:latin typeface="Cambria" panose="02040503050406030204" pitchFamily="34" charset="0"/>
                <a:ea typeface="Cambria" panose="02040503050406030204" pitchFamily="34" charset="-122"/>
                <a:cs typeface="Cambria" panose="02040503050406030204" pitchFamily="34" charset="-120"/>
              </a:rPr>
              <a:t>Translating the Floor Data Into a Language Leadership Trades In: Money</a:t>
            </a:r>
            <a:endParaRPr lang="en-US" sz="3000" dirty="0"/>
          </a:p>
        </p:txBody>
      </p:sp>
      <p:sp>
        <p:nvSpPr>
          <p:cNvPr id="4" name="Shape 2"/>
          <p:cNvSpPr/>
          <p:nvPr/>
        </p:nvSpPr>
        <p:spPr>
          <a:xfrm>
            <a:off x="502920" y="1481328"/>
            <a:ext cx="5394960" cy="4937760"/>
          </a:xfrm>
          <a:prstGeom prst="rect">
            <a:avLst/>
          </a:prstGeom>
          <a:solidFill>
            <a:srgbClr val="FFFFFF"/>
          </a:solidFill>
          <a:ln w="12700">
            <a:solidFill>
              <a:srgbClr val="CADCFC"/>
            </a:solidFill>
            <a:prstDash val="solid"/>
          </a:ln>
          <a:effectLst>
            <a:outerShdw blurRad="76200" dist="25400" dir="5400000" algn="bl" rotWithShape="0">
              <a:srgbClr val="9AA9C2">
                <a:alpha val="25000"/>
              </a:srgbClr>
            </a:outerShdw>
          </a:effectLst>
        </p:spPr>
      </p:sp>
      <p:sp>
        <p:nvSpPr>
          <p:cNvPr id="5" name="Text 3"/>
          <p:cNvSpPr/>
          <p:nvPr/>
        </p:nvSpPr>
        <p:spPr>
          <a:xfrm>
            <a:off x="777240" y="1691640"/>
            <a:ext cx="4846320" cy="274320"/>
          </a:xfrm>
          <a:prstGeom prst="rect">
            <a:avLst/>
          </a:prstGeom>
          <a:noFill/>
        </p:spPr>
        <p:txBody>
          <a:bodyPr wrap="square" rtlCol="0" anchor="ctr"/>
          <a:lstStyle/>
          <a:p>
            <a:pPr marL="0" indent="0">
              <a:buNone/>
            </a:pPr>
            <a:r>
              <a:rPr lang="en-US" sz="1050" b="1" kern="0" spc="100" dirty="0">
                <a:solidFill>
                  <a:srgbClr val="9C7A2B"/>
                </a:solidFill>
                <a:latin typeface="Calibri" panose="020F0502020204030204" pitchFamily="34" charset="0"/>
                <a:ea typeface="Calibri" panose="020F0502020204030204" pitchFamily="34" charset="-122"/>
                <a:cs typeface="Calibri" panose="020F0502020204030204" pitchFamily="34" charset="-120"/>
              </a:rPr>
              <a:t>SHOP-FLOOR HEALTH vs. WORLD-CLASS BENCHMARK</a:t>
            </a:r>
            <a:endParaRPr lang="en-US" sz="1050" dirty="0"/>
          </a:p>
        </p:txBody>
      </p:sp>
      <p:sp>
        <p:nvSpPr>
          <p:cNvPr id="6" name="Text 4"/>
          <p:cNvSpPr/>
          <p:nvPr/>
        </p:nvSpPr>
        <p:spPr>
          <a:xfrm>
            <a:off x="777240" y="1965960"/>
            <a:ext cx="4846320" cy="457200"/>
          </a:xfrm>
          <a:prstGeom prst="rect">
            <a:avLst/>
          </a:prstGeom>
          <a:noFill/>
        </p:spPr>
        <p:txBody>
          <a:bodyPr wrap="square" rtlCol="0" anchor="ctr"/>
          <a:lstStyle/>
          <a:p>
            <a:pPr marL="0" indent="0">
              <a:buNone/>
            </a:pPr>
            <a:r>
              <a:rPr lang="en-US" sz="1000" i="1" dirty="0">
                <a:solidFill>
                  <a:srgbClr val="44536B"/>
                </a:solidFill>
                <a:latin typeface="Calibri" panose="020F0502020204030204" pitchFamily="34" charset="0"/>
                <a:ea typeface="Calibri" panose="020F0502020204030204" pitchFamily="34" charset="-122"/>
                <a:cs typeface="Calibri" panose="020F0502020204030204" pitchFamily="34" charset="-120"/>
              </a:rPr>
              <a:t>Reframing two of our own KPIs the way lean-manufacturing / TPM programs benchmark plants worldwide.</a:t>
            </a:r>
            <a:endParaRPr lang="en-US" sz="1000" dirty="0"/>
          </a:p>
        </p:txBody>
      </p:sp>
      <p:graphicFrame>
        <p:nvGraphicFramePr>
          <p:cNvPr id="7" name="Chart 0"/>
          <p:cNvGraphicFramePr/>
          <p:nvPr/>
        </p:nvGraphicFramePr>
        <p:xfrm>
          <a:off x="777240" y="2514600"/>
          <a:ext cx="4846320" cy="2743200"/>
        </p:xfrm>
        <a:graphic>
          <a:graphicData uri="http://schemas.openxmlformats.org/drawingml/2006/chart">
            <c:chart xmlns:c="http://schemas.openxmlformats.org/drawingml/2006/chart" xmlns:r="http://schemas.openxmlformats.org/officeDocument/2006/relationships" r:id="rId1"/>
          </a:graphicData>
        </a:graphic>
      </p:graphicFrame>
      <p:sp>
        <p:nvSpPr>
          <p:cNvPr id="8" name="Text 5"/>
          <p:cNvSpPr/>
          <p:nvPr/>
        </p:nvSpPr>
        <p:spPr>
          <a:xfrm>
            <a:off x="777240" y="5349240"/>
            <a:ext cx="4846320" cy="1005840"/>
          </a:xfrm>
          <a:prstGeom prst="rect">
            <a:avLst/>
          </a:prstGeom>
          <a:noFill/>
        </p:spPr>
        <p:txBody>
          <a:bodyPr wrap="square" rtlCol="0" anchor="ctr"/>
          <a:lstStyle/>
          <a:p>
            <a:pPr marL="0" indent="0">
              <a:lnSpc>
                <a:spcPct val="125000"/>
              </a:lnSpc>
              <a:buNone/>
            </a:pPr>
            <a:r>
              <a:rPr lang="en-US" sz="1000" dirty="0">
                <a:solidFill>
                  <a:srgbClr val="44536B"/>
                </a:solidFill>
                <a:latin typeface="Calibri" panose="020F0502020204030204" pitchFamily="34" charset="0"/>
                <a:ea typeface="Calibri" panose="020F0502020204030204" pitchFamily="34" charset="-122"/>
                <a:cs typeface="Calibri" panose="020F0502020204030204" pitchFamily="34" charset="-120"/>
              </a:rPr>
              <a:t>Availability (89.1%) is within reach of world-class. The real gap is Quality Rate -96.4% vs. a 99% benchmark -which is where scrap and rework live.</a:t>
            </a:r>
            <a:endParaRPr lang="en-US" sz="1000" dirty="0"/>
          </a:p>
        </p:txBody>
      </p:sp>
      <p:sp>
        <p:nvSpPr>
          <p:cNvPr id="9" name="Shape 6"/>
          <p:cNvSpPr/>
          <p:nvPr/>
        </p:nvSpPr>
        <p:spPr>
          <a:xfrm>
            <a:off x="6172200" y="1481328"/>
            <a:ext cx="5532120" cy="4937760"/>
          </a:xfrm>
          <a:prstGeom prst="rect">
            <a:avLst/>
          </a:prstGeom>
          <a:solidFill>
            <a:srgbClr val="0B2545"/>
          </a:solidFill>
        </p:spPr>
      </p:sp>
      <p:sp>
        <p:nvSpPr>
          <p:cNvPr id="10" name="Text 7"/>
          <p:cNvSpPr/>
          <p:nvPr/>
        </p:nvSpPr>
        <p:spPr>
          <a:xfrm>
            <a:off x="6446520" y="1691640"/>
            <a:ext cx="5029200" cy="274320"/>
          </a:xfrm>
          <a:prstGeom prst="rect">
            <a:avLst/>
          </a:prstGeom>
          <a:noFill/>
        </p:spPr>
        <p:txBody>
          <a:bodyPr wrap="square" rtlCol="0" anchor="ctr"/>
          <a:lstStyle/>
          <a:p>
            <a:pPr marL="0" indent="0">
              <a:buNone/>
            </a:pPr>
            <a:r>
              <a:rPr lang="en-US" sz="1050" b="1" kern="0" spc="100" dirty="0">
                <a:solidFill>
                  <a:srgbClr val="C79A3D"/>
                </a:solidFill>
                <a:latin typeface="Calibri" panose="020F0502020204030204" pitchFamily="34" charset="0"/>
                <a:ea typeface="Calibri" panose="020F0502020204030204" pitchFamily="34" charset="-122"/>
                <a:cs typeface="Calibri" panose="020F0502020204030204" pitchFamily="34" charset="-120"/>
              </a:rPr>
              <a:t>HIDDEN COST OF VARIABILITY</a:t>
            </a:r>
            <a:endParaRPr lang="en-US" sz="1050" dirty="0"/>
          </a:p>
        </p:txBody>
      </p:sp>
      <p:sp>
        <p:nvSpPr>
          <p:cNvPr id="11" name="Text 8"/>
          <p:cNvSpPr/>
          <p:nvPr/>
        </p:nvSpPr>
        <p:spPr>
          <a:xfrm>
            <a:off x="6446520" y="1965960"/>
            <a:ext cx="5029200" cy="502920"/>
          </a:xfrm>
          <a:prstGeom prst="rect">
            <a:avLst/>
          </a:prstGeom>
          <a:noFill/>
        </p:spPr>
        <p:txBody>
          <a:bodyPr wrap="square" rtlCol="0" anchor="ctr"/>
          <a:lstStyle/>
          <a:p>
            <a:pPr marL="0" indent="0">
              <a:buNone/>
            </a:pPr>
            <a:r>
              <a:rPr lang="en-US" sz="1000" i="1" dirty="0">
                <a:solidFill>
                  <a:srgbClr val="CADCFC"/>
                </a:solidFill>
                <a:latin typeface="Calibri" panose="020F0502020204030204" pitchFamily="34" charset="0"/>
                <a:ea typeface="Calibri" panose="020F0502020204030204" pitchFamily="34" charset="-122"/>
                <a:cs typeface="Calibri" panose="020F0502020204030204" pitchFamily="34" charset="-120"/>
              </a:rPr>
              <a:t>A cost-of-poor-quality (COPQ) estimate -what downtime, defects and rework are worth in rupees, not just percentages.</a:t>
            </a:r>
            <a:endParaRPr lang="en-US" sz="1000" dirty="0"/>
          </a:p>
        </p:txBody>
      </p:sp>
      <p:sp>
        <p:nvSpPr>
          <p:cNvPr id="12" name="Text 9"/>
          <p:cNvSpPr/>
          <p:nvPr/>
        </p:nvSpPr>
        <p:spPr>
          <a:xfrm>
            <a:off x="6446520" y="2514600"/>
            <a:ext cx="5029200" cy="777240"/>
          </a:xfrm>
          <a:prstGeom prst="rect">
            <a:avLst/>
          </a:prstGeom>
          <a:noFill/>
        </p:spPr>
        <p:txBody>
          <a:bodyPr wrap="square" rtlCol="0" anchor="ctr"/>
          <a:lstStyle/>
          <a:p>
            <a:pPr marL="0" indent="0">
              <a:buNone/>
            </a:pPr>
            <a:r>
              <a:rPr lang="en-US" sz="3400" b="1" dirty="0">
                <a:solidFill>
                  <a:srgbClr val="C79A3D"/>
                </a:solidFill>
                <a:latin typeface="Cambria" panose="02040503050406030204" pitchFamily="34" charset="0"/>
                <a:ea typeface="Cambria" panose="02040503050406030204" pitchFamily="34" charset="-122"/>
                <a:cs typeface="Cambria" panose="02040503050406030204" pitchFamily="34" charset="-120"/>
              </a:rPr>
              <a:t>₹18.6 Lakh</a:t>
            </a:r>
            <a:endParaRPr lang="en-US" sz="3400" dirty="0"/>
          </a:p>
        </p:txBody>
      </p:sp>
      <p:sp>
        <p:nvSpPr>
          <p:cNvPr id="13" name="Text 10"/>
          <p:cNvSpPr/>
          <p:nvPr/>
        </p:nvSpPr>
        <p:spPr>
          <a:xfrm>
            <a:off x="6446520" y="3273552"/>
            <a:ext cx="5029200" cy="502920"/>
          </a:xfrm>
          <a:prstGeom prst="rect">
            <a:avLst/>
          </a:prstGeom>
          <a:noFill/>
        </p:spPr>
        <p:txBody>
          <a:bodyPr wrap="square" rtlCol="0" anchor="ctr"/>
          <a:lstStyle/>
          <a:p>
            <a:pPr marL="0" indent="0">
              <a:buNone/>
            </a:pPr>
            <a:r>
              <a:rPr lang="en-US" sz="1050" dirty="0">
                <a:solidFill>
                  <a:srgbClr val="FFFFFF"/>
                </a:solidFill>
                <a:latin typeface="Calibri" panose="020F0502020204030204" pitchFamily="34" charset="0"/>
                <a:ea typeface="Calibri" panose="020F0502020204030204" pitchFamily="34" charset="-122"/>
                <a:cs typeface="Calibri" panose="020F0502020204030204" pitchFamily="34" charset="-120"/>
              </a:rPr>
              <a:t>estimated recoverable value across the review period, at current downtime, scrap and rework levels.</a:t>
            </a:r>
            <a:endParaRPr lang="en-US" sz="1050" dirty="0"/>
          </a:p>
        </p:txBody>
      </p:sp>
      <p:sp>
        <p:nvSpPr>
          <p:cNvPr id="14" name="Text 11"/>
          <p:cNvSpPr/>
          <p:nvPr/>
        </p:nvSpPr>
        <p:spPr>
          <a:xfrm>
            <a:off x="6446520" y="3977640"/>
            <a:ext cx="3383280" cy="292608"/>
          </a:xfrm>
          <a:prstGeom prst="rect">
            <a:avLst/>
          </a:prstGeom>
          <a:noFill/>
        </p:spPr>
        <p:txBody>
          <a:bodyPr wrap="square" rtlCol="0" anchor="ctr"/>
          <a:lstStyle/>
          <a:p>
            <a:pPr marL="0" indent="0">
              <a:buNone/>
            </a:pPr>
            <a:r>
              <a:rPr lang="en-US" sz="1050" dirty="0">
                <a:solidFill>
                  <a:srgbClr val="FFFFFF"/>
                </a:solidFill>
                <a:latin typeface="Calibri" panose="020F0502020204030204" pitchFamily="34" charset="0"/>
                <a:ea typeface="Calibri" panose="020F0502020204030204" pitchFamily="34" charset="-122"/>
                <a:cs typeface="Calibri" panose="020F0502020204030204" pitchFamily="34" charset="-120"/>
              </a:rPr>
              <a:t>Lost output value from unplanned downtime</a:t>
            </a:r>
            <a:endParaRPr lang="en-US" sz="1050" dirty="0"/>
          </a:p>
        </p:txBody>
      </p:sp>
      <p:sp>
        <p:nvSpPr>
          <p:cNvPr id="15" name="Text 12"/>
          <p:cNvSpPr/>
          <p:nvPr/>
        </p:nvSpPr>
        <p:spPr>
          <a:xfrm>
            <a:off x="9921240" y="3977640"/>
            <a:ext cx="1600200" cy="292608"/>
          </a:xfrm>
          <a:prstGeom prst="rect">
            <a:avLst/>
          </a:prstGeom>
          <a:noFill/>
        </p:spPr>
        <p:txBody>
          <a:bodyPr wrap="square" rtlCol="0" anchor="ctr"/>
          <a:lstStyle/>
          <a:p>
            <a:pPr marL="0" indent="0" algn="r">
              <a:buNone/>
            </a:pPr>
            <a:r>
              <a:rPr lang="en-US" sz="1050" b="1" dirty="0">
                <a:solidFill>
                  <a:srgbClr val="C79A3D"/>
                </a:solidFill>
                <a:latin typeface="Calibri" panose="020F0502020204030204" pitchFamily="34" charset="0"/>
                <a:ea typeface="Calibri" panose="020F0502020204030204" pitchFamily="34" charset="-122"/>
                <a:cs typeface="Calibri" panose="020F0502020204030204" pitchFamily="34" charset="-120"/>
              </a:rPr>
              <a:t>₹13.83 L</a:t>
            </a:r>
            <a:endParaRPr lang="en-US" sz="1050" dirty="0"/>
          </a:p>
        </p:txBody>
      </p:sp>
      <p:sp>
        <p:nvSpPr>
          <p:cNvPr id="16" name="Shape 13"/>
          <p:cNvSpPr/>
          <p:nvPr/>
        </p:nvSpPr>
        <p:spPr>
          <a:xfrm>
            <a:off x="6446520" y="4288536"/>
            <a:ext cx="5029200" cy="109728"/>
          </a:xfrm>
          <a:prstGeom prst="rect">
            <a:avLst/>
          </a:prstGeom>
          <a:solidFill>
            <a:srgbClr val="0F2E57"/>
          </a:solidFill>
        </p:spPr>
      </p:sp>
      <p:sp>
        <p:nvSpPr>
          <p:cNvPr id="17" name="Shape 14"/>
          <p:cNvSpPr/>
          <p:nvPr/>
        </p:nvSpPr>
        <p:spPr>
          <a:xfrm>
            <a:off x="6446520" y="4288536"/>
            <a:ext cx="3721608" cy="109728"/>
          </a:xfrm>
          <a:prstGeom prst="rect">
            <a:avLst/>
          </a:prstGeom>
          <a:solidFill>
            <a:srgbClr val="C79A3D"/>
          </a:solidFill>
        </p:spPr>
      </p:sp>
      <p:sp>
        <p:nvSpPr>
          <p:cNvPr id="18" name="Text 15"/>
          <p:cNvSpPr/>
          <p:nvPr/>
        </p:nvSpPr>
        <p:spPr>
          <a:xfrm>
            <a:off x="6446520" y="4544568"/>
            <a:ext cx="3383280" cy="292608"/>
          </a:xfrm>
          <a:prstGeom prst="rect">
            <a:avLst/>
          </a:prstGeom>
          <a:noFill/>
        </p:spPr>
        <p:txBody>
          <a:bodyPr wrap="square" rtlCol="0" anchor="ctr"/>
          <a:lstStyle/>
          <a:p>
            <a:pPr marL="0" indent="0">
              <a:buNone/>
            </a:pPr>
            <a:r>
              <a:rPr lang="en-US" sz="1050" dirty="0">
                <a:solidFill>
                  <a:srgbClr val="FFFFFF"/>
                </a:solidFill>
                <a:latin typeface="Calibri" panose="020F0502020204030204" pitchFamily="34" charset="0"/>
                <a:ea typeface="Calibri" panose="020F0502020204030204" pitchFamily="34" charset="-122"/>
                <a:cs typeface="Calibri" panose="020F0502020204030204" pitchFamily="34" charset="-120"/>
              </a:rPr>
              <a:t>Material cost tied up in defective units</a:t>
            </a:r>
            <a:endParaRPr lang="en-US" sz="1050" dirty="0"/>
          </a:p>
        </p:txBody>
      </p:sp>
      <p:sp>
        <p:nvSpPr>
          <p:cNvPr id="19" name="Text 16"/>
          <p:cNvSpPr/>
          <p:nvPr/>
        </p:nvSpPr>
        <p:spPr>
          <a:xfrm>
            <a:off x="9921240" y="4544568"/>
            <a:ext cx="1600200" cy="292608"/>
          </a:xfrm>
          <a:prstGeom prst="rect">
            <a:avLst/>
          </a:prstGeom>
          <a:noFill/>
        </p:spPr>
        <p:txBody>
          <a:bodyPr wrap="square" rtlCol="0" anchor="ctr"/>
          <a:lstStyle/>
          <a:p>
            <a:pPr marL="0" indent="0" algn="r">
              <a:buNone/>
            </a:pPr>
            <a:r>
              <a:rPr lang="en-US" sz="1050" b="1" dirty="0">
                <a:solidFill>
                  <a:srgbClr val="C79A3D"/>
                </a:solidFill>
                <a:latin typeface="Calibri" panose="020F0502020204030204" pitchFamily="34" charset="0"/>
                <a:ea typeface="Calibri" panose="020F0502020204030204" pitchFamily="34" charset="-122"/>
                <a:cs typeface="Calibri" panose="020F0502020204030204" pitchFamily="34" charset="-120"/>
              </a:rPr>
              <a:t>₹4.12 L</a:t>
            </a:r>
            <a:endParaRPr lang="en-US" sz="1050" dirty="0"/>
          </a:p>
        </p:txBody>
      </p:sp>
      <p:sp>
        <p:nvSpPr>
          <p:cNvPr id="20" name="Shape 17"/>
          <p:cNvSpPr/>
          <p:nvPr/>
        </p:nvSpPr>
        <p:spPr>
          <a:xfrm>
            <a:off x="6446520" y="4855464"/>
            <a:ext cx="5029200" cy="109728"/>
          </a:xfrm>
          <a:prstGeom prst="rect">
            <a:avLst/>
          </a:prstGeom>
          <a:solidFill>
            <a:srgbClr val="0F2E57"/>
          </a:solidFill>
        </p:spPr>
      </p:sp>
      <p:sp>
        <p:nvSpPr>
          <p:cNvPr id="21" name="Shape 18"/>
          <p:cNvSpPr/>
          <p:nvPr/>
        </p:nvSpPr>
        <p:spPr>
          <a:xfrm>
            <a:off x="6446520" y="4855464"/>
            <a:ext cx="1106424" cy="109728"/>
          </a:xfrm>
          <a:prstGeom prst="rect">
            <a:avLst/>
          </a:prstGeom>
          <a:solidFill>
            <a:srgbClr val="C79A3D"/>
          </a:solidFill>
        </p:spPr>
      </p:sp>
      <p:sp>
        <p:nvSpPr>
          <p:cNvPr id="22" name="Text 19"/>
          <p:cNvSpPr/>
          <p:nvPr/>
        </p:nvSpPr>
        <p:spPr>
          <a:xfrm>
            <a:off x="6446520" y="5111496"/>
            <a:ext cx="3383280" cy="292608"/>
          </a:xfrm>
          <a:prstGeom prst="rect">
            <a:avLst/>
          </a:prstGeom>
          <a:noFill/>
        </p:spPr>
        <p:txBody>
          <a:bodyPr wrap="square" rtlCol="0" anchor="ctr"/>
          <a:lstStyle/>
          <a:p>
            <a:pPr marL="0" indent="0">
              <a:buNone/>
            </a:pPr>
            <a:r>
              <a:rPr lang="en-US" sz="1050" dirty="0">
                <a:solidFill>
                  <a:srgbClr val="FFFFFF"/>
                </a:solidFill>
                <a:latin typeface="Calibri" panose="020F0502020204030204" pitchFamily="34" charset="0"/>
                <a:ea typeface="Calibri" panose="020F0502020204030204" pitchFamily="34" charset="-122"/>
                <a:cs typeface="Calibri" panose="020F0502020204030204" pitchFamily="34" charset="-120"/>
              </a:rPr>
              <a:t>Rework labour cost</a:t>
            </a:r>
            <a:endParaRPr lang="en-US" sz="1050" dirty="0"/>
          </a:p>
        </p:txBody>
      </p:sp>
      <p:sp>
        <p:nvSpPr>
          <p:cNvPr id="23" name="Text 20"/>
          <p:cNvSpPr/>
          <p:nvPr/>
        </p:nvSpPr>
        <p:spPr>
          <a:xfrm>
            <a:off x="9921240" y="5111496"/>
            <a:ext cx="1600200" cy="292608"/>
          </a:xfrm>
          <a:prstGeom prst="rect">
            <a:avLst/>
          </a:prstGeom>
          <a:noFill/>
        </p:spPr>
        <p:txBody>
          <a:bodyPr wrap="square" rtlCol="0" anchor="ctr"/>
          <a:lstStyle/>
          <a:p>
            <a:pPr marL="0" indent="0" algn="r">
              <a:buNone/>
            </a:pPr>
            <a:r>
              <a:rPr lang="en-US" sz="1050" b="1" dirty="0">
                <a:solidFill>
                  <a:srgbClr val="C79A3D"/>
                </a:solidFill>
                <a:latin typeface="Calibri" panose="020F0502020204030204" pitchFamily="34" charset="0"/>
                <a:ea typeface="Calibri" panose="020F0502020204030204" pitchFamily="34" charset="-122"/>
                <a:cs typeface="Calibri" panose="020F0502020204030204" pitchFamily="34" charset="-120"/>
              </a:rPr>
              <a:t>₹0.68 L</a:t>
            </a:r>
            <a:endParaRPr lang="en-US" sz="1050" dirty="0"/>
          </a:p>
        </p:txBody>
      </p:sp>
      <p:sp>
        <p:nvSpPr>
          <p:cNvPr id="24" name="Shape 21"/>
          <p:cNvSpPr/>
          <p:nvPr/>
        </p:nvSpPr>
        <p:spPr>
          <a:xfrm>
            <a:off x="6446520" y="5422392"/>
            <a:ext cx="5029200" cy="109728"/>
          </a:xfrm>
          <a:prstGeom prst="rect">
            <a:avLst/>
          </a:prstGeom>
          <a:solidFill>
            <a:srgbClr val="0F2E57"/>
          </a:solidFill>
        </p:spPr>
      </p:sp>
      <p:sp>
        <p:nvSpPr>
          <p:cNvPr id="25" name="Shape 22"/>
          <p:cNvSpPr/>
          <p:nvPr/>
        </p:nvSpPr>
        <p:spPr>
          <a:xfrm>
            <a:off x="6446520" y="5422392"/>
            <a:ext cx="201168" cy="109728"/>
          </a:xfrm>
          <a:prstGeom prst="rect">
            <a:avLst/>
          </a:prstGeom>
          <a:solidFill>
            <a:srgbClr val="C79A3D"/>
          </a:solidFill>
        </p:spPr>
      </p:sp>
      <p:sp>
        <p:nvSpPr>
          <p:cNvPr id="26" name="Text 23"/>
          <p:cNvSpPr/>
          <p:nvPr/>
        </p:nvSpPr>
        <p:spPr>
          <a:xfrm>
            <a:off x="6446520" y="5861304"/>
            <a:ext cx="5029200" cy="777240"/>
          </a:xfrm>
          <a:prstGeom prst="rect">
            <a:avLst/>
          </a:prstGeom>
          <a:noFill/>
        </p:spPr>
        <p:txBody>
          <a:bodyPr wrap="square" rtlCol="0" anchor="ctr"/>
          <a:lstStyle/>
          <a:p>
            <a:pPr marL="0" indent="0">
              <a:buNone/>
            </a:pPr>
            <a:r>
              <a:rPr lang="en-US" sz="950" i="1" dirty="0">
                <a:solidFill>
                  <a:srgbClr val="CADCFC"/>
                </a:solidFill>
                <a:latin typeface="Calibri" panose="020F0502020204030204" pitchFamily="34" charset="0"/>
                <a:ea typeface="Calibri" panose="020F0502020204030204" pitchFamily="34" charset="-122"/>
                <a:cs typeface="Calibri" panose="020F0502020204030204" pitchFamily="34" charset="-120"/>
              </a:rPr>
              <a:t>This is a floor, not a ceiling -it excludes second-order costs like expedited freight, customer credits, or overtime to catch up after a breakdown.</a:t>
            </a:r>
            <a:endParaRPr lang="en-US" sz="950" dirty="0"/>
          </a:p>
        </p:txBody>
      </p:sp>
      <p:sp>
        <p:nvSpPr>
          <p:cNvPr id="27" name="Text 24"/>
          <p:cNvSpPr/>
          <p:nvPr/>
        </p:nvSpPr>
        <p:spPr>
          <a:xfrm>
            <a:off x="11551615" y="6473952"/>
            <a:ext cx="457200" cy="274320"/>
          </a:xfrm>
          <a:prstGeom prst="rect">
            <a:avLst/>
          </a:prstGeom>
          <a:noFill/>
        </p:spPr>
        <p:txBody>
          <a:bodyPr wrap="square" rtlCol="0" anchor="ctr"/>
          <a:lstStyle/>
          <a:p>
            <a:pPr marL="0" indent="0" algn="r">
              <a:buNone/>
            </a:pPr>
            <a:r>
              <a:rPr lang="en-US" sz="900" dirty="0">
                <a:solidFill>
                  <a:srgbClr val="8C9AB3"/>
                </a:solidFill>
                <a:latin typeface="Calibri" panose="020F0502020204030204" pitchFamily="34" charset="0"/>
                <a:ea typeface="Calibri" panose="020F0502020204030204" pitchFamily="34" charset="-122"/>
                <a:cs typeface="Calibri" panose="020F0502020204030204"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274320"/>
          </a:xfrm>
          <a:prstGeom prst="rect">
            <a:avLst/>
          </a:prstGeom>
          <a:noFill/>
        </p:spPr>
        <p:txBody>
          <a:bodyPr wrap="square" rtlCol="0" anchor="ctr"/>
          <a:lstStyle/>
          <a:p>
            <a:pPr marL="0" indent="0">
              <a:buNone/>
            </a:pPr>
            <a:r>
              <a:rPr lang="en-US" sz="1200" b="1" kern="0" spc="200" dirty="0">
                <a:solidFill>
                  <a:srgbClr val="9C7A2B"/>
                </a:solidFill>
                <a:latin typeface="Calibri" panose="020F0502020204030204" pitchFamily="34" charset="0"/>
                <a:ea typeface="Calibri" panose="020F0502020204030204" pitchFamily="34" charset="-122"/>
                <a:cs typeface="Calibri" panose="020F0502020204030204" pitchFamily="34" charset="-120"/>
              </a:rPr>
              <a:t>DELIVERABLE -AT-RISK ASSET DIRECTORY</a:t>
            </a:r>
            <a:endParaRPr lang="en-US" sz="1200" dirty="0"/>
          </a:p>
        </p:txBody>
      </p:sp>
      <p:sp>
        <p:nvSpPr>
          <p:cNvPr id="3" name="Text 1"/>
          <p:cNvSpPr/>
          <p:nvPr/>
        </p:nvSpPr>
        <p:spPr>
          <a:xfrm>
            <a:off x="548640" y="658368"/>
            <a:ext cx="10789920" cy="640080"/>
          </a:xfrm>
          <a:prstGeom prst="rect">
            <a:avLst/>
          </a:prstGeom>
          <a:noFill/>
        </p:spPr>
        <p:txBody>
          <a:bodyPr wrap="square" rtlCol="0" anchor="ctr"/>
          <a:lstStyle/>
          <a:p>
            <a:pPr marL="0" indent="0" algn="l">
              <a:buNone/>
            </a:pPr>
            <a:r>
              <a:rPr lang="en-US" sz="3000" b="1" dirty="0">
                <a:solidFill>
                  <a:srgbClr val="0B2545"/>
                </a:solidFill>
                <a:latin typeface="Cambria" panose="02040503050406030204" pitchFamily="34" charset="0"/>
                <a:ea typeface="Cambria" panose="02040503050406030204" pitchFamily="34" charset="-122"/>
                <a:cs typeface="Cambria" panose="02040503050406030204" pitchFamily="34" charset="-120"/>
              </a:rPr>
              <a:t>Four Machines, One Priority List for Engineering</a:t>
            </a:r>
            <a:endParaRPr lang="en-US" sz="3000" dirty="0"/>
          </a:p>
        </p:txBody>
      </p:sp>
      <p:graphicFrame>
        <p:nvGraphicFramePr>
          <p:cNvPr id="14" name="Table 0"/>
          <p:cNvGraphicFramePr>
            <a:graphicFrameLocks noGrp="1"/>
          </p:cNvGraphicFramePr>
          <p:nvPr/>
        </p:nvGraphicFramePr>
        <p:xfrm>
          <a:off x="548640" y="1554480"/>
          <a:ext cx="9601200" cy="2834640"/>
        </p:xfrm>
        <a:graphic>
          <a:graphicData uri="http://schemas.openxmlformats.org/drawingml/2006/table">
            <a:tbl>
              <a:tblPr/>
              <a:tblGrid>
                <a:gridCol w="1188720"/>
                <a:gridCol w="1737360"/>
                <a:gridCol w="1737360"/>
                <a:gridCol w="1554480"/>
                <a:gridCol w="1828800"/>
                <a:gridCol w="1554480"/>
              </a:tblGrid>
              <a:tr h="566928">
                <a:tc>
                  <a:txBody>
                    <a:bodyPr/>
                    <a:lstStyle/>
                    <a:p>
                      <a:pPr marL="0" indent="0" algn="ctr">
                        <a:buNone/>
                      </a:pPr>
                      <a:r>
                        <a:rPr lang="en-US" sz="1100" b="1" dirty="0">
                          <a:solidFill>
                            <a:srgbClr val="FFFFFF"/>
                          </a:solidFill>
                          <a:latin typeface="Calibri" panose="020F0502020204030204" pitchFamily="34" charset="0"/>
                          <a:ea typeface="Calibri" panose="020F0502020204030204" pitchFamily="34" charset="-122"/>
                          <a:cs typeface="Calibri" panose="020F0502020204030204" pitchFamily="34" charset="-120"/>
                        </a:rPr>
                        <a:t>Priority</a:t>
                      </a:r>
                      <a:endParaRPr lang="en-US" sz="1100" dirty="0">
                        <a:latin typeface="Calibri" panose="020F0502020204030204" pitchFamily="34" charset="0"/>
                        <a:ea typeface="Calibri" panose="020F0502020204030204" pitchFamily="34" charset="0"/>
                        <a:cs typeface="Calibri" panose="020F0502020204030204" pitchFamily="34" charset="0"/>
                      </a:endParaRPr>
                    </a:p>
                  </a:txBody>
                  <a:tcPr anchor="ctr">
                    <a:lnL w="9525" cap="flat" cmpd="sng" algn="ctr">
                      <a:solidFill>
                        <a:srgbClr val="E4E9F2"/>
                      </a:solidFill>
                      <a:prstDash val="solid"/>
                      <a:round/>
                      <a:headEnd type="none" w="med" len="med"/>
                      <a:tailEnd type="none" w="med" len="med"/>
                    </a:lnL>
                    <a:lnR w="9525" cap="flat" cmpd="sng" algn="ctr">
                      <a:solidFill>
                        <a:srgbClr val="E4E9F2"/>
                      </a:solidFill>
                      <a:prstDash val="solid"/>
                      <a:round/>
                      <a:headEnd type="none" w="med" len="med"/>
                      <a:tailEnd type="none" w="med" len="med"/>
                    </a:lnR>
                    <a:lnT w="9525" cap="flat" cmpd="sng" algn="ctr">
                      <a:solidFill>
                        <a:srgbClr val="E4E9F2"/>
                      </a:solidFill>
                      <a:prstDash val="solid"/>
                      <a:round/>
                      <a:headEnd type="none" w="med" len="med"/>
                      <a:tailEnd type="none" w="med" len="med"/>
                    </a:lnT>
                    <a:lnB w="9525" cap="flat" cmpd="sng" algn="ctr">
                      <a:solidFill>
                        <a:srgbClr val="E4E9F2"/>
                      </a:solidFill>
                      <a:prstDash val="solid"/>
                      <a:round/>
                      <a:headEnd type="none" w="med" len="med"/>
                      <a:tailEnd type="none" w="med" len="med"/>
                    </a:lnB>
                    <a:solidFill>
                      <a:srgbClr val="0B2545"/>
                    </a:solidFill>
                  </a:tcPr>
                </a:tc>
                <a:tc>
                  <a:txBody>
                    <a:bodyPr/>
                    <a:lstStyle/>
                    <a:p>
                      <a:pPr marL="0" indent="0" algn="l">
                        <a:buNone/>
                      </a:pPr>
                      <a:r>
                        <a:rPr lang="en-US" sz="1100" b="1" dirty="0">
                          <a:solidFill>
                            <a:srgbClr val="FFFFFF"/>
                          </a:solidFill>
                          <a:latin typeface="Calibri" panose="020F0502020204030204" pitchFamily="34" charset="0"/>
                          <a:ea typeface="Calibri" panose="020F0502020204030204" pitchFamily="34" charset="-122"/>
                          <a:cs typeface="Calibri" panose="020F0502020204030204" pitchFamily="34" charset="-120"/>
                        </a:rPr>
                        <a:t>Machine ID</a:t>
                      </a:r>
                      <a:endParaRPr lang="en-US" sz="1100" dirty="0">
                        <a:latin typeface="Calibri" panose="020F0502020204030204" pitchFamily="34" charset="0"/>
                        <a:ea typeface="Calibri" panose="020F0502020204030204" pitchFamily="34" charset="0"/>
                        <a:cs typeface="Calibri" panose="020F0502020204030204" pitchFamily="34" charset="0"/>
                      </a:endParaRPr>
                    </a:p>
                  </a:txBody>
                  <a:tcPr anchor="ctr">
                    <a:lnL w="9525" cap="flat" cmpd="sng" algn="ctr">
                      <a:solidFill>
                        <a:srgbClr val="E4E9F2"/>
                      </a:solidFill>
                      <a:prstDash val="solid"/>
                      <a:round/>
                      <a:headEnd type="none" w="med" len="med"/>
                      <a:tailEnd type="none" w="med" len="med"/>
                    </a:lnL>
                    <a:lnR w="9525" cap="flat" cmpd="sng" algn="ctr">
                      <a:solidFill>
                        <a:srgbClr val="E4E9F2"/>
                      </a:solidFill>
                      <a:prstDash val="solid"/>
                      <a:round/>
                      <a:headEnd type="none" w="med" len="med"/>
                      <a:tailEnd type="none" w="med" len="med"/>
                    </a:lnR>
                    <a:lnT w="9525" cap="flat" cmpd="sng" algn="ctr">
                      <a:solidFill>
                        <a:srgbClr val="E4E9F2"/>
                      </a:solidFill>
                      <a:prstDash val="solid"/>
                      <a:round/>
                      <a:headEnd type="none" w="med" len="med"/>
                      <a:tailEnd type="none" w="med" len="med"/>
                    </a:lnT>
                    <a:lnB w="9525" cap="flat" cmpd="sng" algn="ctr">
                      <a:solidFill>
                        <a:srgbClr val="E4E9F2"/>
                      </a:solidFill>
                      <a:prstDash val="solid"/>
                      <a:round/>
                      <a:headEnd type="none" w="med" len="med"/>
                      <a:tailEnd type="none" w="med" len="med"/>
                    </a:lnB>
                    <a:solidFill>
                      <a:srgbClr val="0B2545"/>
                    </a:solidFill>
                  </a:tcPr>
                </a:tc>
                <a:tc>
                  <a:txBody>
                    <a:bodyPr/>
                    <a:lstStyle/>
                    <a:p>
                      <a:pPr marL="0" indent="0" algn="ctr">
                        <a:buNone/>
                      </a:pPr>
                      <a:r>
                        <a:rPr lang="en-US" sz="1100" b="1" dirty="0">
                          <a:solidFill>
                            <a:srgbClr val="FFFFFF"/>
                          </a:solidFill>
                          <a:latin typeface="Calibri" panose="020F0502020204030204" pitchFamily="34" charset="0"/>
                          <a:ea typeface="Calibri" panose="020F0502020204030204" pitchFamily="34" charset="-122"/>
                          <a:cs typeface="Calibri" panose="020F0502020204030204" pitchFamily="34" charset="-120"/>
                        </a:rPr>
                        <a:t>Downtime Ratio</a:t>
                      </a:r>
                      <a:endParaRPr lang="en-US" sz="1100" dirty="0">
                        <a:latin typeface="Calibri" panose="020F0502020204030204" pitchFamily="34" charset="0"/>
                        <a:ea typeface="Calibri" panose="020F0502020204030204" pitchFamily="34" charset="0"/>
                        <a:cs typeface="Calibri" panose="020F0502020204030204" pitchFamily="34" charset="0"/>
                      </a:endParaRPr>
                    </a:p>
                  </a:txBody>
                  <a:tcPr anchor="ctr">
                    <a:lnL w="9525" cap="flat" cmpd="sng" algn="ctr">
                      <a:solidFill>
                        <a:srgbClr val="E4E9F2"/>
                      </a:solidFill>
                      <a:prstDash val="solid"/>
                      <a:round/>
                      <a:headEnd type="none" w="med" len="med"/>
                      <a:tailEnd type="none" w="med" len="med"/>
                    </a:lnL>
                    <a:lnR w="9525" cap="flat" cmpd="sng" algn="ctr">
                      <a:solidFill>
                        <a:srgbClr val="E4E9F2"/>
                      </a:solidFill>
                      <a:prstDash val="solid"/>
                      <a:round/>
                      <a:headEnd type="none" w="med" len="med"/>
                      <a:tailEnd type="none" w="med" len="med"/>
                    </a:lnR>
                    <a:lnT w="9525" cap="flat" cmpd="sng" algn="ctr">
                      <a:solidFill>
                        <a:srgbClr val="E4E9F2"/>
                      </a:solidFill>
                      <a:prstDash val="solid"/>
                      <a:round/>
                      <a:headEnd type="none" w="med" len="med"/>
                      <a:tailEnd type="none" w="med" len="med"/>
                    </a:lnT>
                    <a:lnB w="9525" cap="flat" cmpd="sng" algn="ctr">
                      <a:solidFill>
                        <a:srgbClr val="E4E9F2"/>
                      </a:solidFill>
                      <a:prstDash val="solid"/>
                      <a:round/>
                      <a:headEnd type="none" w="med" len="med"/>
                      <a:tailEnd type="none" w="med" len="med"/>
                    </a:lnB>
                    <a:solidFill>
                      <a:srgbClr val="0B2545"/>
                    </a:solidFill>
                  </a:tcPr>
                </a:tc>
                <a:tc>
                  <a:txBody>
                    <a:bodyPr/>
                    <a:lstStyle/>
                    <a:p>
                      <a:pPr marL="0" indent="0" algn="ctr">
                        <a:buNone/>
                      </a:pPr>
                      <a:r>
                        <a:rPr lang="en-US" sz="1100" b="1" dirty="0">
                          <a:solidFill>
                            <a:srgbClr val="FFFFFF"/>
                          </a:solidFill>
                          <a:latin typeface="Calibri" panose="020F0502020204030204" pitchFamily="34" charset="0"/>
                          <a:ea typeface="Calibri" panose="020F0502020204030204" pitchFamily="34" charset="-122"/>
                          <a:cs typeface="Calibri" panose="020F0502020204030204" pitchFamily="34" charset="-120"/>
                        </a:rPr>
                        <a:t>Defect Rate</a:t>
                      </a:r>
                      <a:endParaRPr lang="en-US" sz="1100" dirty="0">
                        <a:latin typeface="Calibri" panose="020F0502020204030204" pitchFamily="34" charset="0"/>
                        <a:ea typeface="Calibri" panose="020F0502020204030204" pitchFamily="34" charset="0"/>
                        <a:cs typeface="Calibri" panose="020F0502020204030204" pitchFamily="34" charset="0"/>
                      </a:endParaRPr>
                    </a:p>
                  </a:txBody>
                  <a:tcPr anchor="ctr">
                    <a:lnL w="9525" cap="flat" cmpd="sng" algn="ctr">
                      <a:solidFill>
                        <a:srgbClr val="E4E9F2"/>
                      </a:solidFill>
                      <a:prstDash val="solid"/>
                      <a:round/>
                      <a:headEnd type="none" w="med" len="med"/>
                      <a:tailEnd type="none" w="med" len="med"/>
                    </a:lnL>
                    <a:lnR w="9525" cap="flat" cmpd="sng" algn="ctr">
                      <a:solidFill>
                        <a:srgbClr val="E4E9F2"/>
                      </a:solidFill>
                      <a:prstDash val="solid"/>
                      <a:round/>
                      <a:headEnd type="none" w="med" len="med"/>
                      <a:tailEnd type="none" w="med" len="med"/>
                    </a:lnR>
                    <a:lnT w="9525" cap="flat" cmpd="sng" algn="ctr">
                      <a:solidFill>
                        <a:srgbClr val="E4E9F2"/>
                      </a:solidFill>
                      <a:prstDash val="solid"/>
                      <a:round/>
                      <a:headEnd type="none" w="med" len="med"/>
                      <a:tailEnd type="none" w="med" len="med"/>
                    </a:lnT>
                    <a:lnB w="9525" cap="flat" cmpd="sng" algn="ctr">
                      <a:solidFill>
                        <a:srgbClr val="E4E9F2"/>
                      </a:solidFill>
                      <a:prstDash val="solid"/>
                      <a:round/>
                      <a:headEnd type="none" w="med" len="med"/>
                      <a:tailEnd type="none" w="med" len="med"/>
                    </a:lnB>
                    <a:solidFill>
                      <a:srgbClr val="0B2545"/>
                    </a:solidFill>
                  </a:tcPr>
                </a:tc>
                <a:tc>
                  <a:txBody>
                    <a:bodyPr/>
                    <a:lstStyle/>
                    <a:p>
                      <a:pPr marL="0" indent="0" algn="ctr">
                        <a:buNone/>
                      </a:pPr>
                      <a:r>
                        <a:rPr lang="en-US" sz="1100" b="1" dirty="0">
                          <a:solidFill>
                            <a:srgbClr val="FFFFFF"/>
                          </a:solidFill>
                          <a:latin typeface="Calibri" panose="020F0502020204030204" pitchFamily="34" charset="0"/>
                          <a:ea typeface="Calibri" panose="020F0502020204030204" pitchFamily="34" charset="-122"/>
                          <a:cs typeface="Calibri" panose="020F0502020204030204" pitchFamily="34" charset="-120"/>
                        </a:rPr>
                        <a:t>Avg. Maint. Hrs</a:t>
                      </a:r>
                      <a:endParaRPr lang="en-US" sz="1100" dirty="0">
                        <a:latin typeface="Calibri" panose="020F0502020204030204" pitchFamily="34" charset="0"/>
                        <a:ea typeface="Calibri" panose="020F0502020204030204" pitchFamily="34" charset="0"/>
                        <a:cs typeface="Calibri" panose="020F0502020204030204" pitchFamily="34" charset="0"/>
                      </a:endParaRPr>
                    </a:p>
                  </a:txBody>
                  <a:tcPr anchor="ctr">
                    <a:lnL w="9525" cap="flat" cmpd="sng" algn="ctr">
                      <a:solidFill>
                        <a:srgbClr val="E4E9F2"/>
                      </a:solidFill>
                      <a:prstDash val="solid"/>
                      <a:round/>
                      <a:headEnd type="none" w="med" len="med"/>
                      <a:tailEnd type="none" w="med" len="med"/>
                    </a:lnL>
                    <a:lnR w="9525" cap="flat" cmpd="sng" algn="ctr">
                      <a:solidFill>
                        <a:srgbClr val="E4E9F2"/>
                      </a:solidFill>
                      <a:prstDash val="solid"/>
                      <a:round/>
                      <a:headEnd type="none" w="med" len="med"/>
                      <a:tailEnd type="none" w="med" len="med"/>
                    </a:lnR>
                    <a:lnT w="9525" cap="flat" cmpd="sng" algn="ctr">
                      <a:solidFill>
                        <a:srgbClr val="E4E9F2"/>
                      </a:solidFill>
                      <a:prstDash val="solid"/>
                      <a:round/>
                      <a:headEnd type="none" w="med" len="med"/>
                      <a:tailEnd type="none" w="med" len="med"/>
                    </a:lnT>
                    <a:lnB w="9525" cap="flat" cmpd="sng" algn="ctr">
                      <a:solidFill>
                        <a:srgbClr val="E4E9F2"/>
                      </a:solidFill>
                      <a:prstDash val="solid"/>
                      <a:round/>
                      <a:headEnd type="none" w="med" len="med"/>
                      <a:tailEnd type="none" w="med" len="med"/>
                    </a:lnB>
                    <a:solidFill>
                      <a:srgbClr val="0B2545"/>
                    </a:solidFill>
                  </a:tcPr>
                </a:tc>
                <a:tc>
                  <a:txBody>
                    <a:bodyPr/>
                    <a:lstStyle/>
                    <a:p>
                      <a:pPr marL="0" indent="0" algn="ctr">
                        <a:buNone/>
                      </a:pPr>
                      <a:r>
                        <a:rPr lang="en-US" sz="1100" b="1" dirty="0">
                          <a:solidFill>
                            <a:srgbClr val="FFFFFF"/>
                          </a:solidFill>
                          <a:latin typeface="Calibri" panose="020F0502020204030204" pitchFamily="34" charset="0"/>
                          <a:ea typeface="Calibri" panose="020F0502020204030204" pitchFamily="34" charset="-122"/>
                          <a:cs typeface="Calibri" panose="020F0502020204030204" pitchFamily="34" charset="-120"/>
                        </a:rPr>
                        <a:t>QC Failures</a:t>
                      </a:r>
                      <a:endParaRPr lang="en-US" sz="1100" dirty="0">
                        <a:latin typeface="Calibri" panose="020F0502020204030204" pitchFamily="34" charset="0"/>
                        <a:ea typeface="Calibri" panose="020F0502020204030204" pitchFamily="34" charset="0"/>
                        <a:cs typeface="Calibri" panose="020F0502020204030204" pitchFamily="34" charset="0"/>
                      </a:endParaRPr>
                    </a:p>
                  </a:txBody>
                  <a:tcPr anchor="ctr">
                    <a:lnL w="9525" cap="flat" cmpd="sng" algn="ctr">
                      <a:solidFill>
                        <a:srgbClr val="E4E9F2"/>
                      </a:solidFill>
                      <a:prstDash val="solid"/>
                      <a:round/>
                      <a:headEnd type="none" w="med" len="med"/>
                      <a:tailEnd type="none" w="med" len="med"/>
                    </a:lnL>
                    <a:lnR w="9525" cap="flat" cmpd="sng" algn="ctr">
                      <a:solidFill>
                        <a:srgbClr val="E4E9F2"/>
                      </a:solidFill>
                      <a:prstDash val="solid"/>
                      <a:round/>
                      <a:headEnd type="none" w="med" len="med"/>
                      <a:tailEnd type="none" w="med" len="med"/>
                    </a:lnR>
                    <a:lnT w="9525" cap="flat" cmpd="sng" algn="ctr">
                      <a:solidFill>
                        <a:srgbClr val="E4E9F2"/>
                      </a:solidFill>
                      <a:prstDash val="solid"/>
                      <a:round/>
                      <a:headEnd type="none" w="med" len="med"/>
                      <a:tailEnd type="none" w="med" len="med"/>
                    </a:lnT>
                    <a:lnB w="9525" cap="flat" cmpd="sng" algn="ctr">
                      <a:solidFill>
                        <a:srgbClr val="E4E9F2"/>
                      </a:solidFill>
                      <a:prstDash val="solid"/>
                      <a:round/>
                      <a:headEnd type="none" w="med" len="med"/>
                      <a:tailEnd type="none" w="med" len="med"/>
                    </a:lnB>
                    <a:solidFill>
                      <a:srgbClr val="0B2545"/>
                    </a:solidFill>
                  </a:tcPr>
                </a:tc>
              </a:tr>
              <a:tr h="566928">
                <a:tc>
                  <a:txBody>
                    <a:bodyPr/>
                    <a:lstStyle/>
                    <a:p>
                      <a:pPr marL="0" indent="0" algn="ctr">
                        <a:buNone/>
                      </a:pPr>
                      <a:r>
                        <a:rPr lang="en-US" sz="1200" b="1" dirty="0">
                          <a:solidFill>
                            <a:srgbClr val="9C7A2B"/>
                          </a:solidFill>
                          <a:latin typeface="Calibri" panose="020F0502020204030204" pitchFamily="34" charset="0"/>
                          <a:ea typeface="Calibri" panose="020F0502020204030204" pitchFamily="34" charset="-122"/>
                          <a:cs typeface="Calibri" panose="020F0502020204030204" pitchFamily="34" charset="-120"/>
                        </a:rPr>
                        <a:t>1</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anchor="ctr">
                    <a:lnL w="9525" cap="flat" cmpd="sng" algn="ctr">
                      <a:solidFill>
                        <a:srgbClr val="E4E9F2"/>
                      </a:solidFill>
                      <a:prstDash val="solid"/>
                      <a:round/>
                      <a:headEnd type="none" w="med" len="med"/>
                      <a:tailEnd type="none" w="med" len="med"/>
                    </a:lnL>
                    <a:lnR w="9525" cap="flat" cmpd="sng" algn="ctr">
                      <a:solidFill>
                        <a:srgbClr val="E4E9F2"/>
                      </a:solidFill>
                      <a:prstDash val="solid"/>
                      <a:round/>
                      <a:headEnd type="none" w="med" len="med"/>
                      <a:tailEnd type="none" w="med" len="med"/>
                    </a:lnR>
                    <a:lnT w="9525" cap="flat" cmpd="sng" algn="ctr">
                      <a:solidFill>
                        <a:srgbClr val="E4E9F2"/>
                      </a:solidFill>
                      <a:prstDash val="solid"/>
                      <a:round/>
                      <a:headEnd type="none" w="med" len="med"/>
                      <a:tailEnd type="none" w="med" len="med"/>
                    </a:lnT>
                    <a:lnB w="9525" cap="flat" cmpd="sng" algn="ctr">
                      <a:solidFill>
                        <a:srgbClr val="E4E9F2"/>
                      </a:solidFill>
                      <a:prstDash val="solid"/>
                      <a:round/>
                      <a:headEnd type="none" w="med" len="med"/>
                      <a:tailEnd type="none" w="med" len="med"/>
                    </a:lnB>
                    <a:solidFill>
                      <a:srgbClr val="FFFFFF"/>
                    </a:solidFill>
                  </a:tcPr>
                </a:tc>
                <a:tc>
                  <a:txBody>
                    <a:bodyPr/>
                    <a:lstStyle/>
                    <a:p>
                      <a:pPr marL="0" indent="0" algn="l">
                        <a:buNone/>
                      </a:pPr>
                      <a:r>
                        <a:rPr lang="en-US" sz="1200" dirty="0">
                          <a:solidFill>
                            <a:srgbClr val="0B2545"/>
                          </a:solidFill>
                          <a:latin typeface="Calibri" panose="020F0502020204030204" pitchFamily="34" charset="0"/>
                          <a:ea typeface="Calibri" panose="020F0502020204030204" pitchFamily="34" charset="-122"/>
                          <a:cs typeface="Calibri" panose="020F0502020204030204" pitchFamily="34" charset="-120"/>
                        </a:rPr>
                        <a:t>Machine 6</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anchor="ctr">
                    <a:lnL w="9525" cap="flat" cmpd="sng" algn="ctr">
                      <a:solidFill>
                        <a:srgbClr val="E4E9F2"/>
                      </a:solidFill>
                      <a:prstDash val="solid"/>
                      <a:round/>
                      <a:headEnd type="none" w="med" len="med"/>
                      <a:tailEnd type="none" w="med" len="med"/>
                    </a:lnL>
                    <a:lnR w="9525" cap="flat" cmpd="sng" algn="ctr">
                      <a:solidFill>
                        <a:srgbClr val="E4E9F2"/>
                      </a:solidFill>
                      <a:prstDash val="solid"/>
                      <a:round/>
                      <a:headEnd type="none" w="med" len="med"/>
                      <a:tailEnd type="none" w="med" len="med"/>
                    </a:lnR>
                    <a:lnT w="9525" cap="flat" cmpd="sng" algn="ctr">
                      <a:solidFill>
                        <a:srgbClr val="E4E9F2"/>
                      </a:solidFill>
                      <a:prstDash val="solid"/>
                      <a:round/>
                      <a:headEnd type="none" w="med" len="med"/>
                      <a:tailEnd type="none" w="med" len="med"/>
                    </a:lnT>
                    <a:lnB w="9525" cap="flat" cmpd="sng" algn="ctr">
                      <a:solidFill>
                        <a:srgbClr val="E4E9F2"/>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0B2545"/>
                          </a:solidFill>
                          <a:latin typeface="Calibri" panose="020F0502020204030204" pitchFamily="34" charset="0"/>
                          <a:ea typeface="Calibri" panose="020F0502020204030204" pitchFamily="34" charset="-122"/>
                          <a:cs typeface="Calibri" panose="020F0502020204030204" pitchFamily="34" charset="-120"/>
                        </a:rPr>
                        <a:t>14%</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anchor="ctr">
                    <a:lnL w="9525" cap="flat" cmpd="sng" algn="ctr">
                      <a:solidFill>
                        <a:srgbClr val="E4E9F2"/>
                      </a:solidFill>
                      <a:prstDash val="solid"/>
                      <a:round/>
                      <a:headEnd type="none" w="med" len="med"/>
                      <a:tailEnd type="none" w="med" len="med"/>
                    </a:lnL>
                    <a:lnR w="9525" cap="flat" cmpd="sng" algn="ctr">
                      <a:solidFill>
                        <a:srgbClr val="E4E9F2"/>
                      </a:solidFill>
                      <a:prstDash val="solid"/>
                      <a:round/>
                      <a:headEnd type="none" w="med" len="med"/>
                      <a:tailEnd type="none" w="med" len="med"/>
                    </a:lnR>
                    <a:lnT w="9525" cap="flat" cmpd="sng" algn="ctr">
                      <a:solidFill>
                        <a:srgbClr val="E4E9F2"/>
                      </a:solidFill>
                      <a:prstDash val="solid"/>
                      <a:round/>
                      <a:headEnd type="none" w="med" len="med"/>
                      <a:tailEnd type="none" w="med" len="med"/>
                    </a:lnT>
                    <a:lnB w="9525" cap="flat" cmpd="sng" algn="ctr">
                      <a:solidFill>
                        <a:srgbClr val="E4E9F2"/>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0B2545"/>
                          </a:solidFill>
                          <a:latin typeface="Calibri" panose="020F0502020204030204" pitchFamily="34" charset="0"/>
                          <a:ea typeface="Calibri" panose="020F0502020204030204" pitchFamily="34" charset="-122"/>
                          <a:cs typeface="Calibri" panose="020F0502020204030204" pitchFamily="34" charset="-120"/>
                        </a:rPr>
                        <a:t>4.11%</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anchor="ctr">
                    <a:lnL w="9525" cap="flat" cmpd="sng" algn="ctr">
                      <a:solidFill>
                        <a:srgbClr val="E4E9F2"/>
                      </a:solidFill>
                      <a:prstDash val="solid"/>
                      <a:round/>
                      <a:headEnd type="none" w="med" len="med"/>
                      <a:tailEnd type="none" w="med" len="med"/>
                    </a:lnL>
                    <a:lnR w="9525" cap="flat" cmpd="sng" algn="ctr">
                      <a:solidFill>
                        <a:srgbClr val="E4E9F2"/>
                      </a:solidFill>
                      <a:prstDash val="solid"/>
                      <a:round/>
                      <a:headEnd type="none" w="med" len="med"/>
                      <a:tailEnd type="none" w="med" len="med"/>
                    </a:lnR>
                    <a:lnT w="9525" cap="flat" cmpd="sng" algn="ctr">
                      <a:solidFill>
                        <a:srgbClr val="E4E9F2"/>
                      </a:solidFill>
                      <a:prstDash val="solid"/>
                      <a:round/>
                      <a:headEnd type="none" w="med" len="med"/>
                      <a:tailEnd type="none" w="med" len="med"/>
                    </a:lnT>
                    <a:lnB w="9525" cap="flat" cmpd="sng" algn="ctr">
                      <a:solidFill>
                        <a:srgbClr val="E4E9F2"/>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0B2545"/>
                          </a:solidFill>
                          <a:latin typeface="Calibri" panose="020F0502020204030204" pitchFamily="34" charset="0"/>
                          <a:ea typeface="Calibri" panose="020F0502020204030204" pitchFamily="34" charset="-122"/>
                          <a:cs typeface="Calibri" panose="020F0502020204030204" pitchFamily="34" charset="-120"/>
                        </a:rPr>
                        <a:t>2.65</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anchor="ctr">
                    <a:lnL w="9525" cap="flat" cmpd="sng" algn="ctr">
                      <a:solidFill>
                        <a:srgbClr val="E4E9F2"/>
                      </a:solidFill>
                      <a:prstDash val="solid"/>
                      <a:round/>
                      <a:headEnd type="none" w="med" len="med"/>
                      <a:tailEnd type="none" w="med" len="med"/>
                    </a:lnL>
                    <a:lnR w="9525" cap="flat" cmpd="sng" algn="ctr">
                      <a:solidFill>
                        <a:srgbClr val="E4E9F2"/>
                      </a:solidFill>
                      <a:prstDash val="solid"/>
                      <a:round/>
                      <a:headEnd type="none" w="med" len="med"/>
                      <a:tailEnd type="none" w="med" len="med"/>
                    </a:lnR>
                    <a:lnT w="9525" cap="flat" cmpd="sng" algn="ctr">
                      <a:solidFill>
                        <a:srgbClr val="E4E9F2"/>
                      </a:solidFill>
                      <a:prstDash val="solid"/>
                      <a:round/>
                      <a:headEnd type="none" w="med" len="med"/>
                      <a:tailEnd type="none" w="med" len="med"/>
                    </a:lnT>
                    <a:lnB w="9525" cap="flat" cmpd="sng" algn="ctr">
                      <a:solidFill>
                        <a:srgbClr val="E4E9F2"/>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0B2545"/>
                          </a:solidFill>
                          <a:latin typeface="Calibri" panose="020F0502020204030204" pitchFamily="34" charset="0"/>
                          <a:ea typeface="Calibri" panose="020F0502020204030204" pitchFamily="34" charset="-122"/>
                          <a:cs typeface="Calibri" panose="020F0502020204030204" pitchFamily="34" charset="-120"/>
                        </a:rPr>
                        <a:t>129</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anchor="ctr">
                    <a:lnL w="9525" cap="flat" cmpd="sng" algn="ctr">
                      <a:solidFill>
                        <a:srgbClr val="E4E9F2"/>
                      </a:solidFill>
                      <a:prstDash val="solid"/>
                      <a:round/>
                      <a:headEnd type="none" w="med" len="med"/>
                      <a:tailEnd type="none" w="med" len="med"/>
                    </a:lnL>
                    <a:lnR w="9525" cap="flat" cmpd="sng" algn="ctr">
                      <a:solidFill>
                        <a:srgbClr val="E4E9F2"/>
                      </a:solidFill>
                      <a:prstDash val="solid"/>
                      <a:round/>
                      <a:headEnd type="none" w="med" len="med"/>
                      <a:tailEnd type="none" w="med" len="med"/>
                    </a:lnR>
                    <a:lnT w="9525" cap="flat" cmpd="sng" algn="ctr">
                      <a:solidFill>
                        <a:srgbClr val="E4E9F2"/>
                      </a:solidFill>
                      <a:prstDash val="solid"/>
                      <a:round/>
                      <a:headEnd type="none" w="med" len="med"/>
                      <a:tailEnd type="none" w="med" len="med"/>
                    </a:lnT>
                    <a:lnB w="9525" cap="flat" cmpd="sng" algn="ctr">
                      <a:solidFill>
                        <a:srgbClr val="E4E9F2"/>
                      </a:solidFill>
                      <a:prstDash val="solid"/>
                      <a:round/>
                      <a:headEnd type="none" w="med" len="med"/>
                      <a:tailEnd type="none" w="med" len="med"/>
                    </a:lnB>
                    <a:solidFill>
                      <a:srgbClr val="FFFFFF"/>
                    </a:solidFill>
                  </a:tcPr>
                </a:tc>
              </a:tr>
              <a:tr h="566928">
                <a:tc>
                  <a:txBody>
                    <a:bodyPr/>
                    <a:lstStyle/>
                    <a:p>
                      <a:pPr marL="0" indent="0" algn="ctr">
                        <a:buNone/>
                      </a:pPr>
                      <a:r>
                        <a:rPr lang="en-US" sz="1200" b="1" dirty="0">
                          <a:solidFill>
                            <a:srgbClr val="9C7A2B"/>
                          </a:solidFill>
                          <a:latin typeface="Calibri" panose="020F0502020204030204" pitchFamily="34" charset="0"/>
                          <a:ea typeface="Calibri" panose="020F0502020204030204" pitchFamily="34" charset="-122"/>
                          <a:cs typeface="Calibri" panose="020F0502020204030204" pitchFamily="34" charset="-120"/>
                        </a:rPr>
                        <a:t>2</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anchor="ctr">
                    <a:lnL w="9525" cap="flat" cmpd="sng" algn="ctr">
                      <a:solidFill>
                        <a:srgbClr val="E4E9F2"/>
                      </a:solidFill>
                      <a:prstDash val="solid"/>
                      <a:round/>
                      <a:headEnd type="none" w="med" len="med"/>
                      <a:tailEnd type="none" w="med" len="med"/>
                    </a:lnL>
                    <a:lnR w="9525" cap="flat" cmpd="sng" algn="ctr">
                      <a:solidFill>
                        <a:srgbClr val="E4E9F2"/>
                      </a:solidFill>
                      <a:prstDash val="solid"/>
                      <a:round/>
                      <a:headEnd type="none" w="med" len="med"/>
                      <a:tailEnd type="none" w="med" len="med"/>
                    </a:lnR>
                    <a:lnT w="9525" cap="flat" cmpd="sng" algn="ctr">
                      <a:solidFill>
                        <a:srgbClr val="E4E9F2"/>
                      </a:solidFill>
                      <a:prstDash val="solid"/>
                      <a:round/>
                      <a:headEnd type="none" w="med" len="med"/>
                      <a:tailEnd type="none" w="med" len="med"/>
                    </a:lnT>
                    <a:lnB w="9525" cap="flat" cmpd="sng" algn="ctr">
                      <a:solidFill>
                        <a:srgbClr val="E4E9F2"/>
                      </a:solidFill>
                      <a:prstDash val="solid"/>
                      <a:round/>
                      <a:headEnd type="none" w="med" len="med"/>
                      <a:tailEnd type="none" w="med" len="med"/>
                    </a:lnB>
                    <a:solidFill>
                      <a:srgbClr val="E9EFFB"/>
                    </a:solidFill>
                  </a:tcPr>
                </a:tc>
                <a:tc>
                  <a:txBody>
                    <a:bodyPr/>
                    <a:lstStyle/>
                    <a:p>
                      <a:pPr marL="0" indent="0" algn="l">
                        <a:buNone/>
                      </a:pPr>
                      <a:r>
                        <a:rPr lang="en-US" sz="1200" dirty="0">
                          <a:solidFill>
                            <a:srgbClr val="0B2545"/>
                          </a:solidFill>
                          <a:latin typeface="Calibri" panose="020F0502020204030204" pitchFamily="34" charset="0"/>
                          <a:ea typeface="Calibri" panose="020F0502020204030204" pitchFamily="34" charset="-122"/>
                          <a:cs typeface="Calibri" panose="020F0502020204030204" pitchFamily="34" charset="-120"/>
                        </a:rPr>
                        <a:t>Machine 9</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anchor="ctr">
                    <a:lnL w="9525" cap="flat" cmpd="sng" algn="ctr">
                      <a:solidFill>
                        <a:srgbClr val="E4E9F2"/>
                      </a:solidFill>
                      <a:prstDash val="solid"/>
                      <a:round/>
                      <a:headEnd type="none" w="med" len="med"/>
                      <a:tailEnd type="none" w="med" len="med"/>
                    </a:lnL>
                    <a:lnR w="9525" cap="flat" cmpd="sng" algn="ctr">
                      <a:solidFill>
                        <a:srgbClr val="E4E9F2"/>
                      </a:solidFill>
                      <a:prstDash val="solid"/>
                      <a:round/>
                      <a:headEnd type="none" w="med" len="med"/>
                      <a:tailEnd type="none" w="med" len="med"/>
                    </a:lnR>
                    <a:lnT w="9525" cap="flat" cmpd="sng" algn="ctr">
                      <a:solidFill>
                        <a:srgbClr val="E4E9F2"/>
                      </a:solidFill>
                      <a:prstDash val="solid"/>
                      <a:round/>
                      <a:headEnd type="none" w="med" len="med"/>
                      <a:tailEnd type="none" w="med" len="med"/>
                    </a:lnT>
                    <a:lnB w="9525" cap="flat" cmpd="sng" algn="ctr">
                      <a:solidFill>
                        <a:srgbClr val="E4E9F2"/>
                      </a:solidFill>
                      <a:prstDash val="solid"/>
                      <a:round/>
                      <a:headEnd type="none" w="med" len="med"/>
                      <a:tailEnd type="none" w="med" len="med"/>
                    </a:lnB>
                    <a:solidFill>
                      <a:srgbClr val="E9EFFB"/>
                    </a:solidFill>
                  </a:tcPr>
                </a:tc>
                <a:tc>
                  <a:txBody>
                    <a:bodyPr/>
                    <a:lstStyle/>
                    <a:p>
                      <a:pPr marL="0" indent="0" algn="ctr">
                        <a:buNone/>
                      </a:pPr>
                      <a:r>
                        <a:rPr lang="en-US" sz="1200" dirty="0">
                          <a:solidFill>
                            <a:srgbClr val="0B2545"/>
                          </a:solidFill>
                          <a:latin typeface="Calibri" panose="020F0502020204030204" pitchFamily="34" charset="0"/>
                          <a:ea typeface="Calibri" panose="020F0502020204030204" pitchFamily="34" charset="-122"/>
                          <a:cs typeface="Calibri" panose="020F0502020204030204" pitchFamily="34" charset="-120"/>
                        </a:rPr>
                        <a:t>13%</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anchor="ctr">
                    <a:lnL w="9525" cap="flat" cmpd="sng" algn="ctr">
                      <a:solidFill>
                        <a:srgbClr val="E4E9F2"/>
                      </a:solidFill>
                      <a:prstDash val="solid"/>
                      <a:round/>
                      <a:headEnd type="none" w="med" len="med"/>
                      <a:tailEnd type="none" w="med" len="med"/>
                    </a:lnL>
                    <a:lnR w="9525" cap="flat" cmpd="sng" algn="ctr">
                      <a:solidFill>
                        <a:srgbClr val="E4E9F2"/>
                      </a:solidFill>
                      <a:prstDash val="solid"/>
                      <a:round/>
                      <a:headEnd type="none" w="med" len="med"/>
                      <a:tailEnd type="none" w="med" len="med"/>
                    </a:lnR>
                    <a:lnT w="9525" cap="flat" cmpd="sng" algn="ctr">
                      <a:solidFill>
                        <a:srgbClr val="E4E9F2"/>
                      </a:solidFill>
                      <a:prstDash val="solid"/>
                      <a:round/>
                      <a:headEnd type="none" w="med" len="med"/>
                      <a:tailEnd type="none" w="med" len="med"/>
                    </a:lnT>
                    <a:lnB w="9525" cap="flat" cmpd="sng" algn="ctr">
                      <a:solidFill>
                        <a:srgbClr val="E4E9F2"/>
                      </a:solidFill>
                      <a:prstDash val="solid"/>
                      <a:round/>
                      <a:headEnd type="none" w="med" len="med"/>
                      <a:tailEnd type="none" w="med" len="med"/>
                    </a:lnB>
                    <a:solidFill>
                      <a:srgbClr val="E9EFFB"/>
                    </a:solidFill>
                  </a:tcPr>
                </a:tc>
                <a:tc>
                  <a:txBody>
                    <a:bodyPr/>
                    <a:lstStyle/>
                    <a:p>
                      <a:pPr marL="0" indent="0" algn="ctr">
                        <a:buNone/>
                      </a:pPr>
                      <a:r>
                        <a:rPr lang="en-US" sz="1200" dirty="0">
                          <a:solidFill>
                            <a:srgbClr val="0B2545"/>
                          </a:solidFill>
                          <a:latin typeface="Calibri" panose="020F0502020204030204" pitchFamily="34" charset="0"/>
                          <a:ea typeface="Calibri" panose="020F0502020204030204" pitchFamily="34" charset="-122"/>
                          <a:cs typeface="Calibri" panose="020F0502020204030204" pitchFamily="34" charset="-120"/>
                        </a:rPr>
                        <a:t>4.36%</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anchor="ctr">
                    <a:lnL w="9525" cap="flat" cmpd="sng" algn="ctr">
                      <a:solidFill>
                        <a:srgbClr val="E4E9F2"/>
                      </a:solidFill>
                      <a:prstDash val="solid"/>
                      <a:round/>
                      <a:headEnd type="none" w="med" len="med"/>
                      <a:tailEnd type="none" w="med" len="med"/>
                    </a:lnL>
                    <a:lnR w="9525" cap="flat" cmpd="sng" algn="ctr">
                      <a:solidFill>
                        <a:srgbClr val="E4E9F2"/>
                      </a:solidFill>
                      <a:prstDash val="solid"/>
                      <a:round/>
                      <a:headEnd type="none" w="med" len="med"/>
                      <a:tailEnd type="none" w="med" len="med"/>
                    </a:lnR>
                    <a:lnT w="9525" cap="flat" cmpd="sng" algn="ctr">
                      <a:solidFill>
                        <a:srgbClr val="E4E9F2"/>
                      </a:solidFill>
                      <a:prstDash val="solid"/>
                      <a:round/>
                      <a:headEnd type="none" w="med" len="med"/>
                      <a:tailEnd type="none" w="med" len="med"/>
                    </a:lnT>
                    <a:lnB w="9525" cap="flat" cmpd="sng" algn="ctr">
                      <a:solidFill>
                        <a:srgbClr val="E4E9F2"/>
                      </a:solidFill>
                      <a:prstDash val="solid"/>
                      <a:round/>
                      <a:headEnd type="none" w="med" len="med"/>
                      <a:tailEnd type="none" w="med" len="med"/>
                    </a:lnB>
                    <a:solidFill>
                      <a:srgbClr val="E9EFFB"/>
                    </a:solidFill>
                  </a:tcPr>
                </a:tc>
                <a:tc>
                  <a:txBody>
                    <a:bodyPr/>
                    <a:lstStyle/>
                    <a:p>
                      <a:pPr marL="0" indent="0" algn="ctr">
                        <a:buNone/>
                      </a:pPr>
                      <a:r>
                        <a:rPr lang="en-US" sz="1200" dirty="0">
                          <a:solidFill>
                            <a:srgbClr val="0B2545"/>
                          </a:solidFill>
                          <a:latin typeface="Calibri" panose="020F0502020204030204" pitchFamily="34" charset="0"/>
                          <a:ea typeface="Calibri" panose="020F0502020204030204" pitchFamily="34" charset="-122"/>
                          <a:cs typeface="Calibri" panose="020F0502020204030204" pitchFamily="34" charset="-120"/>
                        </a:rPr>
                        <a:t>2.54</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anchor="ctr">
                    <a:lnL w="9525" cap="flat" cmpd="sng" algn="ctr">
                      <a:solidFill>
                        <a:srgbClr val="E4E9F2"/>
                      </a:solidFill>
                      <a:prstDash val="solid"/>
                      <a:round/>
                      <a:headEnd type="none" w="med" len="med"/>
                      <a:tailEnd type="none" w="med" len="med"/>
                    </a:lnL>
                    <a:lnR w="9525" cap="flat" cmpd="sng" algn="ctr">
                      <a:solidFill>
                        <a:srgbClr val="E4E9F2"/>
                      </a:solidFill>
                      <a:prstDash val="solid"/>
                      <a:round/>
                      <a:headEnd type="none" w="med" len="med"/>
                      <a:tailEnd type="none" w="med" len="med"/>
                    </a:lnR>
                    <a:lnT w="9525" cap="flat" cmpd="sng" algn="ctr">
                      <a:solidFill>
                        <a:srgbClr val="E4E9F2"/>
                      </a:solidFill>
                      <a:prstDash val="solid"/>
                      <a:round/>
                      <a:headEnd type="none" w="med" len="med"/>
                      <a:tailEnd type="none" w="med" len="med"/>
                    </a:lnT>
                    <a:lnB w="9525" cap="flat" cmpd="sng" algn="ctr">
                      <a:solidFill>
                        <a:srgbClr val="E4E9F2"/>
                      </a:solidFill>
                      <a:prstDash val="solid"/>
                      <a:round/>
                      <a:headEnd type="none" w="med" len="med"/>
                      <a:tailEnd type="none" w="med" len="med"/>
                    </a:lnB>
                    <a:solidFill>
                      <a:srgbClr val="E9EFFB"/>
                    </a:solidFill>
                  </a:tcPr>
                </a:tc>
                <a:tc>
                  <a:txBody>
                    <a:bodyPr/>
                    <a:lstStyle/>
                    <a:p>
                      <a:pPr marL="0" indent="0" algn="ctr">
                        <a:buNone/>
                      </a:pPr>
                      <a:r>
                        <a:rPr lang="en-US" sz="1200" dirty="0">
                          <a:solidFill>
                            <a:srgbClr val="0B2545"/>
                          </a:solidFill>
                          <a:latin typeface="Calibri" panose="020F0502020204030204" pitchFamily="34" charset="0"/>
                          <a:ea typeface="Calibri" panose="020F0502020204030204" pitchFamily="34" charset="-122"/>
                          <a:cs typeface="Calibri" panose="020F0502020204030204" pitchFamily="34" charset="-120"/>
                        </a:rPr>
                        <a:t>123</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anchor="ctr">
                    <a:lnL w="9525" cap="flat" cmpd="sng" algn="ctr">
                      <a:solidFill>
                        <a:srgbClr val="E4E9F2"/>
                      </a:solidFill>
                      <a:prstDash val="solid"/>
                      <a:round/>
                      <a:headEnd type="none" w="med" len="med"/>
                      <a:tailEnd type="none" w="med" len="med"/>
                    </a:lnL>
                    <a:lnR w="9525" cap="flat" cmpd="sng" algn="ctr">
                      <a:solidFill>
                        <a:srgbClr val="E4E9F2"/>
                      </a:solidFill>
                      <a:prstDash val="solid"/>
                      <a:round/>
                      <a:headEnd type="none" w="med" len="med"/>
                      <a:tailEnd type="none" w="med" len="med"/>
                    </a:lnR>
                    <a:lnT w="9525" cap="flat" cmpd="sng" algn="ctr">
                      <a:solidFill>
                        <a:srgbClr val="E4E9F2"/>
                      </a:solidFill>
                      <a:prstDash val="solid"/>
                      <a:round/>
                      <a:headEnd type="none" w="med" len="med"/>
                      <a:tailEnd type="none" w="med" len="med"/>
                    </a:lnT>
                    <a:lnB w="9525" cap="flat" cmpd="sng" algn="ctr">
                      <a:solidFill>
                        <a:srgbClr val="E4E9F2"/>
                      </a:solidFill>
                      <a:prstDash val="solid"/>
                      <a:round/>
                      <a:headEnd type="none" w="med" len="med"/>
                      <a:tailEnd type="none" w="med" len="med"/>
                    </a:lnB>
                    <a:solidFill>
                      <a:srgbClr val="E9EFFB"/>
                    </a:solidFill>
                  </a:tcPr>
                </a:tc>
              </a:tr>
              <a:tr h="566928">
                <a:tc>
                  <a:txBody>
                    <a:bodyPr/>
                    <a:lstStyle/>
                    <a:p>
                      <a:pPr marL="0" indent="0" algn="ctr">
                        <a:buNone/>
                      </a:pPr>
                      <a:r>
                        <a:rPr lang="en-US" sz="1200" b="1" dirty="0">
                          <a:solidFill>
                            <a:srgbClr val="9C7A2B"/>
                          </a:solidFill>
                          <a:latin typeface="Calibri" panose="020F0502020204030204" pitchFamily="34" charset="0"/>
                          <a:ea typeface="Calibri" panose="020F0502020204030204" pitchFamily="34" charset="-122"/>
                          <a:cs typeface="Calibri" panose="020F0502020204030204" pitchFamily="34" charset="-120"/>
                        </a:rPr>
                        <a:t>3</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anchor="ctr">
                    <a:lnL w="9525" cap="flat" cmpd="sng" algn="ctr">
                      <a:solidFill>
                        <a:srgbClr val="E4E9F2"/>
                      </a:solidFill>
                      <a:prstDash val="solid"/>
                      <a:round/>
                      <a:headEnd type="none" w="med" len="med"/>
                      <a:tailEnd type="none" w="med" len="med"/>
                    </a:lnL>
                    <a:lnR w="9525" cap="flat" cmpd="sng" algn="ctr">
                      <a:solidFill>
                        <a:srgbClr val="E4E9F2"/>
                      </a:solidFill>
                      <a:prstDash val="solid"/>
                      <a:round/>
                      <a:headEnd type="none" w="med" len="med"/>
                      <a:tailEnd type="none" w="med" len="med"/>
                    </a:lnR>
                    <a:lnT w="9525" cap="flat" cmpd="sng" algn="ctr">
                      <a:solidFill>
                        <a:srgbClr val="E4E9F2"/>
                      </a:solidFill>
                      <a:prstDash val="solid"/>
                      <a:round/>
                      <a:headEnd type="none" w="med" len="med"/>
                      <a:tailEnd type="none" w="med" len="med"/>
                    </a:lnT>
                    <a:lnB w="9525" cap="flat" cmpd="sng" algn="ctr">
                      <a:solidFill>
                        <a:srgbClr val="E4E9F2"/>
                      </a:solidFill>
                      <a:prstDash val="solid"/>
                      <a:round/>
                      <a:headEnd type="none" w="med" len="med"/>
                      <a:tailEnd type="none" w="med" len="med"/>
                    </a:lnB>
                    <a:solidFill>
                      <a:srgbClr val="FFFFFF"/>
                    </a:solidFill>
                  </a:tcPr>
                </a:tc>
                <a:tc>
                  <a:txBody>
                    <a:bodyPr/>
                    <a:lstStyle/>
                    <a:p>
                      <a:pPr marL="0" indent="0" algn="l">
                        <a:buNone/>
                      </a:pPr>
                      <a:r>
                        <a:rPr lang="en-US" sz="1200" dirty="0">
                          <a:solidFill>
                            <a:srgbClr val="0B2545"/>
                          </a:solidFill>
                          <a:latin typeface="Calibri" panose="020F0502020204030204" pitchFamily="34" charset="0"/>
                          <a:ea typeface="Calibri" panose="020F0502020204030204" pitchFamily="34" charset="-122"/>
                          <a:cs typeface="Calibri" panose="020F0502020204030204" pitchFamily="34" charset="-120"/>
                        </a:rPr>
                        <a:t>Machine 18</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anchor="ctr">
                    <a:lnL w="9525" cap="flat" cmpd="sng" algn="ctr">
                      <a:solidFill>
                        <a:srgbClr val="E4E9F2"/>
                      </a:solidFill>
                      <a:prstDash val="solid"/>
                      <a:round/>
                      <a:headEnd type="none" w="med" len="med"/>
                      <a:tailEnd type="none" w="med" len="med"/>
                    </a:lnL>
                    <a:lnR w="9525" cap="flat" cmpd="sng" algn="ctr">
                      <a:solidFill>
                        <a:srgbClr val="E4E9F2"/>
                      </a:solidFill>
                      <a:prstDash val="solid"/>
                      <a:round/>
                      <a:headEnd type="none" w="med" len="med"/>
                      <a:tailEnd type="none" w="med" len="med"/>
                    </a:lnR>
                    <a:lnT w="9525" cap="flat" cmpd="sng" algn="ctr">
                      <a:solidFill>
                        <a:srgbClr val="E4E9F2"/>
                      </a:solidFill>
                      <a:prstDash val="solid"/>
                      <a:round/>
                      <a:headEnd type="none" w="med" len="med"/>
                      <a:tailEnd type="none" w="med" len="med"/>
                    </a:lnT>
                    <a:lnB w="9525" cap="flat" cmpd="sng" algn="ctr">
                      <a:solidFill>
                        <a:srgbClr val="E4E9F2"/>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0B2545"/>
                          </a:solidFill>
                          <a:latin typeface="Calibri" panose="020F0502020204030204" pitchFamily="34" charset="0"/>
                          <a:ea typeface="Calibri" panose="020F0502020204030204" pitchFamily="34" charset="-122"/>
                          <a:cs typeface="Calibri" panose="020F0502020204030204" pitchFamily="34" charset="-120"/>
                        </a:rPr>
                        <a:t>12%</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anchor="ctr">
                    <a:lnL w="9525" cap="flat" cmpd="sng" algn="ctr">
                      <a:solidFill>
                        <a:srgbClr val="E4E9F2"/>
                      </a:solidFill>
                      <a:prstDash val="solid"/>
                      <a:round/>
                      <a:headEnd type="none" w="med" len="med"/>
                      <a:tailEnd type="none" w="med" len="med"/>
                    </a:lnL>
                    <a:lnR w="9525" cap="flat" cmpd="sng" algn="ctr">
                      <a:solidFill>
                        <a:srgbClr val="E4E9F2"/>
                      </a:solidFill>
                      <a:prstDash val="solid"/>
                      <a:round/>
                      <a:headEnd type="none" w="med" len="med"/>
                      <a:tailEnd type="none" w="med" len="med"/>
                    </a:lnR>
                    <a:lnT w="9525" cap="flat" cmpd="sng" algn="ctr">
                      <a:solidFill>
                        <a:srgbClr val="E4E9F2"/>
                      </a:solidFill>
                      <a:prstDash val="solid"/>
                      <a:round/>
                      <a:headEnd type="none" w="med" len="med"/>
                      <a:tailEnd type="none" w="med" len="med"/>
                    </a:lnT>
                    <a:lnB w="9525" cap="flat" cmpd="sng" algn="ctr">
                      <a:solidFill>
                        <a:srgbClr val="E4E9F2"/>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0B2545"/>
                          </a:solidFill>
                          <a:latin typeface="Calibri" panose="020F0502020204030204" pitchFamily="34" charset="0"/>
                          <a:ea typeface="Calibri" panose="020F0502020204030204" pitchFamily="34" charset="-122"/>
                          <a:cs typeface="Calibri" panose="020F0502020204030204" pitchFamily="34" charset="-120"/>
                        </a:rPr>
                        <a:t>4.52%</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anchor="ctr">
                    <a:lnL w="9525" cap="flat" cmpd="sng" algn="ctr">
                      <a:solidFill>
                        <a:srgbClr val="E4E9F2"/>
                      </a:solidFill>
                      <a:prstDash val="solid"/>
                      <a:round/>
                      <a:headEnd type="none" w="med" len="med"/>
                      <a:tailEnd type="none" w="med" len="med"/>
                    </a:lnL>
                    <a:lnR w="9525" cap="flat" cmpd="sng" algn="ctr">
                      <a:solidFill>
                        <a:srgbClr val="E4E9F2"/>
                      </a:solidFill>
                      <a:prstDash val="solid"/>
                      <a:round/>
                      <a:headEnd type="none" w="med" len="med"/>
                      <a:tailEnd type="none" w="med" len="med"/>
                    </a:lnR>
                    <a:lnT w="9525" cap="flat" cmpd="sng" algn="ctr">
                      <a:solidFill>
                        <a:srgbClr val="E4E9F2"/>
                      </a:solidFill>
                      <a:prstDash val="solid"/>
                      <a:round/>
                      <a:headEnd type="none" w="med" len="med"/>
                      <a:tailEnd type="none" w="med" len="med"/>
                    </a:lnT>
                    <a:lnB w="9525" cap="flat" cmpd="sng" algn="ctr">
                      <a:solidFill>
                        <a:srgbClr val="E4E9F2"/>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0B2545"/>
                          </a:solidFill>
                          <a:latin typeface="Calibri" panose="020F0502020204030204" pitchFamily="34" charset="0"/>
                          <a:ea typeface="Calibri" panose="020F0502020204030204" pitchFamily="34" charset="-122"/>
                          <a:cs typeface="Calibri" panose="020F0502020204030204" pitchFamily="34" charset="-120"/>
                        </a:rPr>
                        <a:t>2.75</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anchor="ctr">
                    <a:lnL w="9525" cap="flat" cmpd="sng" algn="ctr">
                      <a:solidFill>
                        <a:srgbClr val="E4E9F2"/>
                      </a:solidFill>
                      <a:prstDash val="solid"/>
                      <a:round/>
                      <a:headEnd type="none" w="med" len="med"/>
                      <a:tailEnd type="none" w="med" len="med"/>
                    </a:lnL>
                    <a:lnR w="9525" cap="flat" cmpd="sng" algn="ctr">
                      <a:solidFill>
                        <a:srgbClr val="E4E9F2"/>
                      </a:solidFill>
                      <a:prstDash val="solid"/>
                      <a:round/>
                      <a:headEnd type="none" w="med" len="med"/>
                      <a:tailEnd type="none" w="med" len="med"/>
                    </a:lnR>
                    <a:lnT w="9525" cap="flat" cmpd="sng" algn="ctr">
                      <a:solidFill>
                        <a:srgbClr val="E4E9F2"/>
                      </a:solidFill>
                      <a:prstDash val="solid"/>
                      <a:round/>
                      <a:headEnd type="none" w="med" len="med"/>
                      <a:tailEnd type="none" w="med" len="med"/>
                    </a:lnT>
                    <a:lnB w="9525" cap="flat" cmpd="sng" algn="ctr">
                      <a:solidFill>
                        <a:srgbClr val="E4E9F2"/>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0B2545"/>
                          </a:solidFill>
                          <a:latin typeface="Calibri" panose="020F0502020204030204" pitchFamily="34" charset="0"/>
                          <a:ea typeface="Calibri" panose="020F0502020204030204" pitchFamily="34" charset="-122"/>
                          <a:cs typeface="Calibri" panose="020F0502020204030204" pitchFamily="34" charset="-120"/>
                        </a:rPr>
                        <a:t>133</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anchor="ctr">
                    <a:lnL w="9525" cap="flat" cmpd="sng" algn="ctr">
                      <a:solidFill>
                        <a:srgbClr val="E4E9F2"/>
                      </a:solidFill>
                      <a:prstDash val="solid"/>
                      <a:round/>
                      <a:headEnd type="none" w="med" len="med"/>
                      <a:tailEnd type="none" w="med" len="med"/>
                    </a:lnL>
                    <a:lnR w="9525" cap="flat" cmpd="sng" algn="ctr">
                      <a:solidFill>
                        <a:srgbClr val="E4E9F2"/>
                      </a:solidFill>
                      <a:prstDash val="solid"/>
                      <a:round/>
                      <a:headEnd type="none" w="med" len="med"/>
                      <a:tailEnd type="none" w="med" len="med"/>
                    </a:lnR>
                    <a:lnT w="9525" cap="flat" cmpd="sng" algn="ctr">
                      <a:solidFill>
                        <a:srgbClr val="E4E9F2"/>
                      </a:solidFill>
                      <a:prstDash val="solid"/>
                      <a:round/>
                      <a:headEnd type="none" w="med" len="med"/>
                      <a:tailEnd type="none" w="med" len="med"/>
                    </a:lnT>
                    <a:lnB w="9525" cap="flat" cmpd="sng" algn="ctr">
                      <a:solidFill>
                        <a:srgbClr val="E4E9F2"/>
                      </a:solidFill>
                      <a:prstDash val="solid"/>
                      <a:round/>
                      <a:headEnd type="none" w="med" len="med"/>
                      <a:tailEnd type="none" w="med" len="med"/>
                    </a:lnB>
                    <a:solidFill>
                      <a:srgbClr val="FFFFFF"/>
                    </a:solidFill>
                  </a:tcPr>
                </a:tc>
              </a:tr>
              <a:tr h="566928">
                <a:tc>
                  <a:txBody>
                    <a:bodyPr/>
                    <a:lstStyle/>
                    <a:p>
                      <a:pPr marL="0" indent="0" algn="ctr">
                        <a:buNone/>
                      </a:pPr>
                      <a:r>
                        <a:rPr lang="en-US" sz="1200" b="1" dirty="0">
                          <a:solidFill>
                            <a:srgbClr val="9C7A2B"/>
                          </a:solidFill>
                          <a:latin typeface="Calibri" panose="020F0502020204030204" pitchFamily="34" charset="0"/>
                          <a:ea typeface="Calibri" panose="020F0502020204030204" pitchFamily="34" charset="-122"/>
                          <a:cs typeface="Calibri" panose="020F0502020204030204" pitchFamily="34" charset="-120"/>
                        </a:rPr>
                        <a:t>4</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anchor="ctr">
                    <a:lnL w="9525" cap="flat" cmpd="sng" algn="ctr">
                      <a:solidFill>
                        <a:srgbClr val="E4E9F2"/>
                      </a:solidFill>
                      <a:prstDash val="solid"/>
                      <a:round/>
                      <a:headEnd type="none" w="med" len="med"/>
                      <a:tailEnd type="none" w="med" len="med"/>
                    </a:lnL>
                    <a:lnR w="9525" cap="flat" cmpd="sng" algn="ctr">
                      <a:solidFill>
                        <a:srgbClr val="E4E9F2"/>
                      </a:solidFill>
                      <a:prstDash val="solid"/>
                      <a:round/>
                      <a:headEnd type="none" w="med" len="med"/>
                      <a:tailEnd type="none" w="med" len="med"/>
                    </a:lnR>
                    <a:lnT w="9525" cap="flat" cmpd="sng" algn="ctr">
                      <a:solidFill>
                        <a:srgbClr val="E4E9F2"/>
                      </a:solidFill>
                      <a:prstDash val="solid"/>
                      <a:round/>
                      <a:headEnd type="none" w="med" len="med"/>
                      <a:tailEnd type="none" w="med" len="med"/>
                    </a:lnT>
                    <a:lnB w="9525" cap="flat" cmpd="sng" algn="ctr">
                      <a:solidFill>
                        <a:srgbClr val="E4E9F2"/>
                      </a:solidFill>
                      <a:prstDash val="solid"/>
                      <a:round/>
                      <a:headEnd type="none" w="med" len="med"/>
                      <a:tailEnd type="none" w="med" len="med"/>
                    </a:lnB>
                    <a:solidFill>
                      <a:srgbClr val="E9EFFB"/>
                    </a:solidFill>
                  </a:tcPr>
                </a:tc>
                <a:tc>
                  <a:txBody>
                    <a:bodyPr/>
                    <a:lstStyle/>
                    <a:p>
                      <a:pPr marL="0" indent="0" algn="l">
                        <a:buNone/>
                      </a:pPr>
                      <a:r>
                        <a:rPr lang="en-US" sz="1200" dirty="0">
                          <a:solidFill>
                            <a:srgbClr val="0B2545"/>
                          </a:solidFill>
                          <a:latin typeface="Calibri" panose="020F0502020204030204" pitchFamily="34" charset="0"/>
                          <a:ea typeface="Calibri" panose="020F0502020204030204" pitchFamily="34" charset="-122"/>
                          <a:cs typeface="Calibri" panose="020F0502020204030204" pitchFamily="34" charset="-120"/>
                        </a:rPr>
                        <a:t>Machine 11</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anchor="ctr">
                    <a:lnL w="9525" cap="flat" cmpd="sng" algn="ctr">
                      <a:solidFill>
                        <a:srgbClr val="E4E9F2"/>
                      </a:solidFill>
                      <a:prstDash val="solid"/>
                      <a:round/>
                      <a:headEnd type="none" w="med" len="med"/>
                      <a:tailEnd type="none" w="med" len="med"/>
                    </a:lnL>
                    <a:lnR w="9525" cap="flat" cmpd="sng" algn="ctr">
                      <a:solidFill>
                        <a:srgbClr val="E4E9F2"/>
                      </a:solidFill>
                      <a:prstDash val="solid"/>
                      <a:round/>
                      <a:headEnd type="none" w="med" len="med"/>
                      <a:tailEnd type="none" w="med" len="med"/>
                    </a:lnR>
                    <a:lnT w="9525" cap="flat" cmpd="sng" algn="ctr">
                      <a:solidFill>
                        <a:srgbClr val="E4E9F2"/>
                      </a:solidFill>
                      <a:prstDash val="solid"/>
                      <a:round/>
                      <a:headEnd type="none" w="med" len="med"/>
                      <a:tailEnd type="none" w="med" len="med"/>
                    </a:lnT>
                    <a:lnB w="9525" cap="flat" cmpd="sng" algn="ctr">
                      <a:solidFill>
                        <a:srgbClr val="E4E9F2"/>
                      </a:solidFill>
                      <a:prstDash val="solid"/>
                      <a:round/>
                      <a:headEnd type="none" w="med" len="med"/>
                      <a:tailEnd type="none" w="med" len="med"/>
                    </a:lnB>
                    <a:solidFill>
                      <a:srgbClr val="E9EFFB"/>
                    </a:solidFill>
                  </a:tcPr>
                </a:tc>
                <a:tc>
                  <a:txBody>
                    <a:bodyPr/>
                    <a:lstStyle/>
                    <a:p>
                      <a:pPr marL="0" indent="0" algn="ctr">
                        <a:buNone/>
                      </a:pPr>
                      <a:r>
                        <a:rPr lang="en-US" sz="1200" dirty="0">
                          <a:solidFill>
                            <a:srgbClr val="0B2545"/>
                          </a:solidFill>
                          <a:latin typeface="Calibri" panose="020F0502020204030204" pitchFamily="34" charset="0"/>
                          <a:ea typeface="Calibri" panose="020F0502020204030204" pitchFamily="34" charset="-122"/>
                          <a:cs typeface="Calibri" panose="020F0502020204030204" pitchFamily="34" charset="-120"/>
                        </a:rPr>
                        <a:t>14%</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anchor="ctr">
                    <a:lnL w="9525" cap="flat" cmpd="sng" algn="ctr">
                      <a:solidFill>
                        <a:srgbClr val="E4E9F2"/>
                      </a:solidFill>
                      <a:prstDash val="solid"/>
                      <a:round/>
                      <a:headEnd type="none" w="med" len="med"/>
                      <a:tailEnd type="none" w="med" len="med"/>
                    </a:lnL>
                    <a:lnR w="9525" cap="flat" cmpd="sng" algn="ctr">
                      <a:solidFill>
                        <a:srgbClr val="E4E9F2"/>
                      </a:solidFill>
                      <a:prstDash val="solid"/>
                      <a:round/>
                      <a:headEnd type="none" w="med" len="med"/>
                      <a:tailEnd type="none" w="med" len="med"/>
                    </a:lnR>
                    <a:lnT w="9525" cap="flat" cmpd="sng" algn="ctr">
                      <a:solidFill>
                        <a:srgbClr val="E4E9F2"/>
                      </a:solidFill>
                      <a:prstDash val="solid"/>
                      <a:round/>
                      <a:headEnd type="none" w="med" len="med"/>
                      <a:tailEnd type="none" w="med" len="med"/>
                    </a:lnT>
                    <a:lnB w="9525" cap="flat" cmpd="sng" algn="ctr">
                      <a:solidFill>
                        <a:srgbClr val="E4E9F2"/>
                      </a:solidFill>
                      <a:prstDash val="solid"/>
                      <a:round/>
                      <a:headEnd type="none" w="med" len="med"/>
                      <a:tailEnd type="none" w="med" len="med"/>
                    </a:lnB>
                    <a:solidFill>
                      <a:srgbClr val="E9EFFB"/>
                    </a:solidFill>
                  </a:tcPr>
                </a:tc>
                <a:tc>
                  <a:txBody>
                    <a:bodyPr/>
                    <a:lstStyle/>
                    <a:p>
                      <a:pPr marL="0" indent="0" algn="ctr">
                        <a:buNone/>
                      </a:pPr>
                      <a:r>
                        <a:rPr lang="en-US" sz="1200" dirty="0">
                          <a:solidFill>
                            <a:srgbClr val="0B2545"/>
                          </a:solidFill>
                          <a:latin typeface="Calibri" panose="020F0502020204030204" pitchFamily="34" charset="0"/>
                          <a:ea typeface="Calibri" panose="020F0502020204030204" pitchFamily="34" charset="-122"/>
                          <a:cs typeface="Calibri" panose="020F0502020204030204" pitchFamily="34" charset="-120"/>
                        </a:rPr>
                        <a:t>4.04%</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anchor="ctr">
                    <a:lnL w="9525" cap="flat" cmpd="sng" algn="ctr">
                      <a:solidFill>
                        <a:srgbClr val="E4E9F2"/>
                      </a:solidFill>
                      <a:prstDash val="solid"/>
                      <a:round/>
                      <a:headEnd type="none" w="med" len="med"/>
                      <a:tailEnd type="none" w="med" len="med"/>
                    </a:lnL>
                    <a:lnR w="9525" cap="flat" cmpd="sng" algn="ctr">
                      <a:solidFill>
                        <a:srgbClr val="E4E9F2"/>
                      </a:solidFill>
                      <a:prstDash val="solid"/>
                      <a:round/>
                      <a:headEnd type="none" w="med" len="med"/>
                      <a:tailEnd type="none" w="med" len="med"/>
                    </a:lnR>
                    <a:lnT w="9525" cap="flat" cmpd="sng" algn="ctr">
                      <a:solidFill>
                        <a:srgbClr val="E4E9F2"/>
                      </a:solidFill>
                      <a:prstDash val="solid"/>
                      <a:round/>
                      <a:headEnd type="none" w="med" len="med"/>
                      <a:tailEnd type="none" w="med" len="med"/>
                    </a:lnT>
                    <a:lnB w="9525" cap="flat" cmpd="sng" algn="ctr">
                      <a:solidFill>
                        <a:srgbClr val="E4E9F2"/>
                      </a:solidFill>
                      <a:prstDash val="solid"/>
                      <a:round/>
                      <a:headEnd type="none" w="med" len="med"/>
                      <a:tailEnd type="none" w="med" len="med"/>
                    </a:lnB>
                    <a:solidFill>
                      <a:srgbClr val="E9EFFB"/>
                    </a:solidFill>
                  </a:tcPr>
                </a:tc>
                <a:tc>
                  <a:txBody>
                    <a:bodyPr/>
                    <a:lstStyle/>
                    <a:p>
                      <a:pPr marL="0" indent="0" algn="ctr">
                        <a:buNone/>
                      </a:pPr>
                      <a:r>
                        <a:rPr lang="en-US" sz="1200" dirty="0">
                          <a:solidFill>
                            <a:srgbClr val="0B2545"/>
                          </a:solidFill>
                          <a:latin typeface="Calibri" panose="020F0502020204030204" pitchFamily="34" charset="0"/>
                          <a:ea typeface="Calibri" panose="020F0502020204030204" pitchFamily="34" charset="-122"/>
                          <a:cs typeface="Calibri" panose="020F0502020204030204" pitchFamily="34" charset="-120"/>
                        </a:rPr>
                        <a:t>2.48</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anchor="ctr">
                    <a:lnL w="9525" cap="flat" cmpd="sng" algn="ctr">
                      <a:solidFill>
                        <a:srgbClr val="E4E9F2"/>
                      </a:solidFill>
                      <a:prstDash val="solid"/>
                      <a:round/>
                      <a:headEnd type="none" w="med" len="med"/>
                      <a:tailEnd type="none" w="med" len="med"/>
                    </a:lnL>
                    <a:lnR w="9525" cap="flat" cmpd="sng" algn="ctr">
                      <a:solidFill>
                        <a:srgbClr val="E4E9F2"/>
                      </a:solidFill>
                      <a:prstDash val="solid"/>
                      <a:round/>
                      <a:headEnd type="none" w="med" len="med"/>
                      <a:tailEnd type="none" w="med" len="med"/>
                    </a:lnR>
                    <a:lnT w="9525" cap="flat" cmpd="sng" algn="ctr">
                      <a:solidFill>
                        <a:srgbClr val="E4E9F2"/>
                      </a:solidFill>
                      <a:prstDash val="solid"/>
                      <a:round/>
                      <a:headEnd type="none" w="med" len="med"/>
                      <a:tailEnd type="none" w="med" len="med"/>
                    </a:lnT>
                    <a:lnB w="9525" cap="flat" cmpd="sng" algn="ctr">
                      <a:solidFill>
                        <a:srgbClr val="E4E9F2"/>
                      </a:solidFill>
                      <a:prstDash val="solid"/>
                      <a:round/>
                      <a:headEnd type="none" w="med" len="med"/>
                      <a:tailEnd type="none" w="med" len="med"/>
                    </a:lnB>
                    <a:solidFill>
                      <a:srgbClr val="E9EFFB"/>
                    </a:solidFill>
                  </a:tcPr>
                </a:tc>
                <a:tc>
                  <a:txBody>
                    <a:bodyPr/>
                    <a:lstStyle/>
                    <a:p>
                      <a:pPr marL="0" indent="0" algn="ctr">
                        <a:buNone/>
                      </a:pPr>
                      <a:r>
                        <a:rPr lang="en-US" sz="1200" dirty="0">
                          <a:solidFill>
                            <a:srgbClr val="0B2545"/>
                          </a:solidFill>
                          <a:latin typeface="Calibri" panose="020F0502020204030204" pitchFamily="34" charset="0"/>
                          <a:ea typeface="Calibri" panose="020F0502020204030204" pitchFamily="34" charset="-122"/>
                          <a:cs typeface="Calibri" panose="020F0502020204030204" pitchFamily="34" charset="-120"/>
                        </a:rPr>
                        <a:t>171</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anchor="ctr">
                    <a:lnL w="9525" cap="flat" cmpd="sng" algn="ctr">
                      <a:solidFill>
                        <a:srgbClr val="E4E9F2"/>
                      </a:solidFill>
                      <a:prstDash val="solid"/>
                      <a:round/>
                      <a:headEnd type="none" w="med" len="med"/>
                      <a:tailEnd type="none" w="med" len="med"/>
                    </a:lnL>
                    <a:lnR w="9525" cap="flat" cmpd="sng" algn="ctr">
                      <a:solidFill>
                        <a:srgbClr val="E4E9F2"/>
                      </a:solidFill>
                      <a:prstDash val="solid"/>
                      <a:round/>
                      <a:headEnd type="none" w="med" len="med"/>
                      <a:tailEnd type="none" w="med" len="med"/>
                    </a:lnR>
                    <a:lnT w="9525" cap="flat" cmpd="sng" algn="ctr">
                      <a:solidFill>
                        <a:srgbClr val="E4E9F2"/>
                      </a:solidFill>
                      <a:prstDash val="solid"/>
                      <a:round/>
                      <a:headEnd type="none" w="med" len="med"/>
                      <a:tailEnd type="none" w="med" len="med"/>
                    </a:lnT>
                    <a:lnB w="9525" cap="flat" cmpd="sng" algn="ctr">
                      <a:solidFill>
                        <a:srgbClr val="E4E9F2"/>
                      </a:solidFill>
                      <a:prstDash val="solid"/>
                      <a:round/>
                      <a:headEnd type="none" w="med" len="med"/>
                      <a:tailEnd type="none" w="med" len="med"/>
                    </a:lnB>
                    <a:solidFill>
                      <a:srgbClr val="E9EFFB"/>
                    </a:solidFill>
                  </a:tcPr>
                </a:tc>
              </a:tr>
            </a:tbl>
          </a:graphicData>
        </a:graphic>
      </p:graphicFrame>
      <p:sp>
        <p:nvSpPr>
          <p:cNvPr id="5" name="Text 2"/>
          <p:cNvSpPr/>
          <p:nvPr/>
        </p:nvSpPr>
        <p:spPr>
          <a:xfrm>
            <a:off x="548640" y="4709160"/>
            <a:ext cx="9601200" cy="548640"/>
          </a:xfrm>
          <a:prstGeom prst="rect">
            <a:avLst/>
          </a:prstGeom>
          <a:noFill/>
        </p:spPr>
        <p:txBody>
          <a:bodyPr wrap="square" rtlCol="0" anchor="ctr"/>
          <a:lstStyle/>
          <a:p>
            <a:pPr marL="0" indent="0">
              <a:lnSpc>
                <a:spcPct val="125000"/>
              </a:lnSpc>
              <a:buNone/>
            </a:pPr>
            <a:r>
              <a:rPr lang="en-US" sz="1100" i="1" dirty="0">
                <a:solidFill>
                  <a:srgbClr val="44536B"/>
                </a:solidFill>
                <a:latin typeface="Calibri" panose="020F0502020204030204" pitchFamily="34" charset="0"/>
                <a:ea typeface="Calibri" panose="020F0502020204030204" pitchFamily="34" charset="-122"/>
                <a:cs typeface="Calibri" panose="020F0502020204030204" pitchFamily="34" charset="-120"/>
              </a:rPr>
              <a:t>Machine 11 is a close fourth and worth including in the same inspection cycle. All four run maintenance hours in line with the fleet average -confirming the issue is asset condition, not lack of attention.</a:t>
            </a:r>
            <a:endParaRPr lang="en-US" sz="1100" dirty="0"/>
          </a:p>
        </p:txBody>
      </p:sp>
      <p:sp>
        <p:nvSpPr>
          <p:cNvPr id="9" name="Text 6"/>
          <p:cNvSpPr/>
          <p:nvPr/>
        </p:nvSpPr>
        <p:spPr>
          <a:xfrm>
            <a:off x="11551615" y="6473952"/>
            <a:ext cx="457200" cy="274320"/>
          </a:xfrm>
          <a:prstGeom prst="rect">
            <a:avLst/>
          </a:prstGeom>
          <a:noFill/>
        </p:spPr>
        <p:txBody>
          <a:bodyPr wrap="square" rtlCol="0" anchor="ctr"/>
          <a:lstStyle/>
          <a:p>
            <a:pPr marL="0" indent="0" algn="r">
              <a:buNone/>
            </a:pPr>
            <a:r>
              <a:rPr lang="en-US" sz="900" dirty="0">
                <a:solidFill>
                  <a:srgbClr val="8C9AB3"/>
                </a:solidFill>
                <a:latin typeface="Calibri" panose="020F0502020204030204" pitchFamily="34" charset="0"/>
                <a:ea typeface="Calibri" panose="020F0502020204030204" pitchFamily="34" charset="-122"/>
                <a:cs typeface="Calibri" panose="020F0502020204030204"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274320"/>
          </a:xfrm>
          <a:prstGeom prst="rect">
            <a:avLst/>
          </a:prstGeom>
          <a:noFill/>
        </p:spPr>
        <p:txBody>
          <a:bodyPr wrap="square" rtlCol="0" anchor="ctr"/>
          <a:lstStyle/>
          <a:p>
            <a:pPr marL="0" indent="0">
              <a:buNone/>
            </a:pPr>
            <a:r>
              <a:rPr lang="en-US" sz="1200" b="1" kern="0" spc="200" dirty="0">
                <a:solidFill>
                  <a:srgbClr val="9C7A2B"/>
                </a:solidFill>
                <a:latin typeface="Calibri" panose="020F0502020204030204" pitchFamily="34" charset="0"/>
                <a:ea typeface="Calibri" panose="020F0502020204030204" pitchFamily="34" charset="-122"/>
                <a:cs typeface="Calibri" panose="020F0502020204030204" pitchFamily="34" charset="-120"/>
              </a:rPr>
              <a:t>RECOMMENDATIONS</a:t>
            </a:r>
            <a:endParaRPr lang="en-US" sz="1200" dirty="0"/>
          </a:p>
        </p:txBody>
      </p:sp>
      <p:sp>
        <p:nvSpPr>
          <p:cNvPr id="3" name="Text 1"/>
          <p:cNvSpPr/>
          <p:nvPr/>
        </p:nvSpPr>
        <p:spPr>
          <a:xfrm>
            <a:off x="548640" y="658368"/>
            <a:ext cx="10789920" cy="640080"/>
          </a:xfrm>
          <a:prstGeom prst="rect">
            <a:avLst/>
          </a:prstGeom>
          <a:noFill/>
        </p:spPr>
        <p:txBody>
          <a:bodyPr wrap="square" rtlCol="0" anchor="ctr"/>
          <a:lstStyle/>
          <a:p>
            <a:pPr marL="0" indent="0" algn="l">
              <a:buNone/>
            </a:pPr>
            <a:r>
              <a:rPr lang="en-US" sz="3000" b="1" dirty="0">
                <a:solidFill>
                  <a:srgbClr val="0B2545"/>
                </a:solidFill>
                <a:latin typeface="Cambria" panose="02040503050406030204" pitchFamily="34" charset="0"/>
                <a:ea typeface="Cambria" panose="02040503050406030204" pitchFamily="34" charset="-122"/>
                <a:cs typeface="Cambria" panose="02040503050406030204" pitchFamily="34" charset="-120"/>
              </a:rPr>
              <a:t>A Phased Roadmap -Not a Single Silver Bullet</a:t>
            </a:r>
            <a:endParaRPr lang="en-US" sz="3000" dirty="0"/>
          </a:p>
        </p:txBody>
      </p:sp>
      <p:sp>
        <p:nvSpPr>
          <p:cNvPr id="4" name="Shape 2"/>
          <p:cNvSpPr/>
          <p:nvPr/>
        </p:nvSpPr>
        <p:spPr>
          <a:xfrm>
            <a:off x="548640" y="1508760"/>
            <a:ext cx="3611880" cy="777240"/>
          </a:xfrm>
          <a:prstGeom prst="rect">
            <a:avLst/>
          </a:prstGeom>
          <a:solidFill>
            <a:srgbClr val="B0453C"/>
          </a:solidFill>
        </p:spPr>
      </p:sp>
      <p:sp>
        <p:nvSpPr>
          <p:cNvPr id="5" name="Text 3"/>
          <p:cNvSpPr/>
          <p:nvPr/>
        </p:nvSpPr>
        <p:spPr>
          <a:xfrm>
            <a:off x="731520" y="1581912"/>
            <a:ext cx="3246120" cy="347472"/>
          </a:xfrm>
          <a:prstGeom prst="rect">
            <a:avLst/>
          </a:prstGeom>
          <a:noFill/>
        </p:spPr>
        <p:txBody>
          <a:bodyPr wrap="square" rtlCol="0" anchor="ctr"/>
          <a:lstStyle/>
          <a:p>
            <a:pPr marL="0" indent="0">
              <a:buNone/>
            </a:pPr>
            <a:r>
              <a:rPr lang="en-US" sz="1400" b="1" kern="0" spc="100" dirty="0">
                <a:solidFill>
                  <a:srgbClr val="FFFFFF"/>
                </a:solidFill>
                <a:latin typeface="Calibri" panose="020F0502020204030204" pitchFamily="34" charset="0"/>
                <a:ea typeface="Calibri" panose="020F0502020204030204" pitchFamily="34" charset="-122"/>
                <a:cs typeface="Calibri" panose="020F0502020204030204" pitchFamily="34" charset="-120"/>
              </a:rPr>
              <a:t>IMMEDIATE</a:t>
            </a:r>
            <a:endParaRPr lang="en-US" sz="1400" dirty="0"/>
          </a:p>
        </p:txBody>
      </p:sp>
      <p:sp>
        <p:nvSpPr>
          <p:cNvPr id="6" name="Text 4"/>
          <p:cNvSpPr/>
          <p:nvPr/>
        </p:nvSpPr>
        <p:spPr>
          <a:xfrm>
            <a:off x="731520" y="1920240"/>
            <a:ext cx="3246120" cy="292608"/>
          </a:xfrm>
          <a:prstGeom prst="rect">
            <a:avLst/>
          </a:prstGeom>
          <a:noFill/>
        </p:spPr>
        <p:txBody>
          <a:bodyPr wrap="square" rtlCol="0" anchor="ctr"/>
          <a:lstStyle/>
          <a:p>
            <a:pPr marL="0" indent="0">
              <a:buNone/>
            </a:pPr>
            <a:r>
              <a:rPr lang="en-US" sz="1100" i="1" dirty="0">
                <a:solidFill>
                  <a:srgbClr val="FFFFFF"/>
                </a:solidFill>
                <a:latin typeface="Calibri" panose="020F0502020204030204" pitchFamily="34" charset="0"/>
                <a:ea typeface="Calibri" panose="020F0502020204030204" pitchFamily="34" charset="-122"/>
                <a:cs typeface="Calibri" panose="020F0502020204030204" pitchFamily="34" charset="-120"/>
              </a:rPr>
              <a:t>0-3 Months</a:t>
            </a:r>
            <a:endParaRPr lang="en-US" sz="1100" dirty="0"/>
          </a:p>
        </p:txBody>
      </p:sp>
      <p:sp>
        <p:nvSpPr>
          <p:cNvPr id="7" name="Shape 5"/>
          <p:cNvSpPr/>
          <p:nvPr/>
        </p:nvSpPr>
        <p:spPr>
          <a:xfrm>
            <a:off x="548640" y="2286000"/>
            <a:ext cx="3611880" cy="4160520"/>
          </a:xfrm>
          <a:prstGeom prst="rect">
            <a:avLst/>
          </a:prstGeom>
          <a:solidFill>
            <a:srgbClr val="F6F8FC"/>
          </a:solidFill>
          <a:ln w="12700">
            <a:solidFill>
              <a:srgbClr val="CADCFC"/>
            </a:solidFill>
            <a:prstDash val="solid"/>
          </a:ln>
        </p:spPr>
      </p:sp>
      <p:sp>
        <p:nvSpPr>
          <p:cNvPr id="8" name="Shape 6"/>
          <p:cNvSpPr/>
          <p:nvPr/>
        </p:nvSpPr>
        <p:spPr>
          <a:xfrm>
            <a:off x="749808" y="2560320"/>
            <a:ext cx="118872" cy="118872"/>
          </a:xfrm>
          <a:prstGeom prst="ellipse">
            <a:avLst/>
          </a:prstGeom>
          <a:solidFill>
            <a:srgbClr val="B0453C"/>
          </a:solidFill>
        </p:spPr>
      </p:sp>
      <p:sp>
        <p:nvSpPr>
          <p:cNvPr id="9" name="Text 7"/>
          <p:cNvSpPr/>
          <p:nvPr/>
        </p:nvSpPr>
        <p:spPr>
          <a:xfrm>
            <a:off x="987552" y="2441448"/>
            <a:ext cx="2971800" cy="1463040"/>
          </a:xfrm>
          <a:prstGeom prst="rect">
            <a:avLst/>
          </a:prstGeom>
          <a:noFill/>
        </p:spPr>
        <p:txBody>
          <a:bodyPr wrap="square" rtlCol="0" anchor="ctr"/>
          <a:lstStyle/>
          <a:p>
            <a:pPr marL="0" indent="0">
              <a:lnSpc>
                <a:spcPct val="125000"/>
              </a:lnSpc>
              <a:buNone/>
            </a:pPr>
            <a:r>
              <a:rPr lang="en-US" sz="1100" dirty="0">
                <a:solidFill>
                  <a:srgbClr val="44536B"/>
                </a:solidFill>
                <a:latin typeface="Calibri" panose="020F0502020204030204" pitchFamily="34" charset="0"/>
                <a:ea typeface="Calibri" panose="020F0502020204030204" pitchFamily="34" charset="-122"/>
                <a:cs typeface="Calibri" panose="020F0502020204030204" pitchFamily="34" charset="-120"/>
              </a:rPr>
              <a:t>Send Machines 6, 9, 11 &amp; 18 for urgent engineering inspection</a:t>
            </a:r>
            <a:endParaRPr lang="en-US" sz="1100" dirty="0"/>
          </a:p>
        </p:txBody>
      </p:sp>
      <p:sp>
        <p:nvSpPr>
          <p:cNvPr id="10" name="Shape 8"/>
          <p:cNvSpPr/>
          <p:nvPr/>
        </p:nvSpPr>
        <p:spPr>
          <a:xfrm>
            <a:off x="749808" y="4343400"/>
            <a:ext cx="118872" cy="118872"/>
          </a:xfrm>
          <a:prstGeom prst="ellipse">
            <a:avLst/>
          </a:prstGeom>
          <a:solidFill>
            <a:srgbClr val="B0453C"/>
          </a:solidFill>
        </p:spPr>
      </p:sp>
      <p:sp>
        <p:nvSpPr>
          <p:cNvPr id="11" name="Text 9"/>
          <p:cNvSpPr/>
          <p:nvPr/>
        </p:nvSpPr>
        <p:spPr>
          <a:xfrm>
            <a:off x="987552" y="4224528"/>
            <a:ext cx="2971800" cy="1463040"/>
          </a:xfrm>
          <a:prstGeom prst="rect">
            <a:avLst/>
          </a:prstGeom>
          <a:noFill/>
        </p:spPr>
        <p:txBody>
          <a:bodyPr wrap="square" rtlCol="0" anchor="ctr"/>
          <a:lstStyle/>
          <a:p>
            <a:pPr marL="0" indent="0">
              <a:lnSpc>
                <a:spcPct val="125000"/>
              </a:lnSpc>
              <a:buNone/>
            </a:pPr>
            <a:r>
              <a:rPr lang="en-US" sz="1100" dirty="0">
                <a:solidFill>
                  <a:srgbClr val="44536B"/>
                </a:solidFill>
                <a:latin typeface="Calibri" panose="020F0502020204030204" pitchFamily="34" charset="0"/>
                <a:ea typeface="Calibri" panose="020F0502020204030204" pitchFamily="34" charset="-122"/>
                <a:cs typeface="Calibri" panose="020F0502020204030204" pitchFamily="34" charset="-120"/>
              </a:rPr>
              <a:t>Audit the maintenance schedule; shift from fixed-interval to condition-based servicing on the 4 at-risk machines first</a:t>
            </a:r>
            <a:endParaRPr lang="en-US" sz="1100" dirty="0"/>
          </a:p>
        </p:txBody>
      </p:sp>
      <p:sp>
        <p:nvSpPr>
          <p:cNvPr id="12" name="Shape 10"/>
          <p:cNvSpPr/>
          <p:nvPr/>
        </p:nvSpPr>
        <p:spPr>
          <a:xfrm>
            <a:off x="4343400" y="1508760"/>
            <a:ext cx="3611880" cy="777240"/>
          </a:xfrm>
          <a:prstGeom prst="rect">
            <a:avLst/>
          </a:prstGeom>
          <a:solidFill>
            <a:srgbClr val="9C7A2B"/>
          </a:solidFill>
        </p:spPr>
      </p:sp>
      <p:sp>
        <p:nvSpPr>
          <p:cNvPr id="13" name="Text 11"/>
          <p:cNvSpPr/>
          <p:nvPr/>
        </p:nvSpPr>
        <p:spPr>
          <a:xfrm>
            <a:off x="4526280" y="1581912"/>
            <a:ext cx="3246120" cy="347472"/>
          </a:xfrm>
          <a:prstGeom prst="rect">
            <a:avLst/>
          </a:prstGeom>
          <a:noFill/>
        </p:spPr>
        <p:txBody>
          <a:bodyPr wrap="square" rtlCol="0" anchor="ctr"/>
          <a:lstStyle/>
          <a:p>
            <a:pPr marL="0" indent="0">
              <a:buNone/>
            </a:pPr>
            <a:r>
              <a:rPr lang="en-US" sz="1400" b="1" kern="0" spc="100" dirty="0">
                <a:solidFill>
                  <a:srgbClr val="FFFFFF"/>
                </a:solidFill>
                <a:latin typeface="Calibri" panose="020F0502020204030204" pitchFamily="34" charset="0"/>
                <a:ea typeface="Calibri" panose="020F0502020204030204" pitchFamily="34" charset="-122"/>
                <a:cs typeface="Calibri" panose="020F0502020204030204" pitchFamily="34" charset="-120"/>
              </a:rPr>
              <a:t>NEAR-TERM</a:t>
            </a:r>
            <a:endParaRPr lang="en-US" sz="1400" dirty="0"/>
          </a:p>
        </p:txBody>
      </p:sp>
      <p:sp>
        <p:nvSpPr>
          <p:cNvPr id="14" name="Text 12"/>
          <p:cNvSpPr/>
          <p:nvPr/>
        </p:nvSpPr>
        <p:spPr>
          <a:xfrm>
            <a:off x="4526280" y="1920240"/>
            <a:ext cx="3246120" cy="292608"/>
          </a:xfrm>
          <a:prstGeom prst="rect">
            <a:avLst/>
          </a:prstGeom>
          <a:noFill/>
        </p:spPr>
        <p:txBody>
          <a:bodyPr wrap="square" rtlCol="0" anchor="ctr"/>
          <a:lstStyle/>
          <a:p>
            <a:pPr marL="0" indent="0">
              <a:buNone/>
            </a:pPr>
            <a:r>
              <a:rPr lang="en-US" sz="1100" i="1" dirty="0">
                <a:solidFill>
                  <a:srgbClr val="FFFFFF"/>
                </a:solidFill>
                <a:latin typeface="Calibri" panose="020F0502020204030204" pitchFamily="34" charset="0"/>
                <a:ea typeface="Calibri" panose="020F0502020204030204" pitchFamily="34" charset="-122"/>
                <a:cs typeface="Calibri" panose="020F0502020204030204" pitchFamily="34" charset="-120"/>
              </a:rPr>
              <a:t>3-6 Months</a:t>
            </a:r>
            <a:endParaRPr lang="en-US" sz="1100" dirty="0"/>
          </a:p>
        </p:txBody>
      </p:sp>
      <p:sp>
        <p:nvSpPr>
          <p:cNvPr id="15" name="Shape 13"/>
          <p:cNvSpPr/>
          <p:nvPr/>
        </p:nvSpPr>
        <p:spPr>
          <a:xfrm>
            <a:off x="4343400" y="2286000"/>
            <a:ext cx="3611880" cy="4160520"/>
          </a:xfrm>
          <a:prstGeom prst="rect">
            <a:avLst/>
          </a:prstGeom>
          <a:solidFill>
            <a:srgbClr val="F6F8FC"/>
          </a:solidFill>
          <a:ln w="12700">
            <a:solidFill>
              <a:srgbClr val="CADCFC"/>
            </a:solidFill>
            <a:prstDash val="solid"/>
          </a:ln>
        </p:spPr>
      </p:sp>
      <p:sp>
        <p:nvSpPr>
          <p:cNvPr id="16" name="Shape 14"/>
          <p:cNvSpPr/>
          <p:nvPr/>
        </p:nvSpPr>
        <p:spPr>
          <a:xfrm>
            <a:off x="4544568" y="2560320"/>
            <a:ext cx="118872" cy="118872"/>
          </a:xfrm>
          <a:prstGeom prst="ellipse">
            <a:avLst/>
          </a:prstGeom>
          <a:solidFill>
            <a:srgbClr val="9C7A2B"/>
          </a:solidFill>
        </p:spPr>
      </p:sp>
      <p:sp>
        <p:nvSpPr>
          <p:cNvPr id="17" name="Text 15"/>
          <p:cNvSpPr/>
          <p:nvPr/>
        </p:nvSpPr>
        <p:spPr>
          <a:xfrm>
            <a:off x="4782312" y="2441448"/>
            <a:ext cx="2971800" cy="1463040"/>
          </a:xfrm>
          <a:prstGeom prst="rect">
            <a:avLst/>
          </a:prstGeom>
          <a:noFill/>
        </p:spPr>
        <p:txBody>
          <a:bodyPr wrap="square" rtlCol="0" anchor="ctr"/>
          <a:lstStyle/>
          <a:p>
            <a:pPr marL="0" indent="0">
              <a:lnSpc>
                <a:spcPct val="125000"/>
              </a:lnSpc>
              <a:buNone/>
            </a:pPr>
            <a:r>
              <a:rPr lang="en-US" sz="1100" dirty="0">
                <a:solidFill>
                  <a:srgbClr val="44536B"/>
                </a:solidFill>
                <a:latin typeface="Calibri" panose="020F0502020204030204" pitchFamily="34" charset="0"/>
                <a:ea typeface="Calibri" panose="020F0502020204030204" pitchFamily="34" charset="-122"/>
                <a:cs typeface="Calibri" panose="020F0502020204030204" pitchFamily="34" charset="-120"/>
              </a:rPr>
              <a:t>Review staffing line-by-line against actual throughput; reallocate headcount from over-staffed to constrained lines</a:t>
            </a:r>
            <a:endParaRPr lang="en-US" sz="1100" dirty="0"/>
          </a:p>
        </p:txBody>
      </p:sp>
      <p:sp>
        <p:nvSpPr>
          <p:cNvPr id="18" name="Shape 16"/>
          <p:cNvSpPr/>
          <p:nvPr/>
        </p:nvSpPr>
        <p:spPr>
          <a:xfrm>
            <a:off x="4544568" y="4343400"/>
            <a:ext cx="118872" cy="118872"/>
          </a:xfrm>
          <a:prstGeom prst="ellipse">
            <a:avLst/>
          </a:prstGeom>
          <a:solidFill>
            <a:srgbClr val="9C7A2B"/>
          </a:solidFill>
        </p:spPr>
      </p:sp>
      <p:sp>
        <p:nvSpPr>
          <p:cNvPr id="19" name="Text 17"/>
          <p:cNvSpPr/>
          <p:nvPr/>
        </p:nvSpPr>
        <p:spPr>
          <a:xfrm>
            <a:off x="4782312" y="4224528"/>
            <a:ext cx="2971800" cy="1463040"/>
          </a:xfrm>
          <a:prstGeom prst="rect">
            <a:avLst/>
          </a:prstGeom>
          <a:noFill/>
        </p:spPr>
        <p:txBody>
          <a:bodyPr wrap="square" rtlCol="0" anchor="ctr"/>
          <a:lstStyle/>
          <a:p>
            <a:pPr marL="0" indent="0">
              <a:lnSpc>
                <a:spcPct val="125000"/>
              </a:lnSpc>
              <a:buNone/>
            </a:pPr>
            <a:r>
              <a:rPr lang="en-US" sz="1100" dirty="0">
                <a:solidFill>
                  <a:srgbClr val="44536B"/>
                </a:solidFill>
                <a:latin typeface="Calibri" panose="020F0502020204030204" pitchFamily="34" charset="0"/>
                <a:ea typeface="Calibri" panose="020F0502020204030204" pitchFamily="34" charset="-122"/>
                <a:cs typeface="Calibri" panose="020F0502020204030204" pitchFamily="34" charset="-120"/>
              </a:rPr>
              <a:t>Investigate rework drivers directly -operator training, calibration, material quality -not labour cost tier</a:t>
            </a:r>
            <a:endParaRPr lang="en-US" sz="1100" dirty="0"/>
          </a:p>
        </p:txBody>
      </p:sp>
      <p:sp>
        <p:nvSpPr>
          <p:cNvPr id="20" name="Shape 18"/>
          <p:cNvSpPr/>
          <p:nvPr/>
        </p:nvSpPr>
        <p:spPr>
          <a:xfrm>
            <a:off x="8138160" y="1508760"/>
            <a:ext cx="3611880" cy="777240"/>
          </a:xfrm>
          <a:prstGeom prst="rect">
            <a:avLst/>
          </a:prstGeom>
          <a:solidFill>
            <a:srgbClr val="0B2545"/>
          </a:solidFill>
        </p:spPr>
      </p:sp>
      <p:sp>
        <p:nvSpPr>
          <p:cNvPr id="21" name="Text 19"/>
          <p:cNvSpPr/>
          <p:nvPr/>
        </p:nvSpPr>
        <p:spPr>
          <a:xfrm>
            <a:off x="8321040" y="1581912"/>
            <a:ext cx="3246120" cy="347472"/>
          </a:xfrm>
          <a:prstGeom prst="rect">
            <a:avLst/>
          </a:prstGeom>
          <a:noFill/>
        </p:spPr>
        <p:txBody>
          <a:bodyPr wrap="square" rtlCol="0" anchor="ctr"/>
          <a:lstStyle/>
          <a:p>
            <a:pPr marL="0" indent="0">
              <a:buNone/>
            </a:pPr>
            <a:r>
              <a:rPr lang="en-US" sz="1400" b="1" kern="0" spc="100" dirty="0">
                <a:solidFill>
                  <a:srgbClr val="FFFFFF"/>
                </a:solidFill>
                <a:latin typeface="Calibri" panose="020F0502020204030204" pitchFamily="34" charset="0"/>
                <a:ea typeface="Calibri" panose="020F0502020204030204" pitchFamily="34" charset="-122"/>
                <a:cs typeface="Calibri" panose="020F0502020204030204" pitchFamily="34" charset="-120"/>
              </a:rPr>
              <a:t>ONGOING</a:t>
            </a:r>
            <a:endParaRPr lang="en-US" sz="1400" dirty="0"/>
          </a:p>
        </p:txBody>
      </p:sp>
      <p:sp>
        <p:nvSpPr>
          <p:cNvPr id="22" name="Text 20"/>
          <p:cNvSpPr/>
          <p:nvPr/>
        </p:nvSpPr>
        <p:spPr>
          <a:xfrm>
            <a:off x="8321040" y="1920240"/>
            <a:ext cx="3246120" cy="292608"/>
          </a:xfrm>
          <a:prstGeom prst="rect">
            <a:avLst/>
          </a:prstGeom>
          <a:noFill/>
        </p:spPr>
        <p:txBody>
          <a:bodyPr wrap="square" rtlCol="0" anchor="ctr"/>
          <a:lstStyle/>
          <a:p>
            <a:pPr marL="0" indent="0">
              <a:buNone/>
            </a:pPr>
            <a:r>
              <a:rPr lang="en-US" sz="1100" i="1" dirty="0">
                <a:solidFill>
                  <a:srgbClr val="FFFFFF"/>
                </a:solidFill>
                <a:latin typeface="Calibri" panose="020F0502020204030204" pitchFamily="34" charset="0"/>
                <a:ea typeface="Calibri" panose="020F0502020204030204" pitchFamily="34" charset="-122"/>
                <a:cs typeface="Calibri" panose="020F0502020204030204" pitchFamily="34" charset="-120"/>
              </a:rPr>
              <a:t>Continuous</a:t>
            </a:r>
            <a:endParaRPr lang="en-US" sz="1100" dirty="0"/>
          </a:p>
        </p:txBody>
      </p:sp>
      <p:sp>
        <p:nvSpPr>
          <p:cNvPr id="23" name="Shape 21"/>
          <p:cNvSpPr/>
          <p:nvPr/>
        </p:nvSpPr>
        <p:spPr>
          <a:xfrm>
            <a:off x="8138160" y="2286000"/>
            <a:ext cx="3611880" cy="4160520"/>
          </a:xfrm>
          <a:prstGeom prst="rect">
            <a:avLst/>
          </a:prstGeom>
          <a:solidFill>
            <a:srgbClr val="F6F8FC"/>
          </a:solidFill>
          <a:ln w="12700">
            <a:solidFill>
              <a:srgbClr val="CADCFC"/>
            </a:solidFill>
            <a:prstDash val="solid"/>
          </a:ln>
        </p:spPr>
      </p:sp>
      <p:sp>
        <p:nvSpPr>
          <p:cNvPr id="24" name="Shape 22"/>
          <p:cNvSpPr/>
          <p:nvPr/>
        </p:nvSpPr>
        <p:spPr>
          <a:xfrm>
            <a:off x="8339328" y="2560320"/>
            <a:ext cx="118872" cy="118872"/>
          </a:xfrm>
          <a:prstGeom prst="ellipse">
            <a:avLst/>
          </a:prstGeom>
          <a:solidFill>
            <a:srgbClr val="0B2545"/>
          </a:solidFill>
        </p:spPr>
      </p:sp>
      <p:sp>
        <p:nvSpPr>
          <p:cNvPr id="25" name="Text 23"/>
          <p:cNvSpPr/>
          <p:nvPr/>
        </p:nvSpPr>
        <p:spPr>
          <a:xfrm>
            <a:off x="8577072" y="2441448"/>
            <a:ext cx="2971800" cy="1463040"/>
          </a:xfrm>
          <a:prstGeom prst="rect">
            <a:avLst/>
          </a:prstGeom>
          <a:noFill/>
        </p:spPr>
        <p:txBody>
          <a:bodyPr wrap="square" rtlCol="0" anchor="ctr"/>
          <a:lstStyle/>
          <a:p>
            <a:pPr marL="0" indent="0">
              <a:lnSpc>
                <a:spcPct val="125000"/>
              </a:lnSpc>
              <a:buNone/>
            </a:pPr>
            <a:r>
              <a:rPr lang="en-US" sz="1100" dirty="0">
                <a:solidFill>
                  <a:srgbClr val="44536B"/>
                </a:solidFill>
                <a:latin typeface="Calibri" panose="020F0502020204030204" pitchFamily="34" charset="0"/>
                <a:ea typeface="Calibri" panose="020F0502020204030204" pitchFamily="34" charset="-122"/>
                <a:cs typeface="Calibri" panose="020F0502020204030204" pitchFamily="34" charset="-120"/>
              </a:rPr>
              <a:t>Do not prioritize climate-control spend as a quality/downtime fix -the evidence doesn't support it</a:t>
            </a:r>
            <a:endParaRPr lang="en-US" sz="1100" dirty="0"/>
          </a:p>
        </p:txBody>
      </p:sp>
      <p:sp>
        <p:nvSpPr>
          <p:cNvPr id="26" name="Shape 24"/>
          <p:cNvSpPr/>
          <p:nvPr/>
        </p:nvSpPr>
        <p:spPr>
          <a:xfrm>
            <a:off x="8339328" y="4343400"/>
            <a:ext cx="118872" cy="118872"/>
          </a:xfrm>
          <a:prstGeom prst="ellipse">
            <a:avLst/>
          </a:prstGeom>
          <a:solidFill>
            <a:srgbClr val="0B2545"/>
          </a:solidFill>
        </p:spPr>
      </p:sp>
      <p:sp>
        <p:nvSpPr>
          <p:cNvPr id="27" name="Text 25"/>
          <p:cNvSpPr/>
          <p:nvPr/>
        </p:nvSpPr>
        <p:spPr>
          <a:xfrm>
            <a:off x="8577072" y="4224528"/>
            <a:ext cx="2971800" cy="1463040"/>
          </a:xfrm>
          <a:prstGeom prst="rect">
            <a:avLst/>
          </a:prstGeom>
          <a:noFill/>
        </p:spPr>
        <p:txBody>
          <a:bodyPr wrap="square" rtlCol="0" anchor="ctr"/>
          <a:lstStyle/>
          <a:p>
            <a:pPr marL="0" indent="0">
              <a:lnSpc>
                <a:spcPct val="125000"/>
              </a:lnSpc>
              <a:buNone/>
            </a:pPr>
            <a:r>
              <a:rPr lang="en-US" sz="1100" dirty="0">
                <a:solidFill>
                  <a:srgbClr val="44536B"/>
                </a:solidFill>
                <a:latin typeface="Calibri" panose="020F0502020204030204" pitchFamily="34" charset="0"/>
                <a:ea typeface="Calibri" panose="020F0502020204030204" pitchFamily="34" charset="-122"/>
                <a:cs typeface="Calibri" panose="020F0502020204030204" pitchFamily="34" charset="-120"/>
              </a:rPr>
              <a:t>Build a rolling machine-health scorecard; re-run this analysis quarterly to track the at-risk list</a:t>
            </a:r>
            <a:endParaRPr lang="en-US" sz="1100" dirty="0"/>
          </a:p>
        </p:txBody>
      </p:sp>
      <p:sp>
        <p:nvSpPr>
          <p:cNvPr id="28" name="Text 26"/>
          <p:cNvSpPr/>
          <p:nvPr/>
        </p:nvSpPr>
        <p:spPr>
          <a:xfrm>
            <a:off x="11551615" y="6473952"/>
            <a:ext cx="457200" cy="274320"/>
          </a:xfrm>
          <a:prstGeom prst="rect">
            <a:avLst/>
          </a:prstGeom>
          <a:noFill/>
        </p:spPr>
        <p:txBody>
          <a:bodyPr wrap="square" rtlCol="0" anchor="ctr"/>
          <a:lstStyle/>
          <a:p>
            <a:pPr marL="0" indent="0" algn="r">
              <a:buNone/>
            </a:pPr>
            <a:r>
              <a:rPr lang="en-US" sz="900" dirty="0">
                <a:solidFill>
                  <a:srgbClr val="8C9AB3"/>
                </a:solidFill>
                <a:latin typeface="Calibri" panose="020F0502020204030204" pitchFamily="34" charset="0"/>
                <a:ea typeface="Calibri" panose="020F0502020204030204" pitchFamily="34" charset="-122"/>
                <a:cs typeface="Calibri" panose="020F0502020204030204"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71A33"/>
        </a:solidFill>
        <a:effectLst/>
      </p:bgPr>
    </p:bg>
    <p:spTree>
      <p:nvGrpSpPr>
        <p:cNvPr id="1" name=""/>
        <p:cNvGrpSpPr/>
        <p:nvPr/>
      </p:nvGrpSpPr>
      <p:grpSpPr>
        <a:xfrm>
          <a:off x="0" y="0"/>
          <a:ext cx="0" cy="0"/>
          <a:chOff x="0" y="0"/>
          <a:chExt cx="0" cy="0"/>
        </a:xfrm>
      </p:grpSpPr>
      <p:sp>
        <p:nvSpPr>
          <p:cNvPr id="2" name="Shape 0"/>
          <p:cNvSpPr/>
          <p:nvPr/>
        </p:nvSpPr>
        <p:spPr>
          <a:xfrm>
            <a:off x="-1463040" y="3931920"/>
            <a:ext cx="4937760" cy="4937760"/>
          </a:xfrm>
          <a:prstGeom prst="ellipse">
            <a:avLst/>
          </a:prstGeom>
          <a:solidFill>
            <a:srgbClr val="0B2545">
              <a:alpha val="55000"/>
            </a:srgbClr>
          </a:solidFill>
        </p:spPr>
      </p:sp>
      <p:sp>
        <p:nvSpPr>
          <p:cNvPr id="3" name="Text 1"/>
          <p:cNvSpPr/>
          <p:nvPr/>
        </p:nvSpPr>
        <p:spPr>
          <a:xfrm>
            <a:off x="548640" y="502920"/>
            <a:ext cx="7315200" cy="274320"/>
          </a:xfrm>
          <a:prstGeom prst="rect">
            <a:avLst/>
          </a:prstGeom>
          <a:noFill/>
        </p:spPr>
        <p:txBody>
          <a:bodyPr wrap="square" rtlCol="0" anchor="ctr"/>
          <a:lstStyle/>
          <a:p>
            <a:pPr marL="0" indent="0">
              <a:buNone/>
            </a:pPr>
            <a:r>
              <a:rPr lang="en-US" sz="1200" b="1" kern="0" spc="200" dirty="0">
                <a:solidFill>
                  <a:srgbClr val="C79A3D"/>
                </a:solidFill>
                <a:latin typeface="Calibri" panose="020F0502020204030204" pitchFamily="34" charset="0"/>
                <a:ea typeface="Calibri" panose="020F0502020204030204" pitchFamily="34" charset="-122"/>
                <a:cs typeface="Calibri" panose="020F0502020204030204" pitchFamily="34" charset="-120"/>
              </a:rPr>
              <a:t>THE DELIVERABLE</a:t>
            </a:r>
            <a:endParaRPr lang="en-US" sz="1200" dirty="0"/>
          </a:p>
        </p:txBody>
      </p:sp>
      <p:sp>
        <p:nvSpPr>
          <p:cNvPr id="4" name="Text 2"/>
          <p:cNvSpPr/>
          <p:nvPr/>
        </p:nvSpPr>
        <p:spPr>
          <a:xfrm>
            <a:off x="548640" y="777240"/>
            <a:ext cx="7772400" cy="594360"/>
          </a:xfrm>
          <a:prstGeom prst="rect">
            <a:avLst/>
          </a:prstGeom>
          <a:noFill/>
        </p:spPr>
        <p:txBody>
          <a:bodyPr wrap="square" rtlCol="0" anchor="ctr"/>
          <a:lstStyle/>
          <a:p>
            <a:pPr marL="0" indent="0">
              <a:buNone/>
            </a:pPr>
            <a:r>
              <a:rPr lang="en-US" sz="2400" b="1" dirty="0">
                <a:solidFill>
                  <a:srgbClr val="FFFFFF"/>
                </a:solidFill>
                <a:latin typeface="Cambria" panose="02040503050406030204" pitchFamily="34" charset="0"/>
                <a:ea typeface="Cambria" panose="02040503050406030204" pitchFamily="34" charset="-122"/>
                <a:cs typeface="Cambria" panose="02040503050406030204" pitchFamily="34" charset="-120"/>
              </a:rPr>
              <a:t>A Live Dashboard Behind Every Slide</a:t>
            </a:r>
            <a:endParaRPr lang="en-US" sz="2400" dirty="0"/>
          </a:p>
        </p:txBody>
      </p:sp>
      <p:sp>
        <p:nvSpPr>
          <p:cNvPr id="5" name="Text 3"/>
          <p:cNvSpPr/>
          <p:nvPr/>
        </p:nvSpPr>
        <p:spPr>
          <a:xfrm>
            <a:off x="548640" y="1371600"/>
            <a:ext cx="5577840" cy="1188720"/>
          </a:xfrm>
          <a:prstGeom prst="rect">
            <a:avLst/>
          </a:prstGeom>
          <a:noFill/>
        </p:spPr>
        <p:txBody>
          <a:bodyPr wrap="square" rtlCol="0" anchor="ctr"/>
          <a:lstStyle/>
          <a:p>
            <a:pPr marL="0" indent="0">
              <a:lnSpc>
                <a:spcPct val="130000"/>
              </a:lnSpc>
              <a:buNone/>
            </a:pPr>
            <a:r>
              <a:rPr lang="en-US" sz="1200" dirty="0">
                <a:solidFill>
                  <a:srgbClr val="CADCFC"/>
                </a:solidFill>
                <a:latin typeface="Calibri" panose="020F0502020204030204" pitchFamily="34" charset="0"/>
                <a:ea typeface="Calibri" panose="020F0502020204030204" pitchFamily="34" charset="-122"/>
                <a:cs typeface="Calibri" panose="020F0502020204030204" pitchFamily="34" charset="-120"/>
              </a:rPr>
              <a:t>Every chart in this deck is also a live, filterable view in the Power BI dashboard delivered alongside this report -sliced by Machine ID, Shift, Product Type and Month, so plant leadership can self-serve the same answers going forward.</a:t>
            </a:r>
            <a:endParaRPr lang="en-US" sz="1200" dirty="0"/>
          </a:p>
        </p:txBody>
      </p:sp>
      <p:sp>
        <p:nvSpPr>
          <p:cNvPr id="6" name="Shape 4"/>
          <p:cNvSpPr/>
          <p:nvPr/>
        </p:nvSpPr>
        <p:spPr>
          <a:xfrm>
            <a:off x="548640" y="2834640"/>
            <a:ext cx="109728" cy="109728"/>
          </a:xfrm>
          <a:prstGeom prst="ellipse">
            <a:avLst/>
          </a:prstGeom>
          <a:solidFill>
            <a:srgbClr val="C79A3D"/>
          </a:solidFill>
        </p:spPr>
      </p:sp>
      <p:sp>
        <p:nvSpPr>
          <p:cNvPr id="7" name="Text 5"/>
          <p:cNvSpPr/>
          <p:nvPr/>
        </p:nvSpPr>
        <p:spPr>
          <a:xfrm>
            <a:off x="804672" y="2724912"/>
            <a:ext cx="5394960" cy="320040"/>
          </a:xfrm>
          <a:prstGeom prst="rect">
            <a:avLst/>
          </a:prstGeom>
          <a:noFill/>
        </p:spPr>
        <p:txBody>
          <a:bodyPr wrap="square" rtlCol="0" anchor="ctr"/>
          <a:lstStyle/>
          <a:p>
            <a:pPr marL="0" indent="0">
              <a:buNone/>
            </a:pPr>
            <a:r>
              <a:rPr lang="en-US" sz="1100" dirty="0">
                <a:solidFill>
                  <a:srgbClr val="FFFFFF"/>
                </a:solidFill>
                <a:latin typeface="Calibri" panose="020F0502020204030204" pitchFamily="34" charset="0"/>
                <a:ea typeface="Calibri" panose="020F0502020204030204" pitchFamily="34" charset="-122"/>
                <a:cs typeface="Calibri" panose="020F0502020204030204" pitchFamily="34" charset="-120"/>
              </a:rPr>
              <a:t>Machine Metrics page -downtime ratio &amp; QC failures by asset</a:t>
            </a:r>
            <a:endParaRPr lang="en-US" sz="1100" dirty="0"/>
          </a:p>
        </p:txBody>
      </p:sp>
      <p:sp>
        <p:nvSpPr>
          <p:cNvPr id="8" name="Shape 6"/>
          <p:cNvSpPr/>
          <p:nvPr/>
        </p:nvSpPr>
        <p:spPr>
          <a:xfrm>
            <a:off x="548640" y="3236976"/>
            <a:ext cx="109728" cy="109728"/>
          </a:xfrm>
          <a:prstGeom prst="ellipse">
            <a:avLst/>
          </a:prstGeom>
          <a:solidFill>
            <a:srgbClr val="C79A3D"/>
          </a:solidFill>
        </p:spPr>
      </p:sp>
      <p:sp>
        <p:nvSpPr>
          <p:cNvPr id="9" name="Text 7"/>
          <p:cNvSpPr/>
          <p:nvPr/>
        </p:nvSpPr>
        <p:spPr>
          <a:xfrm>
            <a:off x="804672" y="3127248"/>
            <a:ext cx="5394960" cy="320040"/>
          </a:xfrm>
          <a:prstGeom prst="rect">
            <a:avLst/>
          </a:prstGeom>
          <a:noFill/>
        </p:spPr>
        <p:txBody>
          <a:bodyPr wrap="square" rtlCol="0" anchor="ctr"/>
          <a:lstStyle/>
          <a:p>
            <a:pPr marL="0" indent="0">
              <a:buNone/>
            </a:pPr>
            <a:r>
              <a:rPr lang="en-US" sz="1100" dirty="0">
                <a:solidFill>
                  <a:srgbClr val="FFFFFF"/>
                </a:solidFill>
                <a:latin typeface="Calibri" panose="020F0502020204030204" pitchFamily="34" charset="0"/>
                <a:ea typeface="Calibri" panose="020F0502020204030204" pitchFamily="34" charset="-122"/>
                <a:cs typeface="Calibri" panose="020F0502020204030204" pitchFamily="34" charset="-120"/>
              </a:rPr>
              <a:t>Quality &amp; Cost page -defects, rework, energy vs. temperature</a:t>
            </a:r>
            <a:endParaRPr lang="en-US" sz="1100" dirty="0"/>
          </a:p>
        </p:txBody>
      </p:sp>
      <p:sp>
        <p:nvSpPr>
          <p:cNvPr id="10" name="Shape 8"/>
          <p:cNvSpPr/>
          <p:nvPr/>
        </p:nvSpPr>
        <p:spPr>
          <a:xfrm>
            <a:off x="548640" y="3639312"/>
            <a:ext cx="109728" cy="109728"/>
          </a:xfrm>
          <a:prstGeom prst="ellipse">
            <a:avLst/>
          </a:prstGeom>
          <a:solidFill>
            <a:srgbClr val="C79A3D"/>
          </a:solidFill>
        </p:spPr>
      </p:sp>
      <p:sp>
        <p:nvSpPr>
          <p:cNvPr id="11" name="Text 9"/>
          <p:cNvSpPr/>
          <p:nvPr/>
        </p:nvSpPr>
        <p:spPr>
          <a:xfrm>
            <a:off x="804672" y="3529584"/>
            <a:ext cx="5394960" cy="320040"/>
          </a:xfrm>
          <a:prstGeom prst="rect">
            <a:avLst/>
          </a:prstGeom>
          <a:noFill/>
        </p:spPr>
        <p:txBody>
          <a:bodyPr wrap="square" rtlCol="0" anchor="ctr"/>
          <a:lstStyle/>
          <a:p>
            <a:pPr marL="0" indent="0">
              <a:buNone/>
            </a:pPr>
            <a:r>
              <a:rPr lang="en-US" sz="1100" dirty="0">
                <a:solidFill>
                  <a:srgbClr val="FFFFFF"/>
                </a:solidFill>
                <a:latin typeface="Calibri" panose="020F0502020204030204" pitchFamily="34" charset="0"/>
                <a:ea typeface="Calibri" panose="020F0502020204030204" pitchFamily="34" charset="-122"/>
                <a:cs typeface="Calibri" panose="020F0502020204030204" pitchFamily="34" charset="-120"/>
              </a:rPr>
              <a:t>Operational Overview -KPIs, trend, shift &amp; product mix</a:t>
            </a:r>
            <a:endParaRPr lang="en-US" sz="1100" dirty="0"/>
          </a:p>
        </p:txBody>
      </p:sp>
      <p:sp>
        <p:nvSpPr>
          <p:cNvPr id="12" name="Shape 10"/>
          <p:cNvSpPr/>
          <p:nvPr/>
        </p:nvSpPr>
        <p:spPr>
          <a:xfrm>
            <a:off x="548640" y="4297680"/>
            <a:ext cx="5577840" cy="18288"/>
          </a:xfrm>
          <a:prstGeom prst="rect">
            <a:avLst/>
          </a:prstGeom>
          <a:solidFill>
            <a:srgbClr val="C79A3D"/>
          </a:solidFill>
        </p:spPr>
      </p:sp>
      <p:sp>
        <p:nvSpPr>
          <p:cNvPr id="13" name="Text 11"/>
          <p:cNvSpPr/>
          <p:nvPr/>
        </p:nvSpPr>
        <p:spPr>
          <a:xfrm>
            <a:off x="548640" y="4572000"/>
            <a:ext cx="5486400" cy="640080"/>
          </a:xfrm>
          <a:prstGeom prst="rect">
            <a:avLst/>
          </a:prstGeom>
          <a:noFill/>
        </p:spPr>
        <p:txBody>
          <a:bodyPr wrap="square" rtlCol="0" anchor="ctr"/>
          <a:lstStyle/>
          <a:p>
            <a:pPr marL="0" indent="0">
              <a:buNone/>
            </a:pPr>
            <a:r>
              <a:rPr lang="en-US" sz="3000" b="1" dirty="0">
                <a:solidFill>
                  <a:srgbClr val="C79A3D"/>
                </a:solidFill>
                <a:latin typeface="Cambria" panose="02040503050406030204" pitchFamily="34" charset="0"/>
                <a:ea typeface="Cambria" panose="02040503050406030204" pitchFamily="34" charset="-122"/>
                <a:cs typeface="Cambria" panose="02040503050406030204" pitchFamily="34" charset="-120"/>
              </a:rPr>
              <a:t>Thank You</a:t>
            </a:r>
            <a:endParaRPr lang="en-US" sz="3000" dirty="0"/>
          </a:p>
        </p:txBody>
      </p:sp>
      <p:sp>
        <p:nvSpPr>
          <p:cNvPr id="14" name="Text 12"/>
          <p:cNvSpPr/>
          <p:nvPr/>
        </p:nvSpPr>
        <p:spPr>
          <a:xfrm>
            <a:off x="548640" y="5166360"/>
            <a:ext cx="5486400" cy="548640"/>
          </a:xfrm>
          <a:prstGeom prst="rect">
            <a:avLst/>
          </a:prstGeom>
          <a:noFill/>
        </p:spPr>
        <p:txBody>
          <a:bodyPr wrap="square" rtlCol="0" anchor="ctr"/>
          <a:lstStyle/>
          <a:p>
            <a:pPr marL="0" indent="0">
              <a:buNone/>
            </a:pPr>
            <a:r>
              <a:rPr lang="en-US" sz="1200" i="1" dirty="0">
                <a:solidFill>
                  <a:srgbClr val="CADCFC"/>
                </a:solidFill>
                <a:latin typeface="Calibri" panose="020F0502020204030204" pitchFamily="34" charset="0"/>
                <a:ea typeface="Calibri" panose="020F0502020204030204" pitchFamily="34" charset="-122"/>
                <a:cs typeface="Calibri" panose="020F0502020204030204" pitchFamily="34" charset="-120"/>
              </a:rPr>
              <a:t>Happy to walk through any metric live, or open the dashboard for a filtered drill-down on request.</a:t>
            </a:r>
            <a:endParaRPr lang="en-US" sz="1200" dirty="0"/>
          </a:p>
        </p:txBody>
      </p:sp>
      <p:pic>
        <p:nvPicPr>
          <p:cNvPr id="15" name="Image 0" descr="/mnt/user-data/uploads/Screenshot_2026-07-09_102214.png"/>
          <p:cNvPicPr>
            <a:picLocks noChangeAspect="1"/>
          </p:cNvPicPr>
          <p:nvPr/>
        </p:nvPicPr>
        <p:blipFill>
          <a:blip r:embed="rId1"/>
          <a:srcRect/>
          <a:stretch>
            <a:fillRect/>
          </a:stretch>
        </p:blipFill>
        <p:spPr>
          <a:xfrm>
            <a:off x="6949440" y="1417320"/>
            <a:ext cx="4480560" cy="2551176"/>
          </a:xfrm>
          <a:prstGeom prst="rect">
            <a:avLst/>
          </a:prstGeom>
        </p:spPr>
      </p:pic>
      <p:sp>
        <p:nvSpPr>
          <p:cNvPr id="16" name="Shape 13"/>
          <p:cNvSpPr/>
          <p:nvPr/>
        </p:nvSpPr>
        <p:spPr>
          <a:xfrm>
            <a:off x="6949440" y="1417320"/>
            <a:ext cx="4480560" cy="2551176"/>
          </a:xfrm>
          <a:prstGeom prst="rect">
            <a:avLst/>
          </a:prstGeom>
          <a:ln w="19050">
            <a:solidFill>
              <a:srgbClr val="C79A3D"/>
            </a:solidFill>
            <a:prstDash val="solid"/>
          </a:ln>
        </p:spPr>
      </p:sp>
      <p:pic>
        <p:nvPicPr>
          <p:cNvPr id="17" name="Image 1" descr="/mnt/user-data/uploads/Screenshot_2026-07-09_102356.png"/>
          <p:cNvPicPr>
            <a:picLocks noChangeAspect="1"/>
          </p:cNvPicPr>
          <p:nvPr/>
        </p:nvPicPr>
        <p:blipFill>
          <a:blip r:embed="rId2"/>
          <a:srcRect/>
          <a:stretch>
            <a:fillRect/>
          </a:stretch>
        </p:blipFill>
        <p:spPr>
          <a:xfrm>
            <a:off x="6949440" y="4133088"/>
            <a:ext cx="4480560" cy="2551176"/>
          </a:xfrm>
          <a:prstGeom prst="rect">
            <a:avLst/>
          </a:prstGeom>
        </p:spPr>
      </p:pic>
      <p:sp>
        <p:nvSpPr>
          <p:cNvPr id="18" name="Shape 14"/>
          <p:cNvSpPr/>
          <p:nvPr/>
        </p:nvSpPr>
        <p:spPr>
          <a:xfrm>
            <a:off x="6949440" y="4133088"/>
            <a:ext cx="4480560" cy="2551176"/>
          </a:xfrm>
          <a:prstGeom prst="rect">
            <a:avLst/>
          </a:prstGeom>
          <a:ln w="19050">
            <a:solidFill>
              <a:srgbClr val="C79A3D"/>
            </a:solidFill>
            <a:prstDash val="solid"/>
          </a:ln>
        </p:spPr>
      </p:sp>
      <p:sp>
        <p:nvSpPr>
          <p:cNvPr id="19" name="Text 15"/>
          <p:cNvSpPr/>
          <p:nvPr/>
        </p:nvSpPr>
        <p:spPr>
          <a:xfrm>
            <a:off x="11551615" y="6473952"/>
            <a:ext cx="457200" cy="274320"/>
          </a:xfrm>
          <a:prstGeom prst="rect">
            <a:avLst/>
          </a:prstGeom>
          <a:noFill/>
        </p:spPr>
        <p:txBody>
          <a:bodyPr wrap="square" rtlCol="0" anchor="ctr"/>
          <a:lstStyle/>
          <a:p>
            <a:pPr marL="0" indent="0" algn="r">
              <a:buNone/>
            </a:pPr>
            <a:r>
              <a:rPr lang="en-US" sz="900" dirty="0">
                <a:solidFill>
                  <a:srgbClr val="8C9AB3"/>
                </a:solidFill>
                <a:latin typeface="Calibri" panose="020F0502020204030204" pitchFamily="34" charset="0"/>
                <a:ea typeface="Calibri" panose="020F0502020204030204" pitchFamily="34" charset="-122"/>
                <a:cs typeface="Calibri" panose="020F0502020204030204" pitchFamily="34" charset="-120"/>
              </a:rPr>
              <a:t>15</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9230</Words>
  <Application>WPS Presentation</Application>
  <PresentationFormat>On-screen Show (16:9)</PresentationFormat>
  <Paragraphs>521</Paragraphs>
  <Slides>15</Slides>
  <Notes>15</Notes>
  <HiddenSlides>0</HiddenSlides>
  <MMClips>0</MMClips>
  <ScaleCrop>false</ScaleCrop>
  <HeadingPairs>
    <vt:vector size="6" baseType="variant">
      <vt:variant>
        <vt:lpstr>已用的字体</vt:lpstr>
      </vt:variant>
      <vt:variant>
        <vt:i4>12</vt:i4>
      </vt:variant>
      <vt:variant>
        <vt:lpstr>主题</vt:lpstr>
      </vt:variant>
      <vt:variant>
        <vt:i4>1</vt:i4>
      </vt:variant>
      <vt:variant>
        <vt:lpstr>幻灯片标题</vt:lpstr>
      </vt:variant>
      <vt:variant>
        <vt:i4>15</vt:i4>
      </vt:variant>
    </vt:vector>
  </HeadingPairs>
  <TitlesOfParts>
    <vt:vector size="28" baseType="lpstr">
      <vt:lpstr>Arial</vt:lpstr>
      <vt:lpstr>SimSun</vt:lpstr>
      <vt:lpstr>Wingdings</vt:lpstr>
      <vt:lpstr>Calibri</vt:lpstr>
      <vt:lpstr>Calibri</vt:lpstr>
      <vt:lpstr>Calibri</vt:lpstr>
      <vt:lpstr>Cambria</vt:lpstr>
      <vt:lpstr>Cambria</vt:lpstr>
      <vt:lpstr>Cambria</vt:lpstr>
      <vt:lpstr>Arial</vt:lpstr>
      <vt:lpstr>Microsoft YaHei</vt:lpstr>
      <vt:lpstr>Arial Unicode MS</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PptxGenJS</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creator>PptxGenJS</dc:creator>
  <dc:subject>PptxGenJS Presentation</dc:subject>
  <cp:lastModifiedBy>Shubham Ghosh</cp:lastModifiedBy>
  <cp:revision>2</cp:revision>
  <dcterms:created xsi:type="dcterms:W3CDTF">2026-07-15T00:46:00Z</dcterms:created>
  <dcterms:modified xsi:type="dcterms:W3CDTF">2026-07-15T01:15:20Z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0814C427319A42349A896EEA22C7D29F_13</vt:lpwstr>
  </property>
  <property fmtid="{D5CDD505-2E9C-101B-9397-08002B2CF9AE}" pid="3" name="KSOProductBuildVer">
    <vt:lpwstr>1033-12.1.0.26880</vt:lpwstr>
  </property>
</Properties>
</file>